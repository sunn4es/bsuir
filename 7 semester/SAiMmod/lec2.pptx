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744">
          <p15:clr>
            <a:srgbClr val="000000"/>
          </p15:clr>
        </p15:guide>
        <p15:guide id="3" orient="horz" pos="864">
          <p15:clr>
            <a:srgbClr val="747775"/>
          </p15:clr>
        </p15:guide>
        <p15:guide id="4" pos="5184">
          <p15:clr>
            <a:srgbClr val="747775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4" roundtripDataSignature="AMtx7mhI9GAdYQlulr6DTAvCHHEmkNSg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744"/>
        <p:guide pos="864" orient="horz"/>
        <p:guide pos="51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faa2a62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9faa2a62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faa2a62c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9faa2a62c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286062c8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286062c8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9faa2a62c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9faa2a62c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1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3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3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10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914400" y="381000"/>
            <a:ext cx="777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 2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имитационных моделей сложных систем 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09600" y="3200400"/>
            <a:ext cx="8305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решения задачи методом Монте-Карло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Представление динамики модели при имитационном моделировании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Алгоритмы организации квазипараллелизма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активностей</a:t>
            </a:r>
            <a:endParaRPr/>
          </a:p>
          <a:p>
            <a:pPr indent="4572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расписание событий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процессный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построения ИМ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мя способами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ctrTitle"/>
          </p:nvPr>
        </p:nvSpPr>
        <p:spPr>
          <a:xfrm>
            <a:off x="609600" y="3810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решения задачи методом Монте-Карло</a:t>
            </a:r>
            <a:endParaRPr/>
          </a:p>
        </p:txBody>
      </p:sp>
      <p:sp>
        <p:nvSpPr>
          <p:cNvPr id="95" name="Google Shape;95;p2"/>
          <p:cNvSpPr txBox="1"/>
          <p:nvPr>
            <p:ph idx="1" type="subTitle"/>
          </p:nvPr>
        </p:nvSpPr>
        <p:spPr>
          <a:xfrm>
            <a:off x="304800" y="1219200"/>
            <a:ext cx="85344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Администрации транспортного предприятия предложено два варианта эксплуатации изношенного автобуса, который по графику ежедневно должен делать N рейсов. 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Состояния автобуса: + (хорошее),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(удовлетворительное), – (ремонт).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/>
              <a:t>После каждого рейса проводится диагностика. </a:t>
            </a:r>
            <a:endParaRPr sz="1800"/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Необходимо выбрать между двумя счтратегиями: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А: автобус ремонтируется по достижении фазы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</a:t>
            </a:r>
            <a:r>
              <a:rPr lang="en-US" sz="1800"/>
              <a:t>, пропуская один рейс и возвращаясь в состояние +.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В: автобус не ремонтируется, пока его состояние не достигнет фазы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US" sz="1800"/>
              <a:t>, при этом оставшиеся рейсы отменяются.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Лучшей считается стратегия с наибольш</a:t>
            </a:r>
            <a:r>
              <a:rPr lang="en-US" sz="1800"/>
              <a:t>им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средн</a:t>
            </a:r>
            <a:r>
              <a:rPr lang="en-US" sz="1800"/>
              <a:t>им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числом </a:t>
            </a:r>
            <a:r>
              <a:rPr b="1" i="0" lang="en-US" sz="1800" u="none">
                <a:solidFill>
                  <a:schemeClr val="dk1"/>
                </a:solidFill>
              </a:rPr>
              <a:t>k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рейсов </a:t>
            </a:r>
            <a:r>
              <a:rPr lang="en-US" sz="1800"/>
              <a:t>за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день. </a:t>
            </a:r>
            <a:b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/>
              <a:t>N – количество рейсов, которое автобус должен совершить за день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/>
              <a:t>a – вероятность перехода из + в </a:t>
            </a:r>
            <a:r>
              <a:rPr b="1" lang="en-US" sz="1800"/>
              <a:t>±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/>
              <a:t>b – вероятность перехода из </a:t>
            </a:r>
            <a:r>
              <a:rPr b="1" lang="en-US" sz="1800"/>
              <a:t>± </a:t>
            </a:r>
            <a:r>
              <a:rPr lang="en-US" sz="1800"/>
              <a:t>в </a:t>
            </a:r>
            <a:r>
              <a:rPr b="1" lang="en-US" sz="1800"/>
              <a:t>–</a:t>
            </a:r>
            <a:endParaRPr sz="1800"/>
          </a:p>
        </p:txBody>
      </p:sp>
      <p:sp>
        <p:nvSpPr>
          <p:cNvPr id="96" name="Google Shape;96;p2"/>
          <p:cNvSpPr txBox="1"/>
          <p:nvPr/>
        </p:nvSpPr>
        <p:spPr>
          <a:xfrm>
            <a:off x="228600" y="5499000"/>
            <a:ext cx="86868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5499100"/>
            <a:ext cx="25146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0850" y="5575300"/>
            <a:ext cx="3595687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3"/>
          <p:cNvGraphicFramePr/>
          <p:nvPr/>
        </p:nvGraphicFramePr>
        <p:xfrm>
          <a:off x="114300" y="227025"/>
          <a:ext cx="8915402" cy="2287587"/>
        </p:xfrm>
        <a:graphic>
          <a:graphicData uri="http://schemas.openxmlformats.org/presentationml/2006/ole">
            <mc:AlternateContent>
              <mc:Choice Requires="v">
                <p:oleObj r:id="rId4" imgH="2287587" imgW="8915402" progId="Word.Picture.8" spid="_x0000_s1">
                  <p:embed/>
                </p:oleObj>
              </mc:Choice>
              <mc:Fallback>
                <p:oleObj r:id="rId5" imgH="2287587" imgW="8915402" progId="Word.Picture.8">
                  <p:embed/>
                  <p:pic>
                    <p:nvPicPr>
                      <p:cNvPr id="103" name="Google Shape;103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4300" y="227025"/>
                        <a:ext cx="8915402" cy="228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Google Shape;104;p3"/>
          <p:cNvGraphicFramePr/>
          <p:nvPr/>
        </p:nvGraphicFramePr>
        <p:xfrm>
          <a:off x="76200" y="2851150"/>
          <a:ext cx="8991600" cy="2922587"/>
        </p:xfrm>
        <a:graphic>
          <a:graphicData uri="http://schemas.openxmlformats.org/presentationml/2006/ole">
            <mc:AlternateContent>
              <mc:Choice Requires="v">
                <p:oleObj r:id="rId7" imgH="2922587" imgW="8991600" progId="Word.Picture.8" spid="_x0000_s2">
                  <p:embed/>
                </p:oleObj>
              </mc:Choice>
              <mc:Fallback>
                <p:oleObj r:id="rId8" imgH="2922587" imgW="8991600" progId="Word.Picture.8">
                  <p:embed/>
                  <p:pic>
                    <p:nvPicPr>
                      <p:cNvPr id="104" name="Google Shape;104;p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" y="2851150"/>
                        <a:ext cx="8991600" cy="292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Google Shape;105;p3"/>
          <p:cNvSpPr txBox="1"/>
          <p:nvPr/>
        </p:nvSpPr>
        <p:spPr>
          <a:xfrm>
            <a:off x="685800" y="2514600"/>
            <a:ext cx="2133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Стратегия А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2971800" y="5616575"/>
            <a:ext cx="5867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– номер рейса</a:t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значение выполненного количества рейсов за день j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– количество дней эксплуатации автобуса 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1000" y="5486400"/>
            <a:ext cx="2027237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685800" y="4933500"/>
            <a:ext cx="21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Стратегия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533400" y="457200"/>
            <a:ext cx="82296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3357562" y="3148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5" name="Google Shape;115;p4"/>
          <p:cNvGraphicFramePr/>
          <p:nvPr/>
        </p:nvGraphicFramePr>
        <p:xfrm>
          <a:off x="228600" y="2938462"/>
          <a:ext cx="8778875" cy="3919537"/>
        </p:xfrm>
        <a:graphic>
          <a:graphicData uri="http://schemas.openxmlformats.org/presentationml/2006/ole">
            <mc:AlternateContent>
              <mc:Choice Requires="v">
                <p:oleObj r:id="rId4" imgH="3919537" imgW="8778875" progId="Word.Picture.8" spid="_x0000_s1">
                  <p:embed/>
                </p:oleObj>
              </mc:Choice>
              <mc:Fallback>
                <p:oleObj r:id="rId5" imgH="3919537" imgW="8778875" progId="Word.Picture.8">
                  <p:embed/>
                  <p:pic>
                    <p:nvPicPr>
                      <p:cNvPr id="115" name="Google Shape;115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8600" y="2938462"/>
                        <a:ext cx="8778875" cy="391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Google Shape;116;p4"/>
          <p:cNvSpPr txBox="1"/>
          <p:nvPr/>
        </p:nvSpPr>
        <p:spPr>
          <a:xfrm>
            <a:off x="457200" y="944562"/>
            <a:ext cx="8077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Содержательное описание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Объект моделирования –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магазин самообслуживания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Покупатели приходят в торговый зал, делают покупки, затем оплачивают их на одном из терминалов.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все терминалы заняты, то образуется общая очередь.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1020575" y="941375"/>
            <a:ext cx="70230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Входной поток событий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Начальное состояние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Внутренние взаимодействия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окончания прогона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Отрезок накопления статистики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Отклики модели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Потоковая диаграмма взаимодействия элементов</a:t>
            </a:r>
            <a:endParaRPr sz="2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5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Концептуальная модель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3357562" y="3148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9faa2a62c_0_0"/>
          <p:cNvSpPr txBox="1"/>
          <p:nvPr/>
        </p:nvSpPr>
        <p:spPr>
          <a:xfrm>
            <a:off x="457200" y="941387"/>
            <a:ext cx="82296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Объект моделирования – </a:t>
            </a:r>
            <a:r>
              <a:rPr b="1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магазин самообслуживания</a:t>
            </a: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23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Концептуальная модель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Входной поток и начальное состояние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Поток клиентов в торговый зал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экспоненциальный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момент открытия у входа есть покупатели.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 терминалов для оплаты постоянное. 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Терминалы находятся в рабочем состоянии в течение прогона.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g3f9faa2a62c_0_0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  <p:sp>
        <p:nvSpPr>
          <p:cNvPr id="130" name="Google Shape;130;g3f9faa2a62c_0_0"/>
          <p:cNvSpPr txBox="1"/>
          <p:nvPr/>
        </p:nvSpPr>
        <p:spPr>
          <a:xfrm>
            <a:off x="3357562" y="3148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g3f9faa2a62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" y="3975100"/>
            <a:ext cx="6858001" cy="306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faa2a62c_0_7"/>
          <p:cNvSpPr txBox="1"/>
          <p:nvPr/>
        </p:nvSpPr>
        <p:spPr>
          <a:xfrm>
            <a:off x="457200" y="1487487"/>
            <a:ext cx="8229600" cy="26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Внутренние взимодействия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Время, которое клиент затрачивает на покупки, распределено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нормально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все терминалы заняты, то образуется FIFO очередь. 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 оплаты покупки распределено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нормально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b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причем е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среднее пропорционально времени нахождения покупателя в торговом зале. </a:t>
            </a:r>
            <a:endParaRPr sz="2000"/>
          </a:p>
        </p:txBody>
      </p:sp>
      <p:sp>
        <p:nvSpPr>
          <p:cNvPr id="137" name="Google Shape;137;g3f9faa2a62c_0_7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  <p:sp>
        <p:nvSpPr>
          <p:cNvPr id="138" name="Google Shape;138;g3f9faa2a62c_0_7"/>
          <p:cNvSpPr txBox="1"/>
          <p:nvPr/>
        </p:nvSpPr>
        <p:spPr>
          <a:xfrm>
            <a:off x="3357562" y="3148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g3f9faa2a62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962400"/>
            <a:ext cx="6858001" cy="306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419112" y="1549400"/>
            <a:ext cx="8458200" cy="4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окончания прогона и отрезок накопления статистики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Единица модельного времени - 1 минута. </a:t>
            </a:r>
            <a:endParaRPr sz="2000"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Прогон завершается по: 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интервалу времени с дообсуживанием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интервалу времени без дообсуживания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обслуживанию К покупателей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Накопление статистики: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весь прогон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прогон без переходного периода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39624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394811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334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286062c8_0_8"/>
          <p:cNvSpPr txBox="1"/>
          <p:nvPr/>
        </p:nvSpPr>
        <p:spPr>
          <a:xfrm>
            <a:off x="419100" y="1549400"/>
            <a:ext cx="84582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Входные данные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прогона					параметры					переменные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fa286062c8_0_8"/>
          <p:cNvSpPr txBox="1"/>
          <p:nvPr/>
        </p:nvSpPr>
        <p:spPr>
          <a:xfrm>
            <a:off x="39624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fa286062c8_0_8"/>
          <p:cNvSpPr txBox="1"/>
          <p:nvPr/>
        </p:nvSpPr>
        <p:spPr>
          <a:xfrm>
            <a:off x="394811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fa286062c8_0_8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fa286062c8_0_8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  <p:pic>
        <p:nvPicPr>
          <p:cNvPr id="158" name="Google Shape;158;g3fa286062c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875850"/>
            <a:ext cx="8839199" cy="2072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faa2a62c_0_14"/>
          <p:cNvSpPr txBox="1"/>
          <p:nvPr/>
        </p:nvSpPr>
        <p:spPr>
          <a:xfrm>
            <a:off x="419112" y="1549400"/>
            <a:ext cx="84582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Отклики модели:</a:t>
            </a:r>
            <a:endParaRPr sz="2400"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длина прогона								финальный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 обслуженных покупателей		аддитивный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среднее количество покупателей в зале		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непрерывный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длина очереди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непрерывный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среднее количество занятых терминалов		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непрерывный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среднее время нахождения в магазине		дискретный</a:t>
            </a:r>
            <a:endParaRPr/>
          </a:p>
        </p:txBody>
      </p:sp>
      <p:sp>
        <p:nvSpPr>
          <p:cNvPr id="164" name="Google Shape;164;g3f9faa2a62c_0_14"/>
          <p:cNvSpPr txBox="1"/>
          <p:nvPr/>
        </p:nvSpPr>
        <p:spPr>
          <a:xfrm>
            <a:off x="39624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3f9faa2a62c_0_14"/>
          <p:cNvSpPr txBox="1"/>
          <p:nvPr/>
        </p:nvSpPr>
        <p:spPr>
          <a:xfrm>
            <a:off x="394811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f9faa2a62c_0_14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f9faa2a62c_0_14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/>
        </p:nvSpPr>
        <p:spPr>
          <a:xfrm>
            <a:off x="4648200" y="3048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533400" y="838200"/>
            <a:ext cx="82296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Если текущее значение некоторого отклика x существует только вместе с наступлением определенного события, то это </a:t>
            </a:r>
            <a:r>
              <a:rPr b="0" i="1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отклик в дискретном времени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Его среднее значение  можно вычислить с помощью следующего выражения:</a:t>
            </a:r>
            <a:endParaRPr/>
          </a:p>
        </p:txBody>
      </p:sp>
      <p:sp>
        <p:nvSpPr>
          <p:cNvPr id="174" name="Google Shape;174;p12"/>
          <p:cNvSpPr txBox="1"/>
          <p:nvPr/>
        </p:nvSpPr>
        <p:spPr>
          <a:xfrm>
            <a:off x="2362200" y="152400"/>
            <a:ext cx="4114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Виды откликов</a:t>
            </a:r>
            <a:endParaRPr/>
          </a:p>
        </p:txBody>
      </p:sp>
      <p:sp>
        <p:nvSpPr>
          <p:cNvPr id="175" name="Google Shape;175;p12"/>
          <p:cNvSpPr txBox="1"/>
          <p:nvPr/>
        </p:nvSpPr>
        <p:spPr>
          <a:xfrm>
            <a:off x="419576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895600"/>
            <a:ext cx="1676400" cy="74771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 txBox="1"/>
          <p:nvPr/>
        </p:nvSpPr>
        <p:spPr>
          <a:xfrm>
            <a:off x="2895600" y="2917825"/>
            <a:ext cx="52578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 i = 1, …, N – количество зафиксированных событий;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значение отклика при наступлении события i. </a:t>
            </a:r>
            <a:endParaRPr/>
          </a:p>
        </p:txBody>
      </p:sp>
      <p:sp>
        <p:nvSpPr>
          <p:cNvPr id="178" name="Google Shape;178;p12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/>
        </p:nvSpPr>
        <p:spPr>
          <a:xfrm>
            <a:off x="4648200" y="3048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2362200" y="152400"/>
            <a:ext cx="4114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Виды откликов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419576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534987" y="990600"/>
            <a:ext cx="8229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Если текущее значение отклика существует независимо от наступления любых событий (в каждый момент времени моделирования), то это </a:t>
            </a:r>
            <a:r>
              <a:rPr b="0" i="1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отклик в непрерывном времени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Тем не менее, его текущее значение также изменяется в дискретные моменты времени. Среднее значение отклика  в непрерывном времени можно вычислить с помощью следующего выражения: 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0" y="2957512"/>
            <a:ext cx="23622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3"/>
          <p:cNvSpPr txBox="1"/>
          <p:nvPr/>
        </p:nvSpPr>
        <p:spPr>
          <a:xfrm>
            <a:off x="457200" y="4100512"/>
            <a:ext cx="8077200" cy="192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 i = 0, 1, …, N – количество событий, заключающихся в изменении текущего значения отклика x, причем событие 0 – начало, а событие N – окончание измерения отклика x 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t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общее время измерения отклика (в отличие от предыдущего случая среднее значение изменяется вместе с возрастанием времени моделирования);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текущее время изменения значения отклика при наступлении события i;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текущее значение отклика, остававшееся неизменным между событиями i-1 и i.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/>
        </p:nvSpPr>
        <p:spPr>
          <a:xfrm>
            <a:off x="4648200" y="3048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533400" y="838200"/>
            <a:ext cx="822960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Если поведение сложной системы изучается до наступления определенного события, т.е. является системой с остановом, то используют также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1" sz="16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</a:t>
            </a:r>
            <a:r>
              <a:rPr b="0" i="1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финальный отклик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чье некоторое текущее значение x</a:t>
            </a:r>
            <a:r>
              <a:rPr b="0" baseline="-2500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(в подавляющем большинстве случаев, это последнее значение в момент останова работы системы), принимается за значение отклика во всем прогоне, либо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</a:t>
            </a:r>
            <a:r>
              <a:rPr b="0" i="1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аддитивный отклик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вычисляющийся с помощью следующего выражения: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419576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511175" y="5057775"/>
            <a:ext cx="807720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Наконец, как текущие значения некоторого отклика, так и значение отклика во всем эксперименте может быть некоторым оператором от одной или более переменных состояния. Для вычисления такого </a:t>
            </a:r>
            <a:r>
              <a:rPr b="0" i="1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результирующего отклика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исследователь должен реализовать соответствующую функцию языка программирования имитационной модели. 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4243387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108450"/>
            <a:ext cx="1219200" cy="6461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 txBox="1"/>
          <p:nvPr/>
        </p:nvSpPr>
        <p:spPr>
          <a:xfrm>
            <a:off x="2667000" y="3971925"/>
            <a:ext cx="52578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 i = 1, …, N – количество зафиксированных событий;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значение отклика при наступлении события i.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Представление динамики модели 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имитационном моделировании 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735012" y="3770312"/>
            <a:ext cx="7696200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локальное время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события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времена до следующего события, т.е. изменения состояния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2276475" y="29241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0" name="Google Shape;210;p7"/>
          <p:cNvGraphicFramePr/>
          <p:nvPr/>
        </p:nvGraphicFramePr>
        <p:xfrm>
          <a:off x="417512" y="1533525"/>
          <a:ext cx="8763000" cy="2195512"/>
        </p:xfrm>
        <a:graphic>
          <a:graphicData uri="http://schemas.openxmlformats.org/presentationml/2006/ole">
            <mc:AlternateContent>
              <mc:Choice Requires="v">
                <p:oleObj r:id="rId4" imgH="2195512" imgW="8763000" progId="Word.Picture.8" spid="_x0000_s1">
                  <p:embed/>
                </p:oleObj>
              </mc:Choice>
              <mc:Fallback>
                <p:oleObj r:id="rId5" imgH="2195512" imgW="8763000" progId="Word.Picture.8">
                  <p:embed/>
                  <p:pic>
                    <p:nvPicPr>
                      <p:cNvPr id="210" name="Google Shape;210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17512" y="1533525"/>
                        <a:ext cx="8763000" cy="219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Google Shape;211;p7"/>
          <p:cNvSpPr txBox="1"/>
          <p:nvPr/>
        </p:nvSpPr>
        <p:spPr>
          <a:xfrm>
            <a:off x="735012" y="5638800"/>
            <a:ext cx="7696200" cy="86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 (α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τ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i,j+1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называется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активностью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обозначается a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 есть активность a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есть обработчик события e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2286000" y="3352800"/>
            <a:ext cx="4724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Динамика изменения состояния одного элемента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/>
        </p:nvSpPr>
        <p:spPr>
          <a:xfrm>
            <a:off x="1509712" y="1690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81000"/>
            <a:ext cx="7162800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1295400" y="228600"/>
            <a:ext cx="670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Динамика взаимодействия нескольких элементов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2362200" y="5181600"/>
            <a:ext cx="5829300" cy="86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модельное время,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локальные времена компонентов K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(i&gt;0).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/>
        </p:nvSpPr>
        <p:spPr>
          <a:xfrm>
            <a:off x="1509712" y="1690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1295400" y="228600"/>
            <a:ext cx="670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Динамика взаимодействия нескольких элементов</a:t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685800" y="1295400"/>
            <a:ext cx="8458200" cy="304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Параллельные процессы, происходящие в объекте моелирования, преобразуются в последовательные в имитационной моели.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Такой способ представления носит название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квазипараллельного процесса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преобразования называется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алгоритмом организации квазипараллелизма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имитационной модели.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организации квазипараллелизма </a:t>
            </a:r>
            <a:b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способом поиска активностей 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533400" y="1371600"/>
            <a:ext cx="8229600" cy="446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Активность имеет два два оператора.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Первый оператор, называемый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контрольным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проверяет наступление события.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результат истина, то выполняется функциональный оператор.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Функциональный оператор изменяет состояние элемента модели.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Симулятор в каждый момент модельного времени вызывает все активности и изменяет модельное время только в том случае, если все контрольные операторы ложны.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Контрольные операторы делятся на два вида: 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сверяющие совпадение локального и модельного времени (T – активности);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проверяющие произвольное условие (С – активности).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организации квазипараллелизма </a:t>
            </a:r>
            <a:b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способом расписания событий </a:t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609600" y="1905000"/>
            <a:ext cx="8001000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Идея способа расписания (планирования) событий заключается в том, что в любой активности необходимо запрограммировать все альтернативы развития динамики ИМ, запланировав очередное событие по каждой альтернативе и модельное время его наступления.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Основной управляющей структурой при организации квазипараллелизма по способу расписания событий является список событий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включающий следующие поля: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		Номер элемента, связанного с событием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numAct		Номер активности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Tinit		Время вызова активности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Список событий упорядочивается по возрастанию Tinit.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течение прогона модели вызывается активность, находящаяся </a:t>
            </a: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начале списка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Прогон завершается после того, как в списке не останется ни одного события.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2005-09-03T14:37:43Z</dcterms:created>
  <dc:creator>victor</dc:creator>
</cp:coreProperties>
</file>