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64" r:id="rId3"/>
    <p:sldId id="259" r:id="rId4"/>
    <p:sldId id="262" r:id="rId5"/>
    <p:sldId id="287" r:id="rId6"/>
    <p:sldId id="263" r:id="rId7"/>
    <p:sldId id="260" r:id="rId8"/>
    <p:sldId id="289" r:id="rId9"/>
    <p:sldId id="265" r:id="rId10"/>
    <p:sldId id="266" r:id="rId11"/>
    <p:sldId id="267" r:id="rId12"/>
    <p:sldId id="288" r:id="rId13"/>
    <p:sldId id="269" r:id="rId14"/>
    <p:sldId id="270" r:id="rId15"/>
    <p:sldId id="292" r:id="rId16"/>
    <p:sldId id="291" r:id="rId17"/>
    <p:sldId id="272" r:id="rId18"/>
    <p:sldId id="293" r:id="rId19"/>
    <p:sldId id="273" r:id="rId20"/>
    <p:sldId id="275" r:id="rId21"/>
    <p:sldId id="276" r:id="rId22"/>
    <p:sldId id="277" r:id="rId23"/>
    <p:sldId id="294" r:id="rId24"/>
    <p:sldId id="286" r:id="rId25"/>
    <p:sldId id="279" r:id="rId26"/>
    <p:sldId id="278" r:id="rId27"/>
    <p:sldId id="280" r:id="rId28"/>
    <p:sldId id="282" r:id="rId29"/>
    <p:sldId id="284" r:id="rId30"/>
    <p:sldId id="283" r:id="rId31"/>
    <p:sldId id="285" r:id="rId32"/>
    <p:sldId id="290" r:id="rId3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8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1661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1897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4078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3026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1177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3708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293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0887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9967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343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Ансамблевые модели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 машинном обучении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Бэггинг, случайный лес, градиентный бустинг и AdaBoost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0808D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2011680" y="13716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Разложение</a:t>
            </a: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ошибки</a:t>
            </a: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на</a:t>
            </a: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смещение</a:t>
            </a: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и </a:t>
            </a:r>
            <a:r>
              <a:rPr lang="en-US" sz="3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разброс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0808D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Недостатки деревьев решений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98842" y="3544196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Ансамбли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это методы, объединяющие несколько алгоритмов машинного обучения для получения более мощной и устойчивой модели.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2781" y="978945"/>
            <a:ext cx="7967831" cy="2112085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86117" y="1129554"/>
            <a:ext cx="6850828" cy="18933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u-RU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Основными недостатками деревьев решений являются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склонность к переобучению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даже при небольшом изменении обучающей выборки дерево может значительно измениться. </a:t>
            </a:r>
          </a:p>
          <a:p>
            <a:endParaRPr lang="ru-RU" sz="140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ru-RU" sz="140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ru-RU" sz="16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Объединение алгоритмов в ансамбли или композиции на практике дает очень хорошие результаты. </a:t>
            </a:r>
            <a:endParaRPr lang="en-US" sz="1600" b="1" dirty="0">
              <a:solidFill>
                <a:srgbClr val="20808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Разложение ошибки на смещение и разброс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Ошибка на новых данных = Шум + Смещение + Разброс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Шум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0" y="1920240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лучшей модели a(x) — характеристика данных, которой нельзя управлять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Смещение (Bias)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0" y="2926080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Отклонение усредненных ответов наших моделей от ответов лучшей модели. Высокое у простых алгоритмов (линейные)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93192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Разброс (Variance)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00400" y="3931920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Дисперсия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ответов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моделей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Высокий у сложных алгоритмов (деревья решений)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Усреднение алгоритмов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10092" y="1154882"/>
            <a:ext cx="7420928" cy="1824319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31116" y="1186147"/>
            <a:ext cx="314302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6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Усреднение алгоритмов: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631117" y="1733104"/>
                <a:ext cx="6967368" cy="1138516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buNone/>
                </a:pPr>
                <a:r>
                  <a:rPr lang="ru-RU" sz="1400" dirty="0">
                    <a:solidFill>
                      <a:srgbClr val="1A1A2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Не меняется смещение</a:t>
                </a:r>
              </a:p>
              <a:p>
                <a:pPr marL="0" indent="0" algn="ctr">
                  <a:buNone/>
                </a:pPr>
                <a:endParaRPr lang="ru-RU" sz="14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ru-RU" sz="1400" i="0">
                        <a:latin typeface="KaTeX_Main"/>
                      </a:rPr>
                      <m:t>Разброс ансамбля</m:t>
                    </m:r>
                    <m:r>
                      <m:rPr>
                        <m:nor/>
                      </m:rPr>
                      <a:rPr lang="ru-RU" sz="1400">
                        <a:latin typeface="KaTeX_Main"/>
                      </a:rPr>
                      <m:t> </m:t>
                    </m:r>
                    <m:r>
                      <a:rPr lang="ru-RU" sz="1400">
                        <a:latin typeface="Cambria Math" panose="02040503050406030204" pitchFamily="18" charset="0"/>
                      </a:rPr>
                      <m:t>≈ </m:t>
                    </m:r>
                    <m:f>
                      <m:fPr>
                        <m:ctrlPr>
                          <a:rPr lang="ru-RU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ru-RU" sz="1400" i="0">
                            <a:latin typeface="KaTeX_Main"/>
                          </a:rPr>
                          <m:t>Разброс базовых моделей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400" i="0">
                            <a:latin typeface="KaTeX_Main"/>
                          </a:rPr>
                          <m:t>N</m:t>
                        </m:r>
                      </m:den>
                    </m:f>
                  </m:oMath>
                </a14:m>
                <a:r>
                  <a:rPr lang="en-US" sz="1400" dirty="0">
                    <a:latin typeface="KaTeX_Main"/>
                  </a:rPr>
                  <a:t> + </a:t>
                </a:r>
                <a:r>
                  <a:rPr lang="ru-RU" sz="1400" dirty="0">
                    <a:latin typeface="KaTeX_Main"/>
                  </a:rPr>
                  <a:t>корреляция базовых моделей</a:t>
                </a:r>
                <a:r>
                  <a:rPr lang="en-US" sz="1400" dirty="0">
                    <a:latin typeface="KaTeX_Main"/>
                  </a:rPr>
                  <a:t> </a:t>
                </a:r>
                <a:r>
                  <a:rPr lang="ru-RU" sz="1400" dirty="0">
                    <a:latin typeface="KaTeX_Main"/>
                  </a:rPr>
                  <a:t> </a:t>
                </a:r>
                <a:endParaRPr lang="en-US" sz="1400" dirty="0"/>
              </a:p>
            </p:txBody>
          </p:sp>
        </mc:Choice>
        <mc:Fallback xmlns=""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117" y="1733104"/>
                <a:ext cx="6967368" cy="1138516"/>
              </a:xfrm>
              <a:prstGeom prst="rect">
                <a:avLst/>
              </a:prstGeom>
              <a:blipFill>
                <a:blip r:embed="rId3"/>
                <a:stretch>
                  <a:fillRect l="-263" t="-535"/>
                </a:stretch>
              </a:blipFill>
              <a:ln/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hape 6"/>
          <p:cNvSpPr/>
          <p:nvPr/>
        </p:nvSpPr>
        <p:spPr>
          <a:xfrm>
            <a:off x="2065469" y="3158715"/>
            <a:ext cx="6621331" cy="1649953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86579" y="3189194"/>
            <a:ext cx="56119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16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Подходы, позволяющие уменьшить корреляцию 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91380" y="3693011"/>
            <a:ext cx="6257364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0" i="1" dirty="0" err="1">
                <a:solidFill>
                  <a:srgbClr val="1F1F1F"/>
                </a:solidFill>
                <a:effectLst/>
                <a:latin typeface="Google Sans Text"/>
              </a:rPr>
              <a:t>бэггинг</a:t>
            </a:r>
            <a:r>
              <a:rPr lang="ru-RU" sz="1400" b="0" i="0" dirty="0">
                <a:solidFill>
                  <a:srgbClr val="1F1F1F"/>
                </a:solidFill>
                <a:effectLst/>
                <a:latin typeface="Google Sans Text"/>
              </a:rPr>
              <a:t> (обучение базовых алгоритмов на случайной </a:t>
            </a:r>
            <a:r>
              <a:rPr lang="ru-RU" sz="1400" b="0" i="0" dirty="0" err="1">
                <a:solidFill>
                  <a:srgbClr val="1F1F1F"/>
                </a:solidFill>
                <a:effectLst/>
                <a:latin typeface="Google Sans Text"/>
              </a:rPr>
              <a:t>подвыборке</a:t>
            </a:r>
            <a:r>
              <a:rPr lang="ru-RU" sz="1400" b="0" i="0" dirty="0">
                <a:solidFill>
                  <a:srgbClr val="1F1F1F"/>
                </a:solidFill>
                <a:effectLst/>
                <a:latin typeface="Google Sans Text"/>
              </a:rPr>
              <a:t>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ru-RU" sz="1400" b="0" i="0" dirty="0">
              <a:solidFill>
                <a:srgbClr val="1F1F1F"/>
              </a:solidFill>
              <a:effectLst/>
              <a:latin typeface="Google Sans Tex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0" i="1" dirty="0">
                <a:solidFill>
                  <a:srgbClr val="1F1F1F"/>
                </a:solidFill>
                <a:effectLst/>
                <a:latin typeface="Google Sans Text"/>
              </a:rPr>
              <a:t>метод случайных подпространств</a:t>
            </a:r>
            <a:r>
              <a:rPr lang="ru-RU" sz="1400" b="0" i="0" dirty="0">
                <a:solidFill>
                  <a:srgbClr val="1F1F1F"/>
                </a:solidFill>
                <a:effectLst/>
                <a:latin typeface="Google Sans Text"/>
              </a:rPr>
              <a:t> (обучение базовых алгоритмов на случайном подмножестве признаков) или их комбинация.</a:t>
            </a:r>
          </a:p>
        </p:txBody>
      </p:sp>
    </p:spTree>
    <p:extLst>
      <p:ext uri="{BB962C8B-B14F-4D97-AF65-F5344CB8AC3E}">
        <p14:creationId xmlns:p14="http://schemas.microsoft.com/office/powerpoint/2010/main" val="4057152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Как ансамбли уменьшают ошибку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221753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подхода для уменьшения корреляции между базовыми алгоритмами: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3741" y="1722216"/>
            <a:ext cx="3749040" cy="1559971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9410" y="1722217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Бэггинг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8061" y="2184348"/>
            <a:ext cx="3200400" cy="101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базовых алгоритмов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случайных подвыборках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исходных данных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(бутстрап-выборках)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71421" y="1690951"/>
            <a:ext cx="3749040" cy="1591235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18037" y="1721763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Метод случайных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подпространств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20640" y="2418328"/>
            <a:ext cx="3200400" cy="8641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базовых алгоритмов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случайном подмножестве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признаков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294184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Случайный лес комбинирует оба подхода для максимальной декорреляции деревьев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Основные типы ансамблей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06040" cy="32918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06040" cy="548640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Бэггинг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2331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Параллельное обучение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базовых алгоритмов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случайных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подвыборках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37560" y="1097280"/>
            <a:ext cx="2606040" cy="32918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097280"/>
            <a:ext cx="2606040" cy="548640"/>
          </a:xfrm>
          <a:prstGeom prst="rect">
            <a:avLst/>
          </a:prstGeom>
          <a:solidFill>
            <a:srgbClr val="A84B2F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0972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Бустинг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1920240"/>
            <a:ext cx="2331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Последовательное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построение ансамбля,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алгоритм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исправляет ошибки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606040" cy="32918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97280"/>
            <a:ext cx="2606040" cy="548640"/>
          </a:xfrm>
          <a:prstGeom prst="rect">
            <a:avLst/>
          </a:prstGeom>
          <a:solidFill>
            <a:srgbClr val="7A39BB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0972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Стэкинг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5080" y="1920240"/>
            <a:ext cx="2331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Использование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мета-алгоритма для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объединения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предсказаний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2011680" y="13716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Бэггинг и бутстрап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0808D"/>
          </a:solidFill>
          <a:ln/>
        </p:spPr>
      </p:sp>
    </p:spTree>
    <p:extLst>
      <p:ext uri="{BB962C8B-B14F-4D97-AF65-F5344CB8AC3E}">
        <p14:creationId xmlns:p14="http://schemas.microsoft.com/office/powerpoint/2010/main" val="1194102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Бутстрап (Bootstrap)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Бутстрап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метод формирования подвыборок из исходной </a:t>
            </a:r>
            <a:r>
              <a:rPr lang="en-US" sz="15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выборки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длины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 </a:t>
            </a:r>
            <a:r>
              <a:rPr lang="en-US" sz="15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путем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случайного выбора с возвращением.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выборки </a:t>
            </a: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длины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 случайно </a:t>
            </a: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выбирается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 элементов с возвращением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Некоторые элементы попадут несколько раз, ≈37% не попадут вовсе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Повторяя N раз, получаем N разных выборок </a:t>
            </a: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длиной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[a, b, c, d, e] → [a, b, a, c, b] или [b, e, e, d, b]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Формирование бутстрап-подвыборки для бэггинга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053" y="731520"/>
            <a:ext cx="9103894" cy="40699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Алгоритм бэггинга (Bootstrap Aggregating)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502920" cy="502920"/>
          </a:xfrm>
          <a:prstGeom prst="ellipse">
            <a:avLst/>
          </a:prstGeom>
          <a:solidFill>
            <a:srgbClr val="20808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18872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Генерируем N бутстрап-выборок из исходных данных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502920" cy="502920"/>
          </a:xfrm>
          <a:prstGeom prst="ellipse">
            <a:avLst/>
          </a:prstGeom>
          <a:solidFill>
            <a:srgbClr val="20808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210312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каждой выборке обучаем независимый базовый алгоритм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502920" cy="502920"/>
          </a:xfrm>
          <a:prstGeom prst="ellipse">
            <a:avLst/>
          </a:prstGeom>
          <a:solidFill>
            <a:srgbClr val="20808D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301752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Агрегация: для регрессии — усреднение, для классификации — голосование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Бэггинг снижает разброс (variance) за счет усреднения предсказаний множества независимых моделей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такое ансамблевые методы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369801"/>
            <a:ext cx="374904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61241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Регрессия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918441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a(x) = (1/N) ∑ bₙ(x)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— среднее значение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ответов каждого базового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1366220"/>
            <a:ext cx="374904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4576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Классификация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20640" y="191486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Голосование: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 относится к классу,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который проголосовало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наибольшее число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базовых алгоритмов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91018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2011680" y="13716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Случайный лес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(Random Forest)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0808D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Обучение случайного леса (Random Forest)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609600"/>
            <a:ext cx="9097384" cy="43333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Обучение случайного леса (Random Forest)</a:t>
            </a:r>
            <a:endParaRPr lang="en-US" sz="1800" dirty="0"/>
          </a:p>
        </p:txBody>
      </p:sp>
      <p:pic>
        <p:nvPicPr>
          <p:cNvPr id="8" name="Рисунок 7" descr="Изображение выглядит как текст, снимок экрана, Шрифт,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xmlns="" id="{95AC5D11-F409-DB99-E847-E596B8893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64" y="731520"/>
            <a:ext cx="8154296" cy="441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3226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Алгоритм построения случайного леса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N бутстрап-выборок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каждом узле дерева признак выбирается из случайного подмножества размера m (а не из всех d признаков)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Подмножество признаков перевыбирается заново в каждом узле (</a:t>
            </a: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отличие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метода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случайных подпространств)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Рекомендации: m = √d для классификации, m = d/3 для регрессии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ru-RU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Построение деревьев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977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ru-RU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Получение итогового ответа (усреднение для регрессии, голосование для классификации)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368310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Выбор случайного подмножества признаков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56032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def </a:t>
            </a:r>
            <a:r>
              <a:rPr lang="en-US" sz="1400" b="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get_subsample</a:t>
            </a:r>
            <a:r>
              <a:rPr lang="en-US" sz="1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400" b="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len_sample</a:t>
            </a:r>
            <a:r>
              <a:rPr lang="en-US" sz="1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r>
              <a:rPr lang="ru-RU" sz="1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sz="1400" b="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sample_indexes</a:t>
            </a:r>
            <a:r>
              <a:rPr lang="en-US" sz="1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 = list(range(</a:t>
            </a:r>
            <a:r>
              <a:rPr lang="en-US" sz="1400" b="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len_sample</a:t>
            </a:r>
            <a:r>
              <a:rPr lang="en-US" sz="1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r>
              <a:rPr lang="ru-RU" sz="1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sz="1400" b="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len_subsample</a:t>
            </a:r>
            <a:r>
              <a:rPr lang="en-US" sz="1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 = int(</a:t>
            </a:r>
            <a:r>
              <a:rPr lang="en-US" sz="1400" b="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np.round</a:t>
            </a:r>
            <a:r>
              <a:rPr lang="en-US" sz="1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400" b="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np.sqrt</a:t>
            </a:r>
            <a:r>
              <a:rPr lang="en-US" sz="1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400" b="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len_sample</a:t>
            </a:r>
            <a:r>
              <a:rPr lang="en-US" sz="1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)))</a:t>
            </a:r>
          </a:p>
          <a:p>
            <a:r>
              <a:rPr lang="en-US" sz="1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    subsample = </a:t>
            </a:r>
            <a:r>
              <a:rPr lang="en-US" sz="1400" b="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np.random.choice</a:t>
            </a:r>
            <a:r>
              <a:rPr lang="en-US" sz="1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400" b="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sample_indexes</a:t>
            </a:r>
            <a:r>
              <a:rPr lang="en-US" sz="1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, size=</a:t>
            </a:r>
            <a:r>
              <a:rPr lang="en-US" sz="1400" b="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len_subsample</a:t>
            </a:r>
            <a:r>
              <a:rPr lang="en-US" sz="1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u-RU" sz="1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en-US" sz="1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replace=False)</a:t>
            </a:r>
          </a:p>
          <a:p>
            <a:r>
              <a:rPr lang="en-US" sz="1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/>
            </a:r>
            <a:br>
              <a:rPr lang="en-US" sz="1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</a:br>
            <a:r>
              <a:rPr lang="en-US" sz="1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    return subsample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каждом узле дерева вызывается get_subsample — признаки для наилучшего разбиения выбираются только из этого случайного подмножества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Out-of-Bag </a:t>
            </a:r>
            <a:r>
              <a:rPr lang="en-US" sz="18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ошибка</a:t>
            </a: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(OOB)</a:t>
            </a:r>
            <a:endParaRPr lang="en-US" sz="1800" dirty="0"/>
          </a:p>
        </p:txBody>
      </p:sp>
      <p:pic>
        <p:nvPicPr>
          <p:cNvPr id="5" name="Рисунок 4" descr="Изображение выглядит как текст, снимок экрана, диаграмм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xmlns="" id="{2400AD0C-5922-703E-8D65-DF366A6A79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403" y="834484"/>
            <a:ext cx="6306000" cy="4309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9513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87" y="-15243"/>
            <a:ext cx="9144000" cy="731520"/>
          </a:xfrm>
          <a:prstGeom prst="rect">
            <a:avLst/>
          </a:prstGeom>
          <a:solidFill>
            <a:srgbClr val="0F20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Out-of-Bag ошибка (OOB)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~37% объектов не попадают в каждую бутстрап-выборку — их можно использовать для оценки качества модели без отдельной тестовой выборки.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8046720" cy="141732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каждого объекта усредняем предсказания только тех деревьев, которые на нем не обучались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886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Отпадает необходимость в кросс-валидации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OOB-ошибка — несмещенная оценка ошибки обобщения</a:t>
            </a:r>
            <a:endParaRPr lang="en-US" sz="14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xmlns="" id="{12263965-EA01-3147-B074-DF3A9753D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904" y="1852868"/>
            <a:ext cx="4068183" cy="690318"/>
          </a:xfrm>
          <a:prstGeom prst="rect">
            <a:avLst/>
          </a:prstGeo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xmlns="" id="{B4D9E1FE-EFDF-C654-823D-7B2262BDA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653" y="2566046"/>
            <a:ext cx="7849496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BY" altLang="ru-BY" sz="1200" b="0" i="1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ru-BY" altLang="ru-BY" sz="1400" b="0" i="1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L(y,</a:t>
            </a:r>
            <a:r>
              <a:rPr kumimoji="0" lang="en-US" altLang="ru-BY" sz="1400" b="0" i="1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BY" altLang="ru-BY" sz="1400" b="0" i="1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z)</a:t>
            </a:r>
            <a:r>
              <a:rPr kumimoji="0" lang="ru-BY" altLang="ru-BY" sz="1200" b="0" i="1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ru-BY" altLang="ru-BY" sz="12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- функция потерь, а выражение в скобках и представляет из себя среднюю ошибку на объекте </a:t>
            </a:r>
            <a:r>
              <a:rPr kumimoji="0" lang="ru-BY" altLang="ru-BY" sz="1400" b="0" i="1" u="none" strike="noStrike" cap="none" normalizeH="0" baseline="0" dirty="0" err="1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0" lang="ru-BY" altLang="ru-BY" sz="900" b="0" i="1" u="none" strike="noStrike" cap="none" normalizeH="0" baseline="0" dirty="0" err="1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ru-BY" altLang="ru-BY" sz="12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 среди деревьев, которые на нем не обучались</a:t>
            </a:r>
            <a:r>
              <a:rPr kumimoji="0" lang="ru-BY" altLang="ru-BY" sz="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BY" altLang="ru-BY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Особенности случайного леса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6576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3931920" cy="502920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Преимущества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Редко переобучается при увеличении числа деревьев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2128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Построение деревьев можно распараллеливать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68833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требует кросс-валидации (OOB)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16382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Устойчив к выбросам и шуму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3931920" cy="36576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05840"/>
            <a:ext cx="3931920" cy="502920"/>
          </a:xfrm>
          <a:prstGeom prst="rect">
            <a:avLst/>
          </a:prstGeom>
          <a:solidFill>
            <a:srgbClr val="A84B2F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0058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Недостатки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17373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сложных задач нужно большое количество деревьев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2128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Потребляет много ресурсов при большой выборке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68833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Менее интерпретируемый, чем одиночное дерево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16382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адаптируется к ошибкам отдельных деревьев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2011680" y="13716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Градиентный бустинг (GBM)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0808D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Идея бустинга</a:t>
            </a:r>
            <a:endParaRPr lang="en-US" sz="180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xmlns="" id="{0BE00548-3241-9AE0-746D-CCF49A7E2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953" y="750808"/>
            <a:ext cx="8046721" cy="439269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Идея бустинга</a:t>
            </a:r>
            <a:endParaRPr lang="en-US" sz="1800" dirty="0"/>
          </a:p>
        </p:txBody>
      </p:sp>
      <p:pic>
        <p:nvPicPr>
          <p:cNvPr id="5" name="Рисунок 4" descr="Изображение выглядит как зарисовка, рисунок, диаграмма, лин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xmlns="" id="{1C29404F-753B-04AA-3E35-F10845D2D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088" y="731520"/>
            <a:ext cx="8348734" cy="441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3840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Алгоритм</a:t>
            </a: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градиентного</a:t>
            </a: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бустинга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Бустинг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последовательное построение ансамбля, где каждое следующее дерево исправляет ошибки уже построенной композиции.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766875"/>
            <a:ext cx="457200" cy="457200"/>
          </a:xfrm>
          <a:prstGeom prst="ellipse">
            <a:avLst/>
          </a:prstGeom>
          <a:solidFill>
            <a:srgbClr val="20808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6687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721155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u-RU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Инициализация начального алгоритма </a:t>
            </a:r>
            <a:r>
              <a:rPr lang="en-US" sz="1400" i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</a:t>
            </a:r>
            <a:r>
              <a:rPr lang="en-US" sz="1400" i="1" baseline="-25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</a:t>
            </a:r>
            <a:r>
              <a:rPr lang="en-US" sz="1400" i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(x)</a:t>
            </a:r>
            <a:endParaRPr 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" y="2452675"/>
            <a:ext cx="457200" cy="457200"/>
          </a:xfrm>
          <a:prstGeom prst="ellipse">
            <a:avLst/>
          </a:prstGeom>
          <a:solidFill>
            <a:srgbClr val="20808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45267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2406955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u-RU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Подсчет остатков (вектор сдвига)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138475"/>
            <a:ext cx="457200" cy="457200"/>
          </a:xfrm>
          <a:prstGeom prst="ellipse">
            <a:avLst/>
          </a:prstGeom>
          <a:solidFill>
            <a:srgbClr val="20808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13847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3092755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</a:t>
            </a:r>
            <a:r>
              <a:rPr lang="ru-RU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ение</a:t>
            </a:r>
            <a:r>
              <a:rPr lang="ru-RU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нового алгоритма 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824275"/>
            <a:ext cx="457200" cy="457200"/>
          </a:xfrm>
          <a:prstGeom prst="ellipse">
            <a:avLst/>
          </a:prstGeom>
          <a:solidFill>
            <a:srgbClr val="20808D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82427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3778555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u-RU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Добавление нового алгоритма в ансамбль</a:t>
            </a:r>
            <a:endParaRPr lang="en-US" sz="140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xmlns="" id="{CD53CA08-75EF-40CD-B61A-BBFA571875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9"/>
          <a:stretch/>
        </p:blipFill>
        <p:spPr>
          <a:xfrm>
            <a:off x="4167282" y="2464889"/>
            <a:ext cx="3415276" cy="495469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xmlns="" id="{DF6DAB77-FA32-1B4E-1321-14C889A24C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9997" y="3204594"/>
            <a:ext cx="2729404" cy="427275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xmlns="" id="{B26E46BB-05A1-56FB-FAE3-2E52280463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4607" y="3890955"/>
            <a:ext cx="2100627" cy="294088"/>
          </a:xfrm>
          <a:prstGeom prst="rect">
            <a:avLst/>
          </a:prstGeom>
        </p:spPr>
      </p:pic>
      <p:sp>
        <p:nvSpPr>
          <p:cNvPr id="23" name="Shape 3">
            <a:extLst>
              <a:ext uri="{FF2B5EF4-FFF2-40B4-BE49-F238E27FC236}">
                <a16:creationId xmlns:a16="http://schemas.microsoft.com/office/drawing/2014/main" xmlns="" id="{FFCE204B-8DE6-C439-48C9-15CAFD3C3D52}"/>
              </a:ext>
            </a:extLst>
          </p:cNvPr>
          <p:cNvSpPr/>
          <p:nvPr/>
        </p:nvSpPr>
        <p:spPr>
          <a:xfrm>
            <a:off x="731520" y="4500537"/>
            <a:ext cx="457200" cy="457200"/>
          </a:xfrm>
          <a:prstGeom prst="ellipse">
            <a:avLst/>
          </a:prstGeom>
          <a:solidFill>
            <a:srgbClr val="20808D"/>
          </a:solidFill>
          <a:ln/>
        </p:spPr>
      </p:sp>
      <p:sp>
        <p:nvSpPr>
          <p:cNvPr id="24" name="Text 4">
            <a:extLst>
              <a:ext uri="{FF2B5EF4-FFF2-40B4-BE49-F238E27FC236}">
                <a16:creationId xmlns:a16="http://schemas.microsoft.com/office/drawing/2014/main" xmlns="" id="{E048D759-2A42-8618-C2C5-197A6CE34876}"/>
              </a:ext>
            </a:extLst>
          </p:cNvPr>
          <p:cNvSpPr/>
          <p:nvPr/>
        </p:nvSpPr>
        <p:spPr>
          <a:xfrm>
            <a:off x="731520" y="4500537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1600" b="1" dirty="0">
                <a:solidFill>
                  <a:schemeClr val="bg1"/>
                </a:solidFill>
              </a:rPr>
              <a:t>5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xmlns="" id="{92F5F5B4-61FA-8322-9F7E-8FB4D0D7D926}"/>
              </a:ext>
            </a:extLst>
          </p:cNvPr>
          <p:cNvSpPr/>
          <p:nvPr/>
        </p:nvSpPr>
        <p:spPr>
          <a:xfrm>
            <a:off x="1463040" y="4409097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u-RU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 п.2-5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30366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Функции потерь в градиентном бустинге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28600" cy="1097280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058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L₂ loss (регрессия)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82296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240280"/>
            <a:ext cx="228600" cy="1097280"/>
          </a:xfrm>
          <a:prstGeom prst="rect">
            <a:avLst/>
          </a:prstGeom>
          <a:solidFill>
            <a:srgbClr val="006494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2402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64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L₁ loss (регрессия)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82296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474720"/>
            <a:ext cx="228600" cy="1097280"/>
          </a:xfrm>
          <a:prstGeom prst="rect">
            <a:avLst/>
          </a:prstGeom>
          <a:solidFill>
            <a:srgbClr val="A84B2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4747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 loss (классификация)</a:t>
            </a:r>
            <a:endParaRPr lang="en-US" sz="1400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xmlns="" id="{5056AB37-3A63-B2E2-1B12-5308C126A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4" y="1121005"/>
            <a:ext cx="1681162" cy="331575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xmlns="" id="{8884E1B8-8B13-7BE6-B46F-7B3088FE9E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3361" y="1503474"/>
            <a:ext cx="1790985" cy="389705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xmlns="" id="{748CCC0E-D426-888A-AB5A-E3FF158B58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0498" y="2362146"/>
            <a:ext cx="1633538" cy="370447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xmlns="" id="{57DC223A-B0D0-6023-EC23-88C89A97FD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7956" y="2830299"/>
            <a:ext cx="1957085" cy="347640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xmlns="" id="{F78A674D-98B8-2894-53DA-C8D1982B1E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5260" y="3534510"/>
            <a:ext cx="2586038" cy="408103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xmlns="" id="{B15AB23E-67DE-D719-F8F9-BF6F016E18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43361" y="3977912"/>
            <a:ext cx="2140123" cy="55878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Алгоритм градиентного бустинга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6012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Инициализация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834640" y="960120"/>
            <a:ext cx="5669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Выбирается простой начальный алгоритм b₀(x)</a:t>
            </a:r>
            <a:r>
              <a:rPr lang="ru-RU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Могут быть и константные алгоритмы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Цикл по 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34640" y="1920240"/>
            <a:ext cx="5669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Вычисление вектора сдвига: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8036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Обучение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34640" y="2880360"/>
            <a:ext cx="5669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4048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Добавление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34640" y="3840480"/>
            <a:ext cx="5669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xmlns="" id="{B2ECFC24-5CF9-8097-9691-C46BA803C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1468716"/>
            <a:ext cx="857408" cy="337223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xmlns="" id="{C790CE46-E90B-399E-F104-CC7649366A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272" y="1248754"/>
            <a:ext cx="1257427" cy="582629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xmlns="" id="{798E0B0C-8984-4A37-C997-6598E5BA62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7867" y="1288142"/>
            <a:ext cx="1647065" cy="507657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xmlns="" id="{8F41B745-5F44-6AE1-59CC-6F040B4F5F1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369"/>
          <a:stretch/>
        </p:blipFill>
        <p:spPr>
          <a:xfrm>
            <a:off x="5163761" y="2038265"/>
            <a:ext cx="3415276" cy="495469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xmlns="" id="{9EF9FDBD-18B0-145C-2AC2-582FD9FC97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34640" y="3077089"/>
            <a:ext cx="2654140" cy="552328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xmlns="" id="{1B1318E6-7E06-4F4D-62F1-3F073A733F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62249" y="4048159"/>
            <a:ext cx="2262559" cy="45332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Скорость обучения (η) и регуляризация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080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aₙ(x) = aₙ₋₁(x) + η · bₙ(x),  η ∈ (0, 1]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Маленький η → медленная сходимость, но лучшее обобщение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Большой η → быстрая сходимость, риск переобучения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= 1: эквивалентно обучению на остатках без масштабирования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= 0.1: распространенный выбор на практике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Градиентный бустинг склонен к переобучению при увеличении числа итераций N или глубины деревьев. Оптимальные параметры выбираются по отложенной выборке или кросс-валидацией.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6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r>
              <a:rPr lang="ru-RU" sz="48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2011680" y="13716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AdaBoost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0808D"/>
          </a:solidFill>
          <a:ln/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AdaBoost: ключевые идеи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 err="1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Вес</a:t>
            </a:r>
            <a:r>
              <a:rPr lang="en-US" sz="15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ru-RU" sz="15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объекта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u-RU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первом шаге все объекты имеют одинаковый вес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 err="1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Адаптивность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5087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Веса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неправильно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классифицированных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объектов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увеличиваются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заставляя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следующий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классификатор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акцентироваться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них</a:t>
            </a:r>
            <a:endParaRPr lang="en-US" sz="1200" dirty="0"/>
          </a:p>
          <a:p>
            <a:pPr marL="0" indent="0" algn="l">
              <a:buNone/>
            </a:pPr>
            <a:endParaRPr lang="ru-RU" sz="120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39319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8346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Слабые классификаторы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32918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Используются "пни" — деревья глубиной 1. Их ошибка должна быть &lt; 0.5, иначе классификатор отбрасывается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788920"/>
            <a:ext cx="39319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76200" dist="25400" dir="90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28346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Итоговое предсказание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7760" y="32918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Взвешенное голосование: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каждого класса суммируются α всех деревьев, предсказавших этот класс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Алгоритм AdaBoost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44798" y="1051560"/>
            <a:ext cx="457200" cy="457200"/>
          </a:xfrm>
          <a:prstGeom prst="ellipse">
            <a:avLst/>
          </a:prstGeom>
          <a:solidFill>
            <a:srgbClr val="A84B2F"/>
          </a:solidFill>
          <a:ln/>
        </p:spPr>
      </p:sp>
      <p:sp>
        <p:nvSpPr>
          <p:cNvPr id="5" name="Text 3"/>
          <p:cNvSpPr/>
          <p:nvPr/>
        </p:nvSpPr>
        <p:spPr>
          <a:xfrm>
            <a:off x="344798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6318" y="100584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Инициализация весов: 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4798" y="1801368"/>
            <a:ext cx="457200" cy="457200"/>
          </a:xfrm>
          <a:prstGeom prst="ellipse">
            <a:avLst/>
          </a:prstGeom>
          <a:solidFill>
            <a:srgbClr val="A84B2F"/>
          </a:solidFill>
          <a:ln/>
        </p:spPr>
      </p:sp>
      <p:sp>
        <p:nvSpPr>
          <p:cNvPr id="8" name="Text 6"/>
          <p:cNvSpPr/>
          <p:nvPr/>
        </p:nvSpPr>
        <p:spPr>
          <a:xfrm>
            <a:off x="344798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6318" y="1755648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слабого классификатора </a:t>
            </a:r>
            <a:r>
              <a:rPr lang="en-US" sz="1400" i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bₙ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 минимизацией взвешенной </a:t>
            </a: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ошибки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i="1" dirty="0"/>
          </a:p>
        </p:txBody>
      </p:sp>
      <p:sp>
        <p:nvSpPr>
          <p:cNvPr id="10" name="Shape 8"/>
          <p:cNvSpPr/>
          <p:nvPr/>
        </p:nvSpPr>
        <p:spPr>
          <a:xfrm>
            <a:off x="344798" y="2551176"/>
            <a:ext cx="457200" cy="457200"/>
          </a:xfrm>
          <a:prstGeom prst="ellipse">
            <a:avLst/>
          </a:prstGeom>
          <a:solidFill>
            <a:srgbClr val="A84B2F"/>
          </a:solidFill>
          <a:ln/>
        </p:spPr>
      </p:sp>
      <p:sp>
        <p:nvSpPr>
          <p:cNvPr id="11" name="Text 9"/>
          <p:cNvSpPr/>
          <p:nvPr/>
        </p:nvSpPr>
        <p:spPr>
          <a:xfrm>
            <a:off x="344798" y="25511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6318" y="2505456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 дерева: 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44798" y="3300984"/>
            <a:ext cx="457200" cy="457200"/>
          </a:xfrm>
          <a:prstGeom prst="ellipse">
            <a:avLst/>
          </a:prstGeom>
          <a:solidFill>
            <a:srgbClr val="A84B2F"/>
          </a:solidFill>
          <a:ln/>
        </p:spPr>
      </p:sp>
      <p:sp>
        <p:nvSpPr>
          <p:cNvPr id="14" name="Text 12"/>
          <p:cNvSpPr/>
          <p:nvPr/>
        </p:nvSpPr>
        <p:spPr>
          <a:xfrm>
            <a:off x="344798" y="33009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6318" y="3255264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Обновление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весов</a:t>
            </a:r>
            <a:r>
              <a:rPr lang="ru-RU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объетов</a:t>
            </a:r>
            <a:r>
              <a:rPr lang="ru-RU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при неверной классификации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400" dirty="0"/>
          </a:p>
          <a:p>
            <a:pPr marL="0" indent="0" algn="l">
              <a:buNone/>
            </a:pPr>
            <a:r>
              <a:rPr lang="ru-RU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при верной классификации   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44798" y="4050792"/>
            <a:ext cx="457200" cy="457200"/>
          </a:xfrm>
          <a:prstGeom prst="ellipse">
            <a:avLst/>
          </a:prstGeom>
          <a:solidFill>
            <a:srgbClr val="A84B2F"/>
          </a:solidFill>
          <a:ln/>
        </p:spPr>
      </p:sp>
      <p:sp>
        <p:nvSpPr>
          <p:cNvPr id="17" name="Text 15"/>
          <p:cNvSpPr/>
          <p:nvPr/>
        </p:nvSpPr>
        <p:spPr>
          <a:xfrm>
            <a:off x="344798" y="4050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76318" y="4005072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Нормализация</a:t>
            </a:r>
            <a:r>
              <a:rPr lang="ru-RU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весов объектов так, чтобы </a:t>
            </a:r>
            <a:endParaRPr lang="en-US" sz="1400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xmlns="" id="{4DB05F49-E923-029F-08C9-00FCFF5D6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3231" y="1076354"/>
            <a:ext cx="966910" cy="499051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xmlns="" id="{CEA9A23E-50FF-120A-4103-D957C595785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689"/>
          <a:stretch/>
        </p:blipFill>
        <p:spPr>
          <a:xfrm>
            <a:off x="6967539" y="1783828"/>
            <a:ext cx="2058026" cy="569036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xmlns="" id="{B60624E1-6591-EBBE-A09D-2787CDF36B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9050" y="2593577"/>
            <a:ext cx="1270911" cy="436006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xmlns="" id="{87FE0B04-9038-1ECF-F744-E95595B066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2407" y="3321595"/>
            <a:ext cx="1140755" cy="297904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xmlns="" id="{98E8F52F-E5C2-53DA-367E-58B30508952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6523"/>
          <a:stretch/>
        </p:blipFill>
        <p:spPr>
          <a:xfrm>
            <a:off x="3437372" y="3590922"/>
            <a:ext cx="1202673" cy="228219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xmlns="" id="{B5E2F0B4-4F31-4A36-E752-F134BD90AF9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6008" y="4009835"/>
            <a:ext cx="1094769" cy="58207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0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Сравнение методов и выводы</a:t>
            </a:r>
            <a:endParaRPr lang="en-US" sz="18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29718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Критерий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Бэггинг / RF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Градиентный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бустинг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AdaBoost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Построение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Параллельно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Последовательно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Последовательно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снижает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Разброс (variance)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Смещение (bias)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Смещение (bias)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Переобучение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080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Устойчив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84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Склонен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84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Склонен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Базовый алг.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Глубокие деревья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Неглубокие деревья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Пни (depth=1)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Агрегация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Среднее / голосование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Взвешенная сумма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Взвешенное голосование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Реализации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RandomForest (sklearn)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XGBoost, LightGBM,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AdaBoost (sklearn)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2105186" y="178039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u-RU" sz="3200" b="1" dirty="0">
                <a:solidFill>
                  <a:srgbClr val="FFFFFF"/>
                </a:solidFill>
                <a:latin typeface="Trebuchet MS" pitchFamily="34" charset="0"/>
              </a:rPr>
              <a:t>Спасибо за внимание!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0808D"/>
          </a:solidFill>
          <a:ln/>
        </p:spPr>
      </p:sp>
    </p:spTree>
    <p:extLst>
      <p:ext uri="{BB962C8B-B14F-4D97-AF65-F5344CB8AC3E}">
        <p14:creationId xmlns:p14="http://schemas.microsoft.com/office/powerpoint/2010/main" val="1587631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4405</TotalTime>
  <Words>1034</Words>
  <Application>Microsoft Office PowerPoint</Application>
  <PresentationFormat>Экран (16:9)</PresentationFormat>
  <Paragraphs>248</Paragraphs>
  <Slides>32</Slides>
  <Notes>32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42" baseType="lpstr">
      <vt:lpstr>Aptos</vt:lpstr>
      <vt:lpstr>Arial</vt:lpstr>
      <vt:lpstr>Calibri</vt:lpstr>
      <vt:lpstr>Cambria Math</vt:lpstr>
      <vt:lpstr>Courier New</vt:lpstr>
      <vt:lpstr>Google Sans Text</vt:lpstr>
      <vt:lpstr>KaTeX_Main</vt:lpstr>
      <vt:lpstr>Times New Roman</vt:lpstr>
      <vt:lpstr>Trebuchet MS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golda</cp:lastModifiedBy>
  <cp:revision>17</cp:revision>
  <dcterms:created xsi:type="dcterms:W3CDTF">2026-03-30T19:56:54Z</dcterms:created>
  <dcterms:modified xsi:type="dcterms:W3CDTF">2026-04-13T07:58:00Z</dcterms:modified>
</cp:coreProperties>
</file>