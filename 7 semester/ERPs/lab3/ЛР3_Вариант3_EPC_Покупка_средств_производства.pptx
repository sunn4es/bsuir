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60175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2200" b="1">
                <a:solidFill>
                  <a:srgbClr val="1F4E79"/>
                </a:solidFill>
                <a:latin typeface="Calibri"/>
              </a:rPr>
              <a:t>Вариант 3. Бизнес-процесс «Покупка средств производства» (ARIS EPC)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31520"/>
            <a:ext cx="11460175" cy="32004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Нотация ARIS eEPC: событие → функция → событие; разветвления через правило XOR</a:t>
            </a:r>
          </a:p>
        </p:txBody>
      </p:sp>
      <p:sp>
        <p:nvSpPr>
          <p:cNvPr id="4" name="Hexagon 3"/>
          <p:cNvSpPr/>
          <p:nvPr/>
        </p:nvSpPr>
        <p:spPr>
          <a:xfrm>
            <a:off x="2377439" y="1417320"/>
            <a:ext cx="1371600" cy="274320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375623"/>
                </a:solidFill>
                <a:latin typeface="Calibri"/>
              </a:rPr>
              <a:t>Потребность в оборудовании выявлена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29968"/>
            <a:ext cx="3931920" cy="56692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333333"/>
                </a:solidFill>
                <a:latin typeface="Calibri"/>
              </a:rPr>
              <a:t>П1. Формирование потребности в средствах производства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39" y="2340864"/>
            <a:ext cx="3657600" cy="21945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Calibri"/>
              </a:rPr>
              <a:t>12 функций · исполнители · объекты · XOR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724912"/>
            <a:ext cx="3931920" cy="566928"/>
          </a:xfrm>
          <a:prstGeom prst="roundRect">
            <a:avLst/>
          </a:prstGeom>
          <a:solidFill>
            <a:srgbClr val="FCE4D6"/>
          </a:solidFill>
          <a:ln w="1524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333333"/>
                </a:solidFill>
                <a:latin typeface="Calibri"/>
              </a:rPr>
              <a:t>П2. Выбор поставщика и заключение договора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39" y="3035808"/>
            <a:ext cx="3657600" cy="21945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Calibri"/>
              </a:rPr>
              <a:t>12 функций · исполнители · объекты · XOR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3419856"/>
            <a:ext cx="3931920" cy="566928"/>
          </a:xfrm>
          <a:prstGeom prst="roundRect">
            <a:avLst/>
          </a:prstGeom>
          <a:solidFill>
            <a:srgbClr val="E2EFDA"/>
          </a:solidFill>
          <a:ln w="1524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333333"/>
                </a:solidFill>
                <a:latin typeface="Calibri"/>
              </a:rPr>
              <a:t>П3. Поставка и приёмка оборудования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39" y="3730752"/>
            <a:ext cx="3657600" cy="21945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Calibri"/>
              </a:rPr>
              <a:t>12 функций · исполнители · объекты · XOR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114800"/>
            <a:ext cx="3931920" cy="566928"/>
          </a:xfrm>
          <a:prstGeom prst="roundRect">
            <a:avLst/>
          </a:prstGeom>
          <a:solidFill>
            <a:srgbClr val="FFF2CC"/>
          </a:solidFill>
          <a:ln w="1524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1200" b="1">
                <a:solidFill>
                  <a:srgbClr val="333333"/>
                </a:solidFill>
                <a:latin typeface="Calibri"/>
              </a:rPr>
              <a:t>П4. Оприходование и ввод в эксплуатацию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39" y="4425696"/>
            <a:ext cx="3657600" cy="21945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800" b="0">
                <a:solidFill>
                  <a:srgbClr val="333333"/>
                </a:solidFill>
                <a:latin typeface="Calibri"/>
              </a:rPr>
              <a:t>12 функций · исполнители · объекты · XOR</a:t>
            </a:r>
          </a:p>
        </p:txBody>
      </p:sp>
      <p:sp>
        <p:nvSpPr>
          <p:cNvPr id="13" name="Hexagon 12"/>
          <p:cNvSpPr/>
          <p:nvPr/>
        </p:nvSpPr>
        <p:spPr>
          <a:xfrm>
            <a:off x="2377439" y="4809744"/>
            <a:ext cx="1371600" cy="274320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375623"/>
                </a:solidFill>
                <a:latin typeface="Calibri"/>
              </a:rPr>
              <a:t>Оборудование введено в эксплуатацию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3239" y="1691640"/>
            <a:ext cx="0" cy="301752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063239" y="2596896"/>
            <a:ext cx="0" cy="128016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063239" y="3291840"/>
            <a:ext cx="0" cy="128016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063239" y="3986784"/>
            <a:ext cx="0" cy="128016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063239" y="4681728"/>
            <a:ext cx="0" cy="128016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063239" y="4617720"/>
            <a:ext cx="0" cy="192024"/>
          </a:xfrm>
          <a:prstGeom prst="line">
            <a:avLst/>
          </a:prstGeom>
          <a:ln w="2540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0" y="1353312"/>
            <a:ext cx="5669280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  <a:latin typeface="Calibri"/>
              </a:rPr>
              <a:t>Условные обозначения (нотация eEPC)</a:t>
            </a:r>
          </a:p>
        </p:txBody>
      </p:sp>
      <p:sp>
        <p:nvSpPr>
          <p:cNvPr id="21" name="Hexagon 20"/>
          <p:cNvSpPr/>
          <p:nvPr/>
        </p:nvSpPr>
        <p:spPr>
          <a:xfrm>
            <a:off x="5943600" y="1700784"/>
            <a:ext cx="566928" cy="274320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700784"/>
            <a:ext cx="4937760" cy="29260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Событие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2176272"/>
            <a:ext cx="566928" cy="274320"/>
          </a:xfrm>
          <a:prstGeom prst="roundRect">
            <a:avLst/>
          </a:prstGeom>
          <a:solidFill>
            <a:srgbClr val="DDEBF7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29400" y="2176272"/>
            <a:ext cx="4937760" cy="29260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Функция</a:t>
            </a:r>
          </a:p>
        </p:txBody>
      </p:sp>
      <p:sp>
        <p:nvSpPr>
          <p:cNvPr id="25" name="Oval 24"/>
          <p:cNvSpPr/>
          <p:nvPr/>
        </p:nvSpPr>
        <p:spPr>
          <a:xfrm>
            <a:off x="5943600" y="2651760"/>
            <a:ext cx="566928" cy="274320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2651760"/>
            <a:ext cx="4937760" cy="29260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Исполнитель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3127248"/>
            <a:ext cx="566928" cy="274320"/>
          </a:xfrm>
          <a:prstGeom prst="rect">
            <a:avLst/>
          </a:prstGeom>
          <a:solidFill>
            <a:srgbClr val="F2F2F2"/>
          </a:solidFill>
          <a:ln w="12700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3127248"/>
            <a:ext cx="4937760" cy="29260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Объект / документ</a:t>
            </a:r>
          </a:p>
        </p:txBody>
      </p:sp>
      <p:sp>
        <p:nvSpPr>
          <p:cNvPr id="29" name="Oval 28"/>
          <p:cNvSpPr/>
          <p:nvPr/>
        </p:nvSpPr>
        <p:spPr>
          <a:xfrm>
            <a:off x="5943600" y="3602736"/>
            <a:ext cx="566928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3602736"/>
            <a:ext cx="4937760" cy="29260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000" b="0">
                <a:solidFill>
                  <a:srgbClr val="333333"/>
                </a:solidFill>
                <a:latin typeface="Calibri"/>
              </a:rPr>
              <a:t>Правило XOR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943600" y="4059936"/>
            <a:ext cx="822960" cy="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5943600" y="4334256"/>
            <a:ext cx="82296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03720" y="4005072"/>
            <a:ext cx="4663440" cy="4572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сплошная линия — поток управления
пунктир — связь исполнителя и объекта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897880"/>
            <a:ext cx="11277295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Задание ЛР4: ≥ 3 подпроцесса · ≥ 10 функций на подпроцесс · разветвлённая структура 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на диаграммах присутствуют события, функции, исполнители, объекты и правила XOR.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51615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900" b="1">
                <a:solidFill>
                  <a:srgbClr val="1F4E79"/>
                </a:solidFill>
                <a:latin typeface="Calibri"/>
              </a:rPr>
              <a:t>Подпроцесс П1: «Формирование потребности в средствах производства»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551615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alibri"/>
              </a:rPr>
              <a:t>Нотация ARIS eEPC · функций: 12 · цепочка: событие → функция → событие · XOR-разветвление</a:t>
            </a:r>
          </a:p>
        </p:txBody>
      </p:sp>
      <p:sp>
        <p:nvSpPr>
          <p:cNvPr id="4" name="Hexagon 3"/>
          <p:cNvSpPr/>
          <p:nvPr/>
        </p:nvSpPr>
        <p:spPr>
          <a:xfrm>
            <a:off x="2194560" y="960120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Поступили заявки на оборудование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43100" y="1271016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4651" y="1307592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Начальник отдела снабжения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851660" y="1463040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909059" y="1307592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Заявка на приобретение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17620" y="1463040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Hexagon 9"/>
          <p:cNvSpPr/>
          <p:nvPr/>
        </p:nvSpPr>
        <p:spPr>
          <a:xfrm>
            <a:off x="2194560" y="1728216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Заявки проанализированы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43100" y="2039112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1" y="2075688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Начальник отдела снабжения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851660" y="2231136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09059" y="2075688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Реестр основных средств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17620" y="2231136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Hexagon 15"/>
          <p:cNvSpPr/>
          <p:nvPr/>
        </p:nvSpPr>
        <p:spPr>
          <a:xfrm>
            <a:off x="2194560" y="2496312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Наличие аналогов проверено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43100" y="2807208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1" y="2843784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Руководитель подразделения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851660" y="2999232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909059" y="2843784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Акт обоснования потребности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17620" y="2999232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2194560" y="3264408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Потребность определена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43100" y="3575303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1" y="3611879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Главный инженер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851660" y="3767328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909059" y="3611879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Отчёт о загрузке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17620" y="3767328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Hexagon 27"/>
          <p:cNvSpPr/>
          <p:nvPr/>
        </p:nvSpPr>
        <p:spPr>
          <a:xfrm>
            <a:off x="2194560" y="4032504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Загрузка оценена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43100" y="4343400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4651" y="4379976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Экономист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851660" y="4535424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909059" y="4379976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План закупок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817620" y="4535424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Hexagon 33"/>
          <p:cNvSpPr/>
          <p:nvPr/>
        </p:nvSpPr>
        <p:spPr>
          <a:xfrm>
            <a:off x="2194560" y="4800600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План закупок сформирован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43100" y="5111496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1" y="5148072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Экономист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851660" y="5303520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909059" y="5148072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Бюджет закупок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817620" y="5303520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Hexagon 39"/>
          <p:cNvSpPr/>
          <p:nvPr/>
        </p:nvSpPr>
        <p:spPr>
          <a:xfrm>
            <a:off x="2194560" y="5568696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Бюджет рассчитан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880360" y="119786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880360" y="165506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880360" y="1965960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80360" y="2423160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80360" y="2734056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80360" y="3191256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880360" y="3502152"/>
            <a:ext cx="0" cy="73151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880360" y="3959352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880360" y="4270248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880360" y="4727448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880360" y="503834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880360" y="549554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566660" y="960120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268212" y="996696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Бухгалтер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7475220" y="1152144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9532620" y="996696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Бюджет закупок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441180" y="1152144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Hexagon 57"/>
          <p:cNvSpPr/>
          <p:nvPr/>
        </p:nvSpPr>
        <p:spPr>
          <a:xfrm>
            <a:off x="7818120" y="1417320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Бюджет согласован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66660" y="1728216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68212" y="1764792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Директор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7475220" y="1920240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9532620" y="1764792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План закупок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441180" y="1920240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Hexagon 63"/>
          <p:cNvSpPr/>
          <p:nvPr/>
        </p:nvSpPr>
        <p:spPr>
          <a:xfrm>
            <a:off x="7818120" y="2185416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План закупок утверждён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66660" y="2496312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268212" y="2532888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Директор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7475220" y="2688336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9532620" y="2532888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Приказ о закупке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441180" y="2688336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Hexagon 69"/>
          <p:cNvSpPr/>
          <p:nvPr/>
        </p:nvSpPr>
        <p:spPr>
          <a:xfrm>
            <a:off x="7818120" y="2953512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Приказ издан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566660" y="3264408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68212" y="3300984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Начальник отдела снабжения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7475220" y="3456432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9532620" y="3300984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Приказ о назначении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441180" y="3456432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Hexagon 75"/>
          <p:cNvSpPr/>
          <p:nvPr/>
        </p:nvSpPr>
        <p:spPr>
          <a:xfrm>
            <a:off x="7818120" y="3721608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Ответственный назначен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566660" y="4032504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268212" y="4069080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Начальник отдела снабжения</a:t>
            </a:r>
          </a:p>
        </p:txBody>
      </p:sp>
      <p:cxnSp>
        <p:nvCxnSpPr>
          <p:cNvPr id="79" name="Connector 78"/>
          <p:cNvCxnSpPr/>
          <p:nvPr/>
        </p:nvCxnSpPr>
        <p:spPr>
          <a:xfrm flipH="1">
            <a:off x="7475220" y="4224528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9532620" y="4069080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Критерии отбора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441180" y="4224528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Hexagon 81"/>
          <p:cNvSpPr/>
          <p:nvPr/>
        </p:nvSpPr>
        <p:spPr>
          <a:xfrm>
            <a:off x="7818120" y="4489704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Критерии определены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566660" y="4800600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268212" y="4837176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Главный инженер</a:t>
            </a:r>
          </a:p>
        </p:txBody>
      </p:sp>
      <p:cxnSp>
        <p:nvCxnSpPr>
          <p:cNvPr id="85" name="Connector 84"/>
          <p:cNvCxnSpPr/>
          <p:nvPr/>
        </p:nvCxnSpPr>
        <p:spPr>
          <a:xfrm flipH="1">
            <a:off x="7475220" y="4992624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9532620" y="4837176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Техническое задание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9441180" y="4992624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Hexagon 87"/>
          <p:cNvSpPr/>
          <p:nvPr/>
        </p:nvSpPr>
        <p:spPr>
          <a:xfrm>
            <a:off x="7818120" y="5257800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ТЗ подготовлено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8503920" y="1344168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03920" y="165506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3920" y="211226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03920" y="2423160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503920" y="2880360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03920" y="3191256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503920" y="3648456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503920" y="3959352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03920" y="4416552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503920" y="4727448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503920" y="5184648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566160" y="5687568"/>
            <a:ext cx="1933956" cy="305409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5500116" y="5916168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000000"/>
                </a:solidFill>
                <a:latin typeface="Calibri"/>
              </a:rPr>
              <a:t>XOR</a:t>
            </a:r>
          </a:p>
        </p:txBody>
      </p:sp>
      <p:cxnSp>
        <p:nvCxnSpPr>
          <p:cNvPr id="102" name="Connector 101"/>
          <p:cNvCxnSpPr/>
          <p:nvPr/>
        </p:nvCxnSpPr>
        <p:spPr>
          <a:xfrm flipV="1">
            <a:off x="5692140" y="822960"/>
            <a:ext cx="0" cy="5093208"/>
          </a:xfrm>
          <a:prstGeom prst="line">
            <a:avLst/>
          </a:prstGeom>
          <a:ln w="1905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5692140" y="822960"/>
            <a:ext cx="2811780" cy="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503920" y="822960"/>
            <a:ext cx="0" cy="13716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Hexagon 104"/>
          <p:cNvSpPr/>
          <p:nvPr/>
        </p:nvSpPr>
        <p:spPr>
          <a:xfrm>
            <a:off x="5006340" y="6181344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Требуется повторное согласование бюджета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692140" y="6108192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6377940" y="6035040"/>
            <a:ext cx="182880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Calibri"/>
              </a:rPr>
              <a:t>Бюджет согласован?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20040" y="6547104"/>
            <a:ext cx="11551615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alibri"/>
              </a:rPr>
              <a:t>Всего в подпроцессе: функций — 12, событий — 12, исполнители и объекты/документы у каждой функции.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51615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900" b="1">
                <a:solidFill>
                  <a:srgbClr val="1F4E79"/>
                </a:solidFill>
                <a:latin typeface="Calibri"/>
              </a:rPr>
              <a:t>Подпроцесс П2: «Выбор поставщика и заключение договора»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551615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alibri"/>
              </a:rPr>
              <a:t>Нотация ARIS eEPC · функций: 12 · цепочка: событие → функция → событие · XOR-разветвление</a:t>
            </a:r>
          </a:p>
        </p:txBody>
      </p:sp>
      <p:sp>
        <p:nvSpPr>
          <p:cNvPr id="4" name="Hexagon 3"/>
          <p:cNvSpPr/>
          <p:nvPr/>
        </p:nvSpPr>
        <p:spPr>
          <a:xfrm>
            <a:off x="2194560" y="960120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ТЗ подготовлено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43100" y="1271016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4651" y="1307592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Менеджер по снабжению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851660" y="1463040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909059" y="1307592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Список поставщиков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17620" y="1463040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Hexagon 9"/>
          <p:cNvSpPr/>
          <p:nvPr/>
        </p:nvSpPr>
        <p:spPr>
          <a:xfrm>
            <a:off x="2194560" y="1728216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Список поставщиков сформирован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43100" y="2039112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1" y="2075688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Менеджер по снабжению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851660" y="2231136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09059" y="2075688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Запрос коммерческого предложения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17620" y="2231136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Hexagon 15"/>
          <p:cNvSpPr/>
          <p:nvPr/>
        </p:nvSpPr>
        <p:spPr>
          <a:xfrm>
            <a:off x="2194560" y="2496312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Запросы направлены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43100" y="2807208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1" y="2843784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Специалист отдела закупок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851660" y="2999232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909059" y="2843784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Коммерческие предложения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17620" y="2999232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2194560" y="3264408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Предложения собраны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43100" y="3575303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1" y="3611879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Специалист отдела закупок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851660" y="3767328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909059" y="3611879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Сравнительная таблица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17620" y="3767328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Hexagon 27"/>
          <p:cNvSpPr/>
          <p:nvPr/>
        </p:nvSpPr>
        <p:spPr>
          <a:xfrm>
            <a:off x="2194560" y="4032504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Анализ проведён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43100" y="4343400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4651" y="4379976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Юрист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851660" y="4535424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909059" y="4379976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Справка о надёжности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817620" y="4535424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Hexagon 33"/>
          <p:cNvSpPr/>
          <p:nvPr/>
        </p:nvSpPr>
        <p:spPr>
          <a:xfrm>
            <a:off x="2194560" y="4800600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Надёжность проверена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43100" y="5111496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1" y="5148072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Начальник отдела снабжения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851660" y="5303520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909059" y="5148072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Протокол переговоров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817620" y="5303520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Hexagon 39"/>
          <p:cNvSpPr/>
          <p:nvPr/>
        </p:nvSpPr>
        <p:spPr>
          <a:xfrm>
            <a:off x="2194560" y="5568696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Переговоры проведены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880360" y="119786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880360" y="165506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880360" y="1965960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80360" y="2423160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80360" y="2734056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80360" y="3191256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880360" y="3502152"/>
            <a:ext cx="0" cy="73151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880360" y="3959352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880360" y="4270248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880360" y="4727448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880360" y="503834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880360" y="549554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566660" y="960120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268212" y="996696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Начальник отдела снабжения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7475220" y="1152144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9532620" y="996696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Решение о выборе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441180" y="1152144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Hexagon 57"/>
          <p:cNvSpPr/>
          <p:nvPr/>
        </p:nvSpPr>
        <p:spPr>
          <a:xfrm>
            <a:off x="7818120" y="1417320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Поставщик выбран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66660" y="1728216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68212" y="1764792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Начальник отдела снабжения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7475220" y="1920240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9532620" y="1764792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Проект договора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441180" y="1920240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Hexagon 63"/>
          <p:cNvSpPr/>
          <p:nvPr/>
        </p:nvSpPr>
        <p:spPr>
          <a:xfrm>
            <a:off x="7818120" y="2185416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Условия согласованы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66660" y="2496312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268212" y="2532888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Юрист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7475220" y="2688336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9532620" y="2532888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Договор поставки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441180" y="2688336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Hexagon 69"/>
          <p:cNvSpPr/>
          <p:nvPr/>
        </p:nvSpPr>
        <p:spPr>
          <a:xfrm>
            <a:off x="7818120" y="2953512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Договор проверен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566660" y="3264408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68212" y="3300984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Бухгалтер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7475220" y="3456432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9532620" y="3300984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Спецификация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441180" y="3456432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Hexagon 75"/>
          <p:cNvSpPr/>
          <p:nvPr/>
        </p:nvSpPr>
        <p:spPr>
          <a:xfrm>
            <a:off x="7818120" y="3721608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Цена и сроки согласованы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566660" y="4032504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268212" y="4069080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Директор</a:t>
            </a:r>
          </a:p>
        </p:txBody>
      </p:sp>
      <p:cxnSp>
        <p:nvCxnSpPr>
          <p:cNvPr id="79" name="Connector 78"/>
          <p:cNvCxnSpPr/>
          <p:nvPr/>
        </p:nvCxnSpPr>
        <p:spPr>
          <a:xfrm flipH="1">
            <a:off x="7475220" y="4224528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9532620" y="4069080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Договор поставки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441180" y="4224528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Hexagon 81"/>
          <p:cNvSpPr/>
          <p:nvPr/>
        </p:nvSpPr>
        <p:spPr>
          <a:xfrm>
            <a:off x="7818120" y="4489704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Договор подписан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566660" y="4800600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268212" y="4837176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Специалист отдела закупок</a:t>
            </a:r>
          </a:p>
        </p:txBody>
      </p:sp>
      <p:cxnSp>
        <p:nvCxnSpPr>
          <p:cNvPr id="85" name="Connector 84"/>
          <p:cNvCxnSpPr/>
          <p:nvPr/>
        </p:nvCxnSpPr>
        <p:spPr>
          <a:xfrm flipH="1">
            <a:off x="7475220" y="4992624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9532620" y="4837176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Журнал регистрации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9441180" y="4992624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Hexagon 87"/>
          <p:cNvSpPr/>
          <p:nvPr/>
        </p:nvSpPr>
        <p:spPr>
          <a:xfrm>
            <a:off x="7818120" y="5257800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Договор зарегистрирован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8503920" y="1344168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03920" y="165506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3920" y="211226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03920" y="2423160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503920" y="2880360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03920" y="3191256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503920" y="3648456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503920" y="3959352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03920" y="4416552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503920" y="4727448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503920" y="5184648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566160" y="5687568"/>
            <a:ext cx="1933956" cy="305409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5500116" y="5916168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000000"/>
                </a:solidFill>
                <a:latin typeface="Calibri"/>
              </a:rPr>
              <a:t>XOR</a:t>
            </a:r>
          </a:p>
        </p:txBody>
      </p:sp>
      <p:cxnSp>
        <p:nvCxnSpPr>
          <p:cNvPr id="102" name="Connector 101"/>
          <p:cNvCxnSpPr/>
          <p:nvPr/>
        </p:nvCxnSpPr>
        <p:spPr>
          <a:xfrm flipV="1">
            <a:off x="5692140" y="822960"/>
            <a:ext cx="0" cy="5093208"/>
          </a:xfrm>
          <a:prstGeom prst="line">
            <a:avLst/>
          </a:prstGeom>
          <a:ln w="1905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5692140" y="822960"/>
            <a:ext cx="2811780" cy="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503920" y="822960"/>
            <a:ext cx="0" cy="13716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Hexagon 104"/>
          <p:cNvSpPr/>
          <p:nvPr/>
        </p:nvSpPr>
        <p:spPr>
          <a:xfrm>
            <a:off x="5006340" y="6181344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Требуется продолжить переговоры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692140" y="6108192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6377940" y="6035040"/>
            <a:ext cx="182880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Calibri"/>
              </a:rPr>
              <a:t>Поставщик выбран?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20040" y="6547104"/>
            <a:ext cx="11551615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alibri"/>
              </a:rPr>
              <a:t>Всего в подпроцессе: функций — 12, событий — 12, исполнители и объекты/документы у каждой функции.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51615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900" b="1">
                <a:solidFill>
                  <a:srgbClr val="1F4E79"/>
                </a:solidFill>
                <a:latin typeface="Calibri"/>
              </a:rPr>
              <a:t>Подпроцесс П3: «Поставка и приёмка оборудования»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551615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alibri"/>
              </a:rPr>
              <a:t>Нотация ARIS eEPC · функций: 12 · цепочка: событие → функция → событие · XOR-разветвление</a:t>
            </a:r>
          </a:p>
        </p:txBody>
      </p:sp>
      <p:sp>
        <p:nvSpPr>
          <p:cNvPr id="4" name="Hexagon 3"/>
          <p:cNvSpPr/>
          <p:nvPr/>
        </p:nvSpPr>
        <p:spPr>
          <a:xfrm>
            <a:off x="2194560" y="960120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Договор зарегистрирован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43100" y="1271016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4651" y="1307592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Менеджер по снабжению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851660" y="1463040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909059" y="1307592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Заказ поставщику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17620" y="1463040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Hexagon 9"/>
          <p:cNvSpPr/>
          <p:nvPr/>
        </p:nvSpPr>
        <p:spPr>
          <a:xfrm>
            <a:off x="2194560" y="1728216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Заказ оформлен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43100" y="2039112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1" y="2075688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Менеджер по снабжению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851660" y="2231136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09059" y="2075688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График поставки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17620" y="2231136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Hexagon 15"/>
          <p:cNvSpPr/>
          <p:nvPr/>
        </p:nvSpPr>
        <p:spPr>
          <a:xfrm>
            <a:off x="2194560" y="2496312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Поставка проконтролирована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43100" y="2807208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1" y="2843784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Бухгалтер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851660" y="2999232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909059" y="2843784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Платёжное поручение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17620" y="2999232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2194560" y="3264408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Оплата произведена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43100" y="3575303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1" y="3611879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Специалист отдела закупок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851660" y="3767328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909059" y="3611879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Отгрузочные документы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17620" y="3767328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Hexagon 27"/>
          <p:cNvSpPr/>
          <p:nvPr/>
        </p:nvSpPr>
        <p:spPr>
          <a:xfrm>
            <a:off x="2194560" y="4032504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Отгрузка проконтролирована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43100" y="4343400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4651" y="4379976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Кладовщик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851660" y="4535424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909059" y="4379976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Товарно-транспортная накладная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817620" y="4535424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Hexagon 33"/>
          <p:cNvSpPr/>
          <p:nvPr/>
        </p:nvSpPr>
        <p:spPr>
          <a:xfrm>
            <a:off x="2194560" y="4800600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Оборудование доставлено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43100" y="5111496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1" y="5148072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Кладовщик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851660" y="5303520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909059" y="5148072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Акт приёмки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817620" y="5303520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Hexagon 39"/>
          <p:cNvSpPr/>
          <p:nvPr/>
        </p:nvSpPr>
        <p:spPr>
          <a:xfrm>
            <a:off x="2194560" y="5568696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Количество проверено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880360" y="119786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880360" y="165506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880360" y="1965960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80360" y="2423160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80360" y="2734056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80360" y="3191256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880360" y="3502152"/>
            <a:ext cx="0" cy="73151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880360" y="3959352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880360" y="4270248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880360" y="4727448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880360" y="503834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880360" y="549554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566660" y="960120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268212" y="996696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Кладовщик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7475220" y="1152144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9532620" y="996696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Опись комплектации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441180" y="1152144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Hexagon 57"/>
          <p:cNvSpPr/>
          <p:nvPr/>
        </p:nvSpPr>
        <p:spPr>
          <a:xfrm>
            <a:off x="7818120" y="1417320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Комплектность проверена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66660" y="1728216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68212" y="1764792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Специалист ОТК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7475220" y="1920240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9532620" y="1764792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Акт проверки качества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441180" y="1920240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Hexagon 63"/>
          <p:cNvSpPr/>
          <p:nvPr/>
        </p:nvSpPr>
        <p:spPr>
          <a:xfrm>
            <a:off x="7818120" y="2185416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Качество проверено</a:t>
            </a:r>
          </a:p>
        </p:txBody>
      </p:sp>
      <p:sp>
        <p:nvSpPr>
          <p:cNvPr id="65" name="Oval 64"/>
          <p:cNvSpPr/>
          <p:nvPr/>
        </p:nvSpPr>
        <p:spPr>
          <a:xfrm>
            <a:off x="8311896" y="2496312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000000"/>
                </a:solidFill>
                <a:latin typeface="Calibri"/>
              </a:rPr>
              <a:t>XOR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566660" y="2953512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268212" y="2990088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Специалист ОТК</a:t>
            </a:r>
          </a:p>
        </p:txBody>
      </p:sp>
      <p:cxnSp>
        <p:nvCxnSpPr>
          <p:cNvPr id="68" name="Connector 67"/>
          <p:cNvCxnSpPr/>
          <p:nvPr/>
        </p:nvCxnSpPr>
        <p:spPr>
          <a:xfrm flipH="1">
            <a:off x="7475220" y="3145536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9532620" y="2990088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Акт приёмки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9441180" y="3145536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Hexagon 70"/>
          <p:cNvSpPr/>
          <p:nvPr/>
        </p:nvSpPr>
        <p:spPr>
          <a:xfrm>
            <a:off x="7818120" y="3410712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Акт приёмки составлен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7566660" y="3721608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6268212" y="3758184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Менеджер по снабжению</a:t>
            </a:r>
          </a:p>
        </p:txBody>
      </p:sp>
      <p:cxnSp>
        <p:nvCxnSpPr>
          <p:cNvPr id="74" name="Connector 73"/>
          <p:cNvCxnSpPr/>
          <p:nvPr/>
        </p:nvCxnSpPr>
        <p:spPr>
          <a:xfrm flipH="1">
            <a:off x="7475220" y="3913632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9532620" y="3758184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Акт передачи в монтаж</a:t>
            </a:r>
          </a:p>
        </p:txBody>
      </p:sp>
      <p:cxnSp>
        <p:nvCxnSpPr>
          <p:cNvPr id="76" name="Connector 75"/>
          <p:cNvCxnSpPr/>
          <p:nvPr/>
        </p:nvCxnSpPr>
        <p:spPr>
          <a:xfrm>
            <a:off x="9441180" y="3913632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Hexagon 76"/>
          <p:cNvSpPr/>
          <p:nvPr/>
        </p:nvSpPr>
        <p:spPr>
          <a:xfrm>
            <a:off x="7818120" y="4178808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Оборудование передано в монтаж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7566660" y="4489704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6268212" y="4526280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Начальник отдела снабжения</a:t>
            </a:r>
          </a:p>
        </p:txBody>
      </p:sp>
      <p:cxnSp>
        <p:nvCxnSpPr>
          <p:cNvPr id="80" name="Connector 79"/>
          <p:cNvCxnSpPr/>
          <p:nvPr/>
        </p:nvCxnSpPr>
        <p:spPr>
          <a:xfrm flipH="1">
            <a:off x="7475220" y="4681728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9532620" y="4526280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Уведомление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9441180" y="4681728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Hexagon 82"/>
          <p:cNvSpPr/>
          <p:nvPr/>
        </p:nvSpPr>
        <p:spPr>
          <a:xfrm>
            <a:off x="7818120" y="4946904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Подразделения уведомлены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8503920" y="1344168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503920" y="165506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03920" y="211226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503920" y="3337560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503920" y="3648456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03920" y="4105656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03920" y="4416552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3920" y="4873752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03920" y="2423160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503920" y="2880360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TextBox 93"/>
          <p:cNvSpPr txBox="1"/>
          <p:nvPr/>
        </p:nvSpPr>
        <p:spPr>
          <a:xfrm>
            <a:off x="9898380" y="2295144"/>
            <a:ext cx="1737360" cy="1828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00" b="1">
                <a:solidFill>
                  <a:srgbClr val="375623"/>
                </a:solidFill>
                <a:latin typeface="Calibri"/>
              </a:rPr>
              <a:t>ОБНАРУЖЕН БРАК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9944100" y="2496312"/>
            <a:ext cx="132587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1">
                <a:solidFill>
                  <a:srgbClr val="1F3864"/>
                </a:solidFill>
                <a:latin typeface="Calibri"/>
              </a:rPr>
              <a:t>Формирование претензии поставщику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8695944" y="2688336"/>
            <a:ext cx="1248156" cy="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Hexagon 96"/>
          <p:cNvSpPr/>
          <p:nvPr/>
        </p:nvSpPr>
        <p:spPr>
          <a:xfrm>
            <a:off x="10264140" y="3044952"/>
            <a:ext cx="1051560" cy="219456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00" b="0">
                <a:solidFill>
                  <a:srgbClr val="375623"/>
                </a:solidFill>
                <a:latin typeface="Calibri"/>
              </a:rPr>
              <a:t>Претензия направлена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10607040" y="2880360"/>
            <a:ext cx="0" cy="16459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9898380" y="3282696"/>
            <a:ext cx="1828800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700" b="0">
                <a:solidFill>
                  <a:srgbClr val="333333"/>
                </a:solidFill>
                <a:latin typeface="Calibri"/>
              </a:rPr>
              <a:t>Исполнитель: юрист
Документ: претензия поставщику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2880360" y="5806440"/>
            <a:ext cx="0" cy="59436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2880360" y="6400800"/>
            <a:ext cx="9006840" cy="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1887200" y="841248"/>
            <a:ext cx="0" cy="55595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H="1">
            <a:off x="8503920" y="841248"/>
            <a:ext cx="3383280" cy="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503920" y="841248"/>
            <a:ext cx="0" cy="11887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320040" y="6547104"/>
            <a:ext cx="11551615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alibri"/>
              </a:rPr>
              <a:t>Всего в подпроцессе: функций — 12, событий — 12, исполнители и объекты/документы у каждой функции.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51615" cy="50292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1900" b="1">
                <a:solidFill>
                  <a:srgbClr val="1F4E79"/>
                </a:solidFill>
                <a:latin typeface="Calibri"/>
              </a:rPr>
              <a:t>Подпроцесс П4: «Оприходование и ввод в эксплуатацию»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21792"/>
            <a:ext cx="11551615" cy="310896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1150" b="0">
                <a:solidFill>
                  <a:srgbClr val="333333"/>
                </a:solidFill>
                <a:latin typeface="Calibri"/>
              </a:rPr>
              <a:t>Нотация ARIS eEPC · функций: 12 · цепочка: событие → функция → событие · XOR-разветвление</a:t>
            </a:r>
          </a:p>
        </p:txBody>
      </p:sp>
      <p:sp>
        <p:nvSpPr>
          <p:cNvPr id="4" name="Hexagon 3"/>
          <p:cNvSpPr/>
          <p:nvPr/>
        </p:nvSpPr>
        <p:spPr>
          <a:xfrm>
            <a:off x="2194560" y="960120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Подразделения уведомлены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43100" y="1271016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4651" y="1307592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Бухгалтер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1851660" y="1463040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909059" y="1307592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Инвентарная карточка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17620" y="1463040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Hexagon 9"/>
          <p:cNvSpPr/>
          <p:nvPr/>
        </p:nvSpPr>
        <p:spPr>
          <a:xfrm>
            <a:off x="2194560" y="1728216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Оборудование оприходовано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43100" y="2039112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1" y="2075688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Бухгалтер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1851660" y="2231136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909059" y="2075688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Инвентарная карточка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17620" y="2231136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Hexagon 15"/>
          <p:cNvSpPr/>
          <p:nvPr/>
        </p:nvSpPr>
        <p:spPr>
          <a:xfrm>
            <a:off x="2194560" y="2496312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Инвентарный номер присвоен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43100" y="2807208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4651" y="2843784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Главный инженер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1851660" y="2999232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3909059" y="2843784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График монтажа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17620" y="2999232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Hexagon 21"/>
          <p:cNvSpPr/>
          <p:nvPr/>
        </p:nvSpPr>
        <p:spPr>
          <a:xfrm>
            <a:off x="2194560" y="3264408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График монтажа утверждён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43100" y="3575303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4651" y="3611879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Главный инженер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851660" y="3767328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909059" y="3611879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Акт монтажа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817620" y="3767328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Hexagon 27"/>
          <p:cNvSpPr/>
          <p:nvPr/>
        </p:nvSpPr>
        <p:spPr>
          <a:xfrm>
            <a:off x="2194560" y="4032504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Монтаж выполнен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943100" y="4343400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4651" y="4379976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Главный инженер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1851660" y="4535424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3909059" y="4379976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Протокол пусконаладки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817620" y="4535424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Hexagon 33"/>
          <p:cNvSpPr/>
          <p:nvPr/>
        </p:nvSpPr>
        <p:spPr>
          <a:xfrm>
            <a:off x="2194560" y="4800600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Пусконаладка проведена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43100" y="5111496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4651" y="5148072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Специалист ОТК</a:t>
            </a:r>
          </a:p>
        </p:txBody>
      </p:sp>
      <p:cxnSp>
        <p:nvCxnSpPr>
          <p:cNvPr id="37" name="Connector 36"/>
          <p:cNvCxnSpPr/>
          <p:nvPr/>
        </p:nvCxnSpPr>
        <p:spPr>
          <a:xfrm flipH="1">
            <a:off x="1851660" y="5303520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909059" y="5148072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Отчёт об испытаниях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3817620" y="5303520"/>
            <a:ext cx="91439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Hexagon 39"/>
          <p:cNvSpPr/>
          <p:nvPr/>
        </p:nvSpPr>
        <p:spPr>
          <a:xfrm>
            <a:off x="2194560" y="5568696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Испытания проведены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2880360" y="119786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880360" y="165506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880360" y="1965960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80360" y="2423160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80360" y="2734056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80360" y="3191256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880360" y="3502152"/>
            <a:ext cx="0" cy="73151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880360" y="3959352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880360" y="4270248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880360" y="4727448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880360" y="503834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880360" y="549554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566660" y="960120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6268212" y="996696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Специалист ОТК</a:t>
            </a:r>
          </a:p>
        </p:txBody>
      </p:sp>
      <p:cxnSp>
        <p:nvCxnSpPr>
          <p:cNvPr id="55" name="Connector 54"/>
          <p:cNvCxnSpPr/>
          <p:nvPr/>
        </p:nvCxnSpPr>
        <p:spPr>
          <a:xfrm flipH="1">
            <a:off x="7475220" y="1152144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9532620" y="996696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Акт проверки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441180" y="1152144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Hexagon 57"/>
          <p:cNvSpPr/>
          <p:nvPr/>
        </p:nvSpPr>
        <p:spPr>
          <a:xfrm>
            <a:off x="7818120" y="1417320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Комплексная проверка выполнена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566660" y="1728216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268212" y="1764792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Директор</a:t>
            </a:r>
          </a:p>
        </p:txBody>
      </p:sp>
      <p:cxnSp>
        <p:nvCxnSpPr>
          <p:cNvPr id="61" name="Connector 60"/>
          <p:cNvCxnSpPr/>
          <p:nvPr/>
        </p:nvCxnSpPr>
        <p:spPr>
          <a:xfrm flipH="1">
            <a:off x="7475220" y="1920240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9532620" y="1764792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Акт ввода в эксплуатацию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9441180" y="1920240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Hexagon 63"/>
          <p:cNvSpPr/>
          <p:nvPr/>
        </p:nvSpPr>
        <p:spPr>
          <a:xfrm>
            <a:off x="7818120" y="2185416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Акт ввода подписан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566660" y="2496312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268212" y="2532888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Бухгалтер</a:t>
            </a:r>
          </a:p>
        </p:txBody>
      </p:sp>
      <p:cxnSp>
        <p:nvCxnSpPr>
          <p:cNvPr id="67" name="Connector 66"/>
          <p:cNvCxnSpPr/>
          <p:nvPr/>
        </p:nvCxnSpPr>
        <p:spPr>
          <a:xfrm flipH="1">
            <a:off x="7475220" y="2688336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9532620" y="2532888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Бухгалтерская справка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9441180" y="2688336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Hexagon 69"/>
          <p:cNvSpPr/>
          <p:nvPr/>
        </p:nvSpPr>
        <p:spPr>
          <a:xfrm>
            <a:off x="7818120" y="2953512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Оборудование принято на баланс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566660" y="3264408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6268212" y="3300984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Начальник отдела снабжения</a:t>
            </a:r>
          </a:p>
        </p:txBody>
      </p:sp>
      <p:cxnSp>
        <p:nvCxnSpPr>
          <p:cNvPr id="73" name="Connector 72"/>
          <p:cNvCxnSpPr/>
          <p:nvPr/>
        </p:nvCxnSpPr>
        <p:spPr>
          <a:xfrm flipH="1">
            <a:off x="7475220" y="3456432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9532620" y="3300984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Приказ о материально-ответственном лице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9441180" y="3456432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Hexagon 75"/>
          <p:cNvSpPr/>
          <p:nvPr/>
        </p:nvSpPr>
        <p:spPr>
          <a:xfrm>
            <a:off x="7818120" y="3721608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МОЛ назначено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566660" y="4032504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6268212" y="4069080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Главный инженер</a:t>
            </a:r>
          </a:p>
        </p:txBody>
      </p:sp>
      <p:cxnSp>
        <p:nvCxnSpPr>
          <p:cNvPr id="79" name="Connector 78"/>
          <p:cNvCxnSpPr/>
          <p:nvPr/>
        </p:nvCxnSpPr>
        <p:spPr>
          <a:xfrm flipH="1">
            <a:off x="7475220" y="4224528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ectangle 79"/>
          <p:cNvSpPr/>
          <p:nvPr/>
        </p:nvSpPr>
        <p:spPr>
          <a:xfrm>
            <a:off x="9532620" y="4069080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Регламент обслуживания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9441180" y="4224528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Hexagon 81"/>
          <p:cNvSpPr/>
          <p:nvPr/>
        </p:nvSpPr>
        <p:spPr>
          <a:xfrm>
            <a:off x="7818120" y="4489704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Регламент разработан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566660" y="4800600"/>
            <a:ext cx="1874519" cy="384048"/>
          </a:xfrm>
          <a:prstGeom prst="roundRect">
            <a:avLst/>
          </a:prstGeom>
          <a:solidFill>
            <a:srgbClr val="DDEBF7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6268212" y="4837176"/>
            <a:ext cx="1207008" cy="310896"/>
          </a:xfrm>
          <a:prstGeom prst="ellipse">
            <a:avLst/>
          </a:prstGeom>
          <a:solidFill>
            <a:srgbClr val="FFF2CC"/>
          </a:solidFill>
          <a:ln w="1270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7F6000"/>
                </a:solidFill>
                <a:latin typeface="Calibri"/>
              </a:rPr>
              <a:t>Главный инженер</a:t>
            </a:r>
          </a:p>
        </p:txBody>
      </p:sp>
      <p:cxnSp>
        <p:nvCxnSpPr>
          <p:cNvPr id="85" name="Connector 84"/>
          <p:cNvCxnSpPr/>
          <p:nvPr/>
        </p:nvCxnSpPr>
        <p:spPr>
          <a:xfrm flipH="1">
            <a:off x="7475220" y="4992624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Rectangle 85"/>
          <p:cNvSpPr/>
          <p:nvPr/>
        </p:nvSpPr>
        <p:spPr>
          <a:xfrm>
            <a:off x="9532620" y="4837176"/>
            <a:ext cx="1371600" cy="310896"/>
          </a:xfrm>
          <a:prstGeom prst="rect">
            <a:avLst/>
          </a:prstGeom>
          <a:solidFill>
            <a:srgbClr val="F2F2F2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800" b="0">
                <a:solidFill>
                  <a:srgbClr val="404040"/>
                </a:solidFill>
                <a:latin typeface="Calibri"/>
              </a:rPr>
              <a:t>График плановых ремонтов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9441180" y="4992624"/>
            <a:ext cx="91440" cy="0"/>
          </a:xfrm>
          <a:prstGeom prst="line">
            <a:avLst/>
          </a:prstGeom>
          <a:ln w="9525">
            <a:solidFill>
              <a:srgbClr val="7F7F7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Hexagon 87"/>
          <p:cNvSpPr/>
          <p:nvPr/>
        </p:nvSpPr>
        <p:spPr>
          <a:xfrm>
            <a:off x="7818120" y="5257800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Оборудование включено в график ремонтов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8503920" y="1344168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03920" y="165506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3920" y="2112264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03920" y="2423160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503920" y="2880360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03920" y="3191256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503920" y="3648456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503920" y="3959352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503920" y="4416552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503920" y="4727448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503920" y="5184648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3566160" y="5687568"/>
            <a:ext cx="1933956" cy="305409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Oval 100"/>
          <p:cNvSpPr/>
          <p:nvPr/>
        </p:nvSpPr>
        <p:spPr>
          <a:xfrm>
            <a:off x="5500116" y="5916168"/>
            <a:ext cx="384048" cy="38404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900" b="1">
                <a:solidFill>
                  <a:srgbClr val="000000"/>
                </a:solidFill>
                <a:latin typeface="Calibri"/>
              </a:rPr>
              <a:t>XOR</a:t>
            </a:r>
          </a:p>
        </p:txBody>
      </p:sp>
      <p:cxnSp>
        <p:nvCxnSpPr>
          <p:cNvPr id="102" name="Connector 101"/>
          <p:cNvCxnSpPr/>
          <p:nvPr/>
        </p:nvCxnSpPr>
        <p:spPr>
          <a:xfrm flipV="1">
            <a:off x="5692140" y="822960"/>
            <a:ext cx="0" cy="5093208"/>
          </a:xfrm>
          <a:prstGeom prst="line">
            <a:avLst/>
          </a:prstGeom>
          <a:ln w="19050">
            <a:solidFill>
              <a:srgbClr val="1F4E7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5692140" y="822960"/>
            <a:ext cx="2811780" cy="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8503920" y="822960"/>
            <a:ext cx="0" cy="137160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Hexagon 104"/>
          <p:cNvSpPr/>
          <p:nvPr/>
        </p:nvSpPr>
        <p:spPr>
          <a:xfrm>
            <a:off x="5006340" y="6181344"/>
            <a:ext cx="1371600" cy="237744"/>
          </a:xfrm>
          <a:prstGeom prst="hexagon">
            <a:avLst/>
          </a:prstGeom>
          <a:solidFill>
            <a:srgbClr val="E2EFDA"/>
          </a:solidFill>
          <a:ln w="127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12700" bIns="12700"/>
          <a:lstStyle/>
          <a:p>
            <a:pPr algn="ctr"/>
            <a:r>
              <a:rPr sz="750" b="0">
                <a:solidFill>
                  <a:srgbClr val="375623"/>
                </a:solidFill>
                <a:latin typeface="Calibri"/>
              </a:rPr>
              <a:t>Требуется повторная пусконаладка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5692140" y="6108192"/>
            <a:ext cx="0" cy="73152"/>
          </a:xfrm>
          <a:prstGeom prst="line">
            <a:avLst/>
          </a:prstGeom>
          <a:ln w="19050">
            <a:solidFill>
              <a:srgbClr val="1F4E79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6377940" y="6035040"/>
            <a:ext cx="1828800" cy="384048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Calibri"/>
              </a:rPr>
              <a:t>Испытания успешны?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20040" y="6547104"/>
            <a:ext cx="11551615" cy="256032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/>
            <a:r>
              <a:rPr sz="900" b="0">
                <a:solidFill>
                  <a:srgbClr val="333333"/>
                </a:solidFill>
                <a:latin typeface="Calibri"/>
              </a:rPr>
              <a:t>Всего в подпроцессе: функций — 12, событий — 12, исполнители и объекты/документы у каждой функции.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