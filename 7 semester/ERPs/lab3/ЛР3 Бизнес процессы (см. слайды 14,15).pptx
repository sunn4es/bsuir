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3" r:id="rId4"/>
    <p:sldId id="273" r:id="rId5"/>
    <p:sldId id="258" r:id="rId6"/>
    <p:sldId id="284" r:id="rId7"/>
    <p:sldId id="257" r:id="rId8"/>
    <p:sldId id="274" r:id="rId9"/>
    <p:sldId id="279" r:id="rId10"/>
    <p:sldId id="275" r:id="rId11"/>
    <p:sldId id="276" r:id="rId12"/>
    <p:sldId id="277" r:id="rId13"/>
    <p:sldId id="278" r:id="rId14"/>
    <p:sldId id="280" r:id="rId15"/>
    <p:sldId id="281" r:id="rId16"/>
    <p:sldId id="282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4C609-F127-451E-95A8-67A22DBE6512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4E911-5D88-41BE-8FF9-7F4CCDEC7CC2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57454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E272C-F96C-43C6-8E2E-02A0DC880F7F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770B3-06A9-4A98-8792-26D154733F4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753204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88473-F5BA-4559-BE1E-F31277EF18AF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B9719-EAD3-4D56-82CE-27CB721763CA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4291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6F8F3-8CC2-49FF-B973-6663A474BBB5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02334-4985-453C-8D10-1196B20DF489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67746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503DC-ABDF-4041-A8AC-11338C6C9784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116E7-E95E-4ECA-9869-A50BED2E59EE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6968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27214-D2E7-4CA8-B4EF-7BC0DFE0E6CB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9A984-CCDA-424C-9A39-72FF8E4B6875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3703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6217C-D371-464B-9088-4475996C1212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C83D7-1954-44FF-A57F-2356D0CAA916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58131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CF455-5180-4F90-BB23-447415C7F4A8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2E6E2-20B8-4ADD-B84B-F7147BB16234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5482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8EEEC-0EB2-41D2-9E59-76BB9992D16E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32873-25CA-4396-BDE1-4315DB11FF19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5430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06983-9672-4371-BC42-E931CA599A69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27B80-D571-491C-879A-7A2B7B53CCC1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6902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E27FD-C135-44C2-9BC1-64141BAE59FC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CF6DF-682F-4196-B2D5-A41B68749C8A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3081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text styles</a:t>
            </a:r>
          </a:p>
          <a:p>
            <a:pPr lvl="1"/>
            <a:r>
              <a:rPr lang="en-US" altLang="ru-RU" smtClean="0"/>
              <a:t>Second level</a:t>
            </a:r>
          </a:p>
          <a:p>
            <a:pPr lvl="2"/>
            <a:r>
              <a:rPr lang="en-US" altLang="ru-RU" smtClean="0"/>
              <a:t>Third level</a:t>
            </a:r>
          </a:p>
          <a:p>
            <a:pPr lvl="3"/>
            <a:r>
              <a:rPr lang="en-US" altLang="ru-RU" smtClean="0"/>
              <a:t>Fourth level</a:t>
            </a:r>
          </a:p>
          <a:p>
            <a:pPr lvl="4"/>
            <a:r>
              <a:rPr lang="en-US" altLang="ru-RU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A48F1A5-7152-468A-8057-6456D805161A}" type="datetimeFigureOut">
              <a:rPr lang="en-US"/>
              <a:pPr>
                <a:defRPr/>
              </a:pPr>
              <a:t>1/30/2018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629639F-4D35-40A2-83ED-3565EB3D38ED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Управление бизнес-процессами</a:t>
            </a:r>
            <a:endParaRPr lang="en-US" altLang="ru-RU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ru-RU" dirty="0" smtClean="0"/>
              <a:t>Понятие процесса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ru-RU" dirty="0" smtClean="0"/>
              <a:t>Документирование бизнес-процесса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ru-RU" altLang="ru-RU" sz="3600" dirty="0" smtClean="0"/>
              <a:t>Процесс</a:t>
            </a:r>
          </a:p>
        </p:txBody>
      </p:sp>
      <p:pic>
        <p:nvPicPr>
          <p:cNvPr id="307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239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7153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6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0" y="1074738"/>
            <a:ext cx="9144000" cy="544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- логичный, последовательный, взаимосвязанный набор мероприятий, который потребляет ресурсы поставщика, создает ценность и выдает результат потребителю.</a:t>
            </a:r>
            <a:endParaRPr lang="ru-RU" altLang="ru-RU" sz="2400" b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Arial" panose="020B0604020202020204" pitchFamily="34" charset="0"/>
                <a:cs typeface="Times New Roman" panose="02020603050405020304" pitchFamily="18" charset="0"/>
              </a:rPr>
              <a:t>Основной процесс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 - процесс, обычно включающий в себя несколько функций в рамках организационной структуры и выполнение которого оказывает значительное воздействие на функционирование организации. В случае, если основной процесс оказывается слишком сложным для изображения и виде блок-схем на уровне мероприятий, он часто разбивается на подпроцессы.</a:t>
            </a:r>
            <a:r>
              <a:rPr lang="en-US" altLang="ru-RU" sz="2400">
                <a:latin typeface="Arial" panose="020B0604020202020204" pitchFamily="34" charset="0"/>
              </a:rPr>
              <a:t> </a:t>
            </a:r>
            <a:endParaRPr lang="ru-RU" altLang="ru-RU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Подпроцесс 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это часть основного процесса, которая выполняет специфическую роль в обеспечении функционирования основного процесса.</a:t>
            </a:r>
            <a:endParaRPr lang="ru-RU" altLang="ru-RU" sz="2400" b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altLang="ru-RU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0" y="2774028"/>
            <a:ext cx="89154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Различают </a:t>
            </a:r>
            <a:r>
              <a:rPr lang="ru-RU" alt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основные и вспомогательные процессы</a:t>
            </a:r>
            <a:r>
              <a:rPr lang="ru-RU" alt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0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Основные процессы</a:t>
            </a:r>
            <a:r>
              <a:rPr lang="ru-RU" alt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— это те, которые добавляют качество, </a:t>
            </a:r>
            <a:r>
              <a:rPr lang="ru-RU" altLang="ru-RU" sz="20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вспомогательные процессы</a:t>
            </a:r>
            <a:r>
              <a:rPr lang="ru-RU" alt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формируют инфраструктуру организации.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Примерами процессов могут быть процессы сбыта и снабжения, процесс разработки нового изделия и вывода его на рынок, процесс обслуживания клиентов.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ru-RU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97437"/>
              </p:ext>
            </p:extLst>
          </p:nvPr>
        </p:nvGraphicFramePr>
        <p:xfrm>
          <a:off x="457200" y="1295400"/>
          <a:ext cx="83058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6685788" imgH="2378202" progId="Visio.Drawing.11">
                  <p:embed/>
                </p:oleObj>
              </mc:Choice>
              <mc:Fallback>
                <p:oleObj name="Visio" r:id="rId3" imgW="6685788" imgH="237820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8305800" cy="457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66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(</a:t>
            </a:r>
            <a:r>
              <a:rPr lang="en-US" altLang="ru-RU" sz="3200" i="1" smtClean="0"/>
              <a:t>Architecture of Integrated Information Systems</a:t>
            </a:r>
            <a:r>
              <a:rPr lang="ru-RU" altLang="ru-RU" sz="3200" i="1" smtClean="0"/>
              <a:t>)</a:t>
            </a:r>
            <a:r>
              <a:rPr lang="en-US" altLang="ru-RU" sz="3200" smtClean="0"/>
              <a:t>. </a:t>
            </a:r>
            <a:r>
              <a:rPr lang="ru-RU" altLang="ru-RU" sz="3200" smtClean="0"/>
              <a:t>Нотация </a:t>
            </a:r>
            <a:r>
              <a:rPr lang="en-US" altLang="ru-RU" sz="3200" smtClean="0"/>
              <a:t>EPC</a:t>
            </a:r>
            <a:endParaRPr lang="ru-RU" altLang="ru-RU" sz="3200" smtClean="0"/>
          </a:p>
        </p:txBody>
      </p:sp>
      <p:pic>
        <p:nvPicPr>
          <p:cNvPr id="6147" name="Picture 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8001000" cy="416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– иерархия бизнес-процессов</a:t>
            </a:r>
          </a:p>
        </p:txBody>
      </p:sp>
      <p:pic>
        <p:nvPicPr>
          <p:cNvPr id="7171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85900"/>
            <a:ext cx="7748587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- Нотация </a:t>
            </a:r>
            <a:r>
              <a:rPr lang="en-US" altLang="ru-RU" sz="3200" smtClean="0"/>
              <a:t>eEPC (extended Event Driven Process Chain)</a:t>
            </a:r>
            <a:endParaRPr lang="ru-RU" altLang="ru-RU" sz="3200" smtClean="0"/>
          </a:p>
        </p:txBody>
      </p:sp>
      <p:pic>
        <p:nvPicPr>
          <p:cNvPr id="8195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0"/>
            <a:ext cx="5105400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82713"/>
            <a:ext cx="48196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- Нотация </a:t>
            </a:r>
            <a:r>
              <a:rPr lang="en-US" altLang="ru-RU" sz="3200" smtClean="0"/>
              <a:t>eEPC – </a:t>
            </a:r>
            <a:r>
              <a:rPr lang="ru-RU" altLang="ru-RU" sz="3200" smtClean="0"/>
              <a:t>процесс = «событие-функция-событие-функция…-событие»</a:t>
            </a:r>
          </a:p>
        </p:txBody>
      </p:sp>
      <p:pic>
        <p:nvPicPr>
          <p:cNvPr id="9219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153400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- Нотация </a:t>
            </a:r>
            <a:r>
              <a:rPr lang="en-US" altLang="ru-RU" sz="3200" smtClean="0"/>
              <a:t>eEPC – </a:t>
            </a:r>
            <a:r>
              <a:rPr lang="ru-RU" altLang="ru-RU" sz="3200" smtClean="0"/>
              <a:t>окружение функции</a:t>
            </a:r>
          </a:p>
        </p:txBody>
      </p:sp>
      <p:pic>
        <p:nvPicPr>
          <p:cNvPr id="1024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70025"/>
            <a:ext cx="3886200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1470025"/>
            <a:ext cx="4305300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- Нотация </a:t>
            </a:r>
            <a:r>
              <a:rPr lang="en-US" altLang="ru-RU" sz="3200" smtClean="0"/>
              <a:t>eEPC – </a:t>
            </a:r>
            <a:r>
              <a:rPr lang="ru-RU" altLang="ru-RU" sz="3200" smtClean="0"/>
              <a:t>правила</a:t>
            </a:r>
          </a:p>
        </p:txBody>
      </p:sp>
      <p:pic>
        <p:nvPicPr>
          <p:cNvPr id="11267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315200" cy="432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3200" smtClean="0"/>
              <a:t>ARIS</a:t>
            </a:r>
            <a:r>
              <a:rPr lang="ru-RU" altLang="ru-RU" sz="3200" smtClean="0"/>
              <a:t> - организационная структура организации</a:t>
            </a:r>
          </a:p>
        </p:txBody>
      </p:sp>
      <p:pic>
        <p:nvPicPr>
          <p:cNvPr id="12291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676400"/>
            <a:ext cx="7877175" cy="429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altLang="ru-RU" sz="2000" dirty="0" smtClean="0"/>
              <a:t>ARIS</a:t>
            </a:r>
            <a:r>
              <a:rPr lang="ru-RU" altLang="ru-RU" sz="2000" dirty="0" smtClean="0"/>
              <a:t> – Бизнес-процесс «Поиск поставщика»</a:t>
            </a:r>
          </a:p>
        </p:txBody>
      </p:sp>
      <p:pic>
        <p:nvPicPr>
          <p:cNvPr id="13315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14400"/>
            <a:ext cx="571500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altLang="ru-RU" sz="2000" dirty="0" smtClean="0"/>
              <a:t>ARIS</a:t>
            </a:r>
            <a:r>
              <a:rPr lang="ru-RU" altLang="ru-RU" sz="2000" dirty="0" smtClean="0"/>
              <a:t> – Бизнес-процесс «Складирование товара»</a:t>
            </a:r>
          </a:p>
        </p:txBody>
      </p:sp>
      <p:pic>
        <p:nvPicPr>
          <p:cNvPr id="14339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14400"/>
            <a:ext cx="6781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123950"/>
            <a:ext cx="1047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127125"/>
            <a:ext cx="4095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 стрелкой 11"/>
          <p:cNvCxnSpPr>
            <a:endCxn id="14341" idx="3"/>
          </p:cNvCxnSpPr>
          <p:nvPr/>
        </p:nvCxnSpPr>
        <p:spPr>
          <a:xfrm flipH="1">
            <a:off x="5743575" y="1295400"/>
            <a:ext cx="200025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5029200" y="12954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stCxn id="14341" idx="2"/>
          </p:cNvCxnSpPr>
          <p:nvPr/>
        </p:nvCxnSpPr>
        <p:spPr>
          <a:xfrm rot="5400000">
            <a:off x="4778375" y="757238"/>
            <a:ext cx="47625" cy="1473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ru-RU" altLang="ru-RU" sz="2000" dirty="0" smtClean="0"/>
              <a:t>Административные Бизнес-процессы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14400" y="865149"/>
            <a:ext cx="7848600" cy="60016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«Продажа продуктов и услуг»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«Обработка заказов потребителей»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«Покупка средств производства»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«Покупка сырья» 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«Приобретение технологии»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«Расчет потребности в сырье»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«Расчет потребности в готовой продукции»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«Расчет потребности в полуфабрикатах»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«Разработка календарного плана производства»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«Производство продукта»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Складирование и хранение материалов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Инвентаризация запасов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Обеспечение послепродажного обслуживания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бюджетов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денежными потоками</a:t>
            </a:r>
            <a:r>
              <a:rPr lang="ru-RU" sz="12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«Выполнение бухгалтерских операций»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косвенными затратами»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прямыми затратами»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«Расчет плановой себестоимости готовой продукции»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«Учет расчетов по заработной плате»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«Планирование прибыли»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«Строительство объектов недвижимости»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«Обеспечение входного контроля качества»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«Технический контроль»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отходами производства»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потреблением электроэнергии»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потреблением воды»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командировками»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«Управления канцелярскими товарами»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«Управление ремонтами оборудования»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«Найм персонала»</a:t>
            </a:r>
          </a:p>
          <a:p>
            <a:pPr marL="342900" indent="-342900" algn="just" eaLnBrk="1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 «Охрана труда»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i="1" smtClean="0"/>
              <a:t>Диаграмма взаимодействия в бизнес-процессе «обработка заказа»</a:t>
            </a:r>
            <a:endParaRPr lang="en-US" altLang="ru-RU" sz="3200" smtClean="0"/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686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i="1" dirty="0" smtClean="0"/>
              <a:t>Поток функций в бизнес-процессе «обработка заказа»</a:t>
            </a:r>
            <a:endParaRPr lang="en-US" dirty="0" smtClean="0"/>
          </a:p>
        </p:txBody>
      </p:sp>
      <p:pic>
        <p:nvPicPr>
          <p:cNvPr id="174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i="1" smtClean="0"/>
              <a:t>Поток выходов в бизнес-процессе «обработка заказа»</a:t>
            </a:r>
            <a:endParaRPr lang="en-US" altLang="ru-RU" sz="3200" smtClean="0"/>
          </a:p>
        </p:txBody>
      </p:sp>
      <p:pic>
        <p:nvPicPr>
          <p:cNvPr id="1843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86800" cy="507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i="1" dirty="0" smtClean="0"/>
              <a:t>Поток информации в бизнес-процессе «обработка заказа»</a:t>
            </a:r>
            <a:endParaRPr lang="en-US" dirty="0" smtClean="0"/>
          </a:p>
        </p:txBody>
      </p:sp>
      <p:pic>
        <p:nvPicPr>
          <p:cNvPr id="1945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9093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000" i="1" dirty="0" smtClean="0">
                <a:solidFill>
                  <a:schemeClr val="accent6">
                    <a:lumMod val="75000"/>
                  </a:schemeClr>
                </a:solidFill>
              </a:rPr>
              <a:t>Объединенная модель бизнес-процесса «обработка заказа»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48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8153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2150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229600" cy="634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22531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0"/>
            <a:ext cx="5543550" cy="559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23555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762000"/>
            <a:ext cx="5553075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ru-RU" altLang="ru-RU" sz="3200" smtClean="0"/>
              <a:t>Модель данных</a:t>
            </a:r>
            <a:endParaRPr lang="en-US" altLang="ru-RU" sz="3200" smtClean="0"/>
          </a:p>
        </p:txBody>
      </p:sp>
      <p:pic>
        <p:nvPicPr>
          <p:cNvPr id="24579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19200"/>
            <a:ext cx="60102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ru-RU" altLang="ru-RU" sz="2400" smtClean="0"/>
              <a:t>Модель выходов</a:t>
            </a:r>
            <a:endParaRPr lang="en-US" altLang="ru-RU" sz="2400" smtClean="0"/>
          </a:p>
        </p:txBody>
      </p:sp>
      <p:pic>
        <p:nvPicPr>
          <p:cNvPr id="25603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685800"/>
            <a:ext cx="6029325" cy="580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26627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"/>
            <a:ext cx="5819775" cy="603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27651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33400"/>
            <a:ext cx="7162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924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347</Words>
  <Application>Microsoft Office PowerPoint</Application>
  <PresentationFormat>Экран (4:3)</PresentationFormat>
  <Paragraphs>59</Paragraphs>
  <Slides>29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Office Theme</vt:lpstr>
      <vt:lpstr>Документ Microsoft Visio 2003–2010</vt:lpstr>
      <vt:lpstr>Управление бизнес-процессами</vt:lpstr>
      <vt:lpstr>Процесс</vt:lpstr>
      <vt:lpstr>Презентация PowerPoint</vt:lpstr>
      <vt:lpstr>Презентация PowerPoint</vt:lpstr>
      <vt:lpstr>Презентация PowerPoint</vt:lpstr>
      <vt:lpstr>Презентация PowerPoint</vt:lpstr>
      <vt:lpstr>ARIS (Architecture of Integrated Information Systems). Нотация EPC</vt:lpstr>
      <vt:lpstr>ARIS – иерархия бизнес-процессов</vt:lpstr>
      <vt:lpstr>ARIS - Нотация eEPC (extended Event Driven Process Chain)</vt:lpstr>
      <vt:lpstr>ARIS - Нотация eEPC – процесс = «событие-функция-событие-функция…-событие»</vt:lpstr>
      <vt:lpstr>ARIS - Нотация eEPC – окружение функции</vt:lpstr>
      <vt:lpstr>ARIS - Нотация eEPC – правила</vt:lpstr>
      <vt:lpstr>ARIS - организационная структура организации</vt:lpstr>
      <vt:lpstr>ARIS – Бизнес-процесс «Поиск поставщика»</vt:lpstr>
      <vt:lpstr>ARIS – Бизнес-процесс «Складирование товара»</vt:lpstr>
      <vt:lpstr>Административные Бизнес-процессы</vt:lpstr>
      <vt:lpstr>Диаграмма взаимодействия в бизнес-процессе «обработка заказа»</vt:lpstr>
      <vt:lpstr>Поток функций в бизнес-процессе «обработка заказа»</vt:lpstr>
      <vt:lpstr>Поток выходов в бизнес-процессе «обработка заказа»</vt:lpstr>
      <vt:lpstr>Поток информации в бизнес-процессе «обработка заказа»</vt:lpstr>
      <vt:lpstr>Объединенная модель бизнес-процесса «обработка заказа»</vt:lpstr>
      <vt:lpstr>Презентация PowerPoint</vt:lpstr>
      <vt:lpstr>Презентация PowerPoint</vt:lpstr>
      <vt:lpstr>Презентация PowerPoint</vt:lpstr>
      <vt:lpstr>Модель данных</vt:lpstr>
      <vt:lpstr>Модель выходов</vt:lpstr>
      <vt:lpstr>Презентация PowerPoint</vt:lpstr>
      <vt:lpstr>Презентация PowerPoint</vt:lpstr>
      <vt:lpstr>Презентация PowerPoint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бизнес-процессами</dc:title>
  <dc:creator>Elena_Melkikh</dc:creator>
  <cp:lastModifiedBy>Melkikh, Elena</cp:lastModifiedBy>
  <cp:revision>17</cp:revision>
  <dcterms:created xsi:type="dcterms:W3CDTF">2011-10-05T10:19:12Z</dcterms:created>
  <dcterms:modified xsi:type="dcterms:W3CDTF">2018-01-30T11:56:09Z</dcterms:modified>
</cp:coreProperties>
</file>