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3"/>
  </p:notesMasterIdLst>
  <p:handoutMasterIdLst>
    <p:handoutMasterId r:id="rId24"/>
  </p:handoutMasterIdLst>
  <p:sldIdLst>
    <p:sldId id="797" r:id="rId3"/>
    <p:sldId id="783" r:id="rId4"/>
    <p:sldId id="788" r:id="rId5"/>
    <p:sldId id="796" r:id="rId6"/>
    <p:sldId id="735" r:id="rId7"/>
    <p:sldId id="795" r:id="rId8"/>
    <p:sldId id="794" r:id="rId9"/>
    <p:sldId id="798" r:id="rId10"/>
    <p:sldId id="789" r:id="rId11"/>
    <p:sldId id="710" r:id="rId12"/>
    <p:sldId id="711" r:id="rId13"/>
    <p:sldId id="763" r:id="rId14"/>
    <p:sldId id="787" r:id="rId15"/>
    <p:sldId id="773" r:id="rId16"/>
    <p:sldId id="810" r:id="rId17"/>
    <p:sldId id="808" r:id="rId18"/>
    <p:sldId id="812" r:id="rId19"/>
    <p:sldId id="813" r:id="rId20"/>
    <p:sldId id="814" r:id="rId21"/>
    <p:sldId id="815" r:id="rId22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4"/>
    <a:srgbClr val="678DC5"/>
    <a:srgbClr val="3E67A4"/>
    <a:srgbClr val="3E8DC5"/>
    <a:srgbClr val="5F5F65"/>
    <a:srgbClr val="7E7E8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07" autoAdjust="0"/>
    <p:restoredTop sz="84254" autoAdjust="0"/>
  </p:normalViewPr>
  <p:slideViewPr>
    <p:cSldViewPr snapToGrid="0">
      <p:cViewPr>
        <p:scale>
          <a:sx n="100" d="100"/>
          <a:sy n="100" d="100"/>
        </p:scale>
        <p:origin x="-630" y="10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.xml"/><Relationship Id="rId2" Type="http://schemas.openxmlformats.org/officeDocument/2006/relationships/slide" Target="slides/slide9.xml"/><Relationship Id="rId1" Type="http://schemas.openxmlformats.org/officeDocument/2006/relationships/slide" Target="slides/slide5.xml"/><Relationship Id="rId6" Type="http://schemas.openxmlformats.org/officeDocument/2006/relationships/slide" Target="slides/slide14.xml"/><Relationship Id="rId5" Type="http://schemas.openxmlformats.org/officeDocument/2006/relationships/slide" Target="slides/slide12.xml"/><Relationship Id="rId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© Корпорация Cisco Systems, 2006. Все права защищены.</a:t>
            </a:r>
          </a:p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44">
              <a:lnSpc>
                <a:spcPct val="100000"/>
              </a:lnSpc>
              <a:buNone/>
            </a:pPr>
            <a:fld id="{BCC1ECAD-6CE1-4897-9CEF-F2ECC9BEA19E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963457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© Корпорация Cisco Systems, 2006. Все права защищены.</a:t>
            </a:r>
          </a:p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FB004549-1125-4930-988B-40FFE37DB1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17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007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9.1.2 Необходимость разделения IP-сетей на подсети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9.1.2.1 План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9.1.2.2 План: назначение адресов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090000A5-D072-475F-932A-965CA0361D83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4DBE9C86-8F91-408C-8823-75B6B5CDDFFE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5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 Разделение IPv4-сетей на подсети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9.1.1 Сегментирование сети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9.1.1.1 Причины разделения на подсети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9.1.1.2 Обмен данными между подсетями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4E35ECFE-8202-4570-9C5E-C91F7F8D8D39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9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9.1.4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Определение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маски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подсети</a:t>
            </a:r>
            <a:endParaRPr lang="en-US" sz="1200" b="0" i="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9.1.4.1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Разделение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на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подсети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с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учётом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требований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узла</a:t>
            </a:r>
            <a:endParaRPr lang="en-US" sz="1200" b="0" i="0" dirty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AD505F45-CB41-4E57-B034-356F914D4196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10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9.1.3 Разделение IPv4-сетей на подсети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9.1.3.1 Базовое разделение на подсети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  <a:p>
            <a:pPr marL="112746" indent="-112746" algn="l" defTabSz="1020745">
              <a:lnSpc>
                <a:spcPct val="80000"/>
              </a:lnSpc>
              <a:buNone/>
            </a:pPr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D7F9632B-D415-4B22-A41C-D8D30044A1E2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11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9.1.3.2 Используемые подсети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926B99E5-9659-46DB-BD94-CEE73A147879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12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9.1.3.4 Создание 4 подсетей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420B502C-DEA6-496D-A41C-063BAF76B271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14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9.1.5.2</a:t>
            </a: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 Маска подсети переменной длины (VLSM) </a:t>
            </a: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© Корпорация Cisco Systems, 2007–2010. Все права защищены.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Общедоступная информация корпорации Cisco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ITE PC v4.1</a:t>
            </a:r>
          </a:p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Глава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C31C4615-7F19-455B-A5C4-EA1B3B194C81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ACFA795C-7F0A-48D8-9FC3-F2BA5F8EB736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1" name="Rectangle 278"/>
          <p:cNvSpPr>
            <a:spLocks noChangeArrowheads="1"/>
          </p:cNvSpPr>
          <p:nvPr userDrawn="1"/>
        </p:nvSpPr>
        <p:spPr bwMode="auto">
          <a:xfrm>
            <a:off x="2962275" y="6672263"/>
            <a:ext cx="2604020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ru-RU" sz="700" b="0" i="0" noProof="0" dirty="0" smtClean="0">
                <a:solidFill>
                  <a:srgbClr val="D3D3D3"/>
                </a:solidFill>
                <a:latin typeface="Arial"/>
                <a:ea typeface="ＭＳ Ｐゴシック"/>
                <a:cs typeface="ＭＳ Ｐゴシック"/>
              </a:rPr>
              <a:t>© Корпорация Cisco Systems, 2014. Все права защищены.</a:t>
            </a:r>
            <a:endParaRPr lang="ru-RU" sz="700" b="0" i="0" noProof="0" dirty="0">
              <a:solidFill>
                <a:srgbClr val="D3D3D3"/>
              </a:solidFill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12" name="Rectangle 279"/>
          <p:cNvSpPr>
            <a:spLocks noChangeArrowheads="1"/>
          </p:cNvSpPr>
          <p:nvPr userDrawn="1"/>
        </p:nvSpPr>
        <p:spPr bwMode="auto">
          <a:xfrm>
            <a:off x="5461715" y="6672263"/>
            <a:ext cx="2312273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ru-RU" sz="700" b="0" i="0" noProof="0" smtClean="0">
                <a:solidFill>
                  <a:srgbClr val="D3D3D3"/>
                </a:solidFill>
                <a:latin typeface="Arial"/>
                <a:ea typeface="ＭＳ Ｐゴシック"/>
                <a:cs typeface="ＭＳ Ｐゴシック"/>
              </a:rPr>
              <a:t>Конфиденциальная информация корпорации Cisco</a:t>
            </a:r>
            <a:endParaRPr lang="ru-RU" sz="700" b="0" i="0" noProof="0">
              <a:solidFill>
                <a:srgbClr val="D3D3D3"/>
              </a:solidFill>
              <a:latin typeface="Arial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ITE PC v4.1</a:t>
            </a:r>
          </a:p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Глава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58EC189E-ADD4-420E-B89E-1E32C54438D7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© Корпорация Cisco Systems, 2007–2010. Все права защищены.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Общедоступная информация корпорации Cisco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34" r:id="rId2"/>
    <p:sldLayoutId id="2147484435" r:id="rId3"/>
    <p:sldLayoutId id="2147484436" r:id="rId4"/>
    <p:sldLayoutId id="2147484437" r:id="rId5"/>
    <p:sldLayoutId id="2147484438" r:id="rId6"/>
    <p:sldLayoutId id="2147484439" r:id="rId7"/>
    <p:sldLayoutId id="2147484440" r:id="rId8"/>
    <p:sldLayoutId id="2147484441" r:id="rId9"/>
    <p:sldLayoutId id="2147484442" r:id="rId10"/>
    <p:sldLayoutId id="2147484443" r:id="rId11"/>
    <p:sldLayoutId id="21474844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85C5E045-6C48-46C0-92AE-30A8710B0BBD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278"/>
          <p:cNvSpPr>
            <a:spLocks noChangeArrowheads="1"/>
          </p:cNvSpPr>
          <p:nvPr userDrawn="1"/>
        </p:nvSpPr>
        <p:spPr bwMode="auto">
          <a:xfrm>
            <a:off x="2962275" y="6672263"/>
            <a:ext cx="2604020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ru-RU" sz="700" b="0" i="0" noProof="0" dirty="0" smtClean="0">
                <a:solidFill>
                  <a:srgbClr val="D3D3D3"/>
                </a:solidFill>
                <a:latin typeface="Arial"/>
                <a:ea typeface="ＭＳ Ｐゴシック"/>
                <a:cs typeface="ＭＳ Ｐゴシック"/>
              </a:rPr>
              <a:t>© Корпорация Cisco Systems, 2014. Все права защищены.</a:t>
            </a:r>
            <a:endParaRPr lang="ru-RU" sz="700" b="0" i="0" noProof="0" dirty="0">
              <a:solidFill>
                <a:srgbClr val="D3D3D3"/>
              </a:solidFill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10" name="Rectangle 279"/>
          <p:cNvSpPr>
            <a:spLocks noChangeArrowheads="1"/>
          </p:cNvSpPr>
          <p:nvPr userDrawn="1"/>
        </p:nvSpPr>
        <p:spPr bwMode="auto">
          <a:xfrm>
            <a:off x="5461715" y="6672263"/>
            <a:ext cx="2312273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ru-RU" sz="700" b="0" i="0" noProof="0" smtClean="0">
                <a:solidFill>
                  <a:srgbClr val="D3D3D3"/>
                </a:solidFill>
                <a:latin typeface="Arial"/>
                <a:ea typeface="ＭＳ Ｐゴシック"/>
                <a:cs typeface="ＭＳ Ｐゴシック"/>
              </a:rPr>
              <a:t>Конфиденциальная информация корпорации Cisco</a:t>
            </a:r>
            <a:endParaRPr lang="ru-RU" sz="700" b="0" i="0" noProof="0">
              <a:solidFill>
                <a:srgbClr val="D3D3D3"/>
              </a:solidFill>
              <a:latin typeface="Arial"/>
              <a:ea typeface="ＭＳ Ｐゴシック"/>
              <a:cs typeface="ＭＳ Ｐゴシック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1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08013" y="2159000"/>
            <a:ext cx="7772400" cy="1362075"/>
          </a:xfrm>
        </p:spPr>
        <p:txBody>
          <a:bodyPr/>
          <a:lstStyle/>
          <a:p>
            <a:r>
              <a:rPr lang="ru-RU" dirty="0" smtClean="0"/>
              <a:t>Разбиение сетей на подсети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2710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5138" y="417513"/>
            <a:ext cx="8145462" cy="458787"/>
          </a:xfrm>
        </p:spPr>
        <p:txBody>
          <a:bodyPr/>
          <a:lstStyle/>
          <a:p>
            <a:r>
              <a:rPr lang="ru-RU" dirty="0" smtClean="0"/>
              <a:t>Широковещательный домен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306285"/>
            <a:ext cx="9144000" cy="2843213"/>
          </a:xfrm>
          <a:noFill/>
        </p:spPr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en-US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Широковещательный домен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– область сети в которой </a:t>
            </a:r>
            <a:r>
              <a:rPr lang="ru-RU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все узлы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получают </a:t>
            </a:r>
            <a:r>
              <a:rPr lang="ru-RU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широковещательные пакеты</a:t>
            </a:r>
            <a:endParaRPr lang="en-US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081" y="1004434"/>
            <a:ext cx="4200525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1596" y="5776686"/>
            <a:ext cx="8579016" cy="7571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Маршрутизаторы не пропускают широковещательные пакеты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238" y="366713"/>
            <a:ext cx="8145462" cy="838200"/>
          </a:xfrm>
        </p:spPr>
        <p:txBody>
          <a:bodyPr/>
          <a:lstStyle/>
          <a:p>
            <a:r>
              <a:rPr lang="ru-RU" dirty="0" smtClean="0"/>
              <a:t>Широковещательный шторм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Широковещательный шторм – лавинообразное  увеличение широковещательных пакетов.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Нормальный режим – 10% от общего количества пакетов.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Широковещательные пакеты возникают при :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Работе протоколов (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DHCP, ARP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и др.) ;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Неправильной настройки сети (петлевые соединения коммутаторов);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Неисправность сетевой карты;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Атаки на сеть;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6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>Разделение IPv4-сети на подсети</a:t>
            </a:r>
            <a: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/>
            </a:r>
            <a:b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</a:br>
            <a:r>
              <a:rPr lang="ru-RU" sz="3200" b="1" i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Необходимость разделения IP-сетей на подсети</a:t>
            </a:r>
            <a:endParaRPr lang="ru-RU"/>
          </a:p>
        </p:txBody>
      </p:sp>
      <p:pic>
        <p:nvPicPr>
          <p:cNvPr id="921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76338" y="1623750"/>
            <a:ext cx="6240462" cy="4426475"/>
          </a:xfrm>
          <a:noFill/>
        </p:spPr>
      </p:pic>
    </p:spTree>
    <p:extLst>
      <p:ext uri="{BB962C8B-B14F-4D97-AF65-F5344CB8AC3E}">
        <p14:creationId xmlns:p14="http://schemas.microsoft.com/office/powerpoint/2010/main" val="114531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Сегментирование сети </a:t>
            </a:r>
            <a: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/>
            </a:r>
            <a:b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</a:br>
            <a:r>
              <a:rPr lang="ru-RU" sz="32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>Причины разделения на подсети</a:t>
            </a:r>
            <a:endParaRPr lang="ru-RU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600982" y="1320346"/>
            <a:ext cx="8204200" cy="5000625"/>
          </a:xfrm>
        </p:spPr>
        <p:txBody>
          <a:bodyPr/>
          <a:lstStyle/>
          <a:p>
            <a:pPr marL="236555" indent="-236555" defTabSz="814365">
              <a:lnSpc>
                <a:spcPct val="75000"/>
              </a:lnSpc>
              <a:buFont typeface="Wingdings"/>
              <a:buChar char="§"/>
            </a:pPr>
            <a:r>
              <a:rPr lang="ru-RU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Экономия 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IP-</a:t>
            </a:r>
            <a:r>
              <a:rPr lang="ru-RU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адресов </a:t>
            </a:r>
            <a:endParaRPr lang="ru-RU" sz="26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b="0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Повышение производительности </a:t>
            </a:r>
            <a:r>
              <a:rPr lang="ru-RU" b="0" i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 счет снижения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широковещательного трафика ( </a:t>
            </a:r>
            <a:r>
              <a:rPr lang="ru-RU" sz="1800" i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разделение одного большого  широковещательного домена на несколько маленьких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)</a:t>
            </a:r>
            <a:r>
              <a:rPr lang="ru-RU" b="0" i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36555" indent="-236555" defTabSz="814365">
              <a:lnSpc>
                <a:spcPct val="75000"/>
              </a:lnSpc>
              <a:buFont typeface="Wingdings"/>
              <a:buChar char="§"/>
            </a:pPr>
            <a:r>
              <a:rPr lang="ru-RU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Безопасность</a:t>
            </a:r>
            <a:r>
              <a:rPr lang="ru-RU" sz="3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u-RU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списки доступа, контроль трафика</a:t>
            </a:r>
            <a:r>
              <a:rPr lang="ru-RU" sz="3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b="0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Удобство администрирования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endParaRPr lang="ru-RU" sz="1800" b="1" i="0" smtClean="0">
              <a:solidFill>
                <a:srgbClr val="000000"/>
              </a:solidFill>
              <a:latin typeface="Arial"/>
              <a:ea typeface="+mn-ea"/>
              <a:cs typeface="+mn-cs"/>
            </a:endParaRP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Обмен </a:t>
            </a:r>
            <a:r>
              <a:rPr lang="ru-RU" sz="1800" b="1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данными между подсетями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200" b="0" i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Для обмена данными между подсетями требуется маршрутизатор. </a:t>
            </a:r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sz="1800" dirty="0" smtClean="0"/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sz="1800" dirty="0" smtClean="0"/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sz="1800" dirty="0" smtClean="0"/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sz="1800" dirty="0" smtClean="0"/>
          </a:p>
          <a:p>
            <a:pPr marL="236555" indent="-236555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sz="1800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smtClean="0"/>
              <a:t>Варианты разделения на подсети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Базовое разбиение с помощью масок </a:t>
            </a:r>
            <a:r>
              <a:rPr lang="ru-RU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одинаковой длины  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с одинаковым количеством узлов в подсетях;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Разбиение на подсети с помощью масок </a:t>
            </a:r>
            <a:r>
              <a:rPr lang="ru-RU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переменной длины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с разным количеством узлов в подсетях.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2613" y="2527300"/>
            <a:ext cx="7772400" cy="1362075"/>
          </a:xfrm>
        </p:spPr>
        <p:txBody>
          <a:bodyPr/>
          <a:lstStyle/>
          <a:p>
            <a:r>
              <a:rPr lang="ru-RU" sz="2400" dirty="0" smtClean="0"/>
              <a:t>разделение с помощью масок одинаковой длины</a:t>
            </a:r>
            <a:endParaRPr lang="ru-RU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407987"/>
          </a:xfrm>
        </p:spPr>
        <p:txBody>
          <a:bodyPr/>
          <a:lstStyle/>
          <a:p>
            <a:r>
              <a:rPr lang="ru-RU" dirty="0" smtClean="0"/>
              <a:t>Правило разбиения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79438" y="1239838"/>
            <a:ext cx="7940675" cy="3571875"/>
          </a:xfrm>
        </p:spPr>
        <p:txBody>
          <a:bodyPr/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По маске определяем сетевую и узловую части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IP-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адреса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исходной сети.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Определяется необходимое количество подсетей и количество узлов в них. 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Из узловой  части изымается количество бит, необходимое  для создания заданного количества подсетей.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Маска подсети увеличивается на требуемое количество бит.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666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9238" y="614585"/>
            <a:ext cx="8145462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6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Определение маски подсети</a:t>
            </a:r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/>
            </a:r>
            <a:b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</a:br>
            <a:r>
              <a:rPr lang="ru-RU" sz="30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Расчет количества узлов</a:t>
            </a:r>
            <a:r>
              <a:rPr lang="en-US" sz="30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 </a:t>
            </a:r>
            <a:r>
              <a:rPr lang="ru-RU" sz="30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в подсетях </a:t>
            </a:r>
            <a:endParaRPr lang="ru-RU" sz="30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idx="1"/>
          </p:nvPr>
        </p:nvSpPr>
        <p:spPr>
          <a:xfrm>
            <a:off x="571500" y="1531256"/>
            <a:ext cx="8216900" cy="515302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sz="2400" b="0" i="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400" b="0" i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Формула для определения количества узлов, пригодных для использования </a:t>
            </a: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sz="2400" b="0" i="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45" lvl="1" indent="0" algn="l" defTabSz="814365">
              <a:lnSpc>
                <a:spcPct val="75000"/>
              </a:lnSpc>
              <a:spcBef>
                <a:spcPct val="35000"/>
              </a:spcBef>
              <a:spcAft>
                <a:spcPct val="0"/>
              </a:spcAft>
              <a:buNone/>
            </a:pPr>
            <a:r>
              <a:rPr lang="ru-RU" sz="2000" b="1" i="0" dirty="0" smtClean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			</a:t>
            </a:r>
          </a:p>
          <a:p>
            <a:pPr marL="338145" lvl="1" indent="0" algn="l" defTabSz="814365">
              <a:lnSpc>
                <a:spcPct val="75000"/>
              </a:lnSpc>
              <a:spcBef>
                <a:spcPct val="35000"/>
              </a:spcBef>
              <a:spcAft>
                <a:spcPct val="0"/>
              </a:spcAft>
              <a:buNone/>
            </a:pPr>
            <a:r>
              <a:rPr 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</a:t>
            </a:r>
            <a:r>
              <a:rPr lang="en-US" sz="2400" dirty="0" smtClean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</a:t>
            </a:r>
            <a:r>
              <a:rPr lang="ru-RU" sz="2400" dirty="0" smtClean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оставшееся количество бит в узловой  части</a:t>
            </a:r>
            <a:endParaRPr lang="ru-RU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38145" lvl="1" indent="0" algn="l" defTabSz="814365">
              <a:lnSpc>
                <a:spcPct val="75000"/>
              </a:lnSpc>
              <a:spcBef>
                <a:spcPct val="35000"/>
              </a:spcBef>
              <a:spcAft>
                <a:spcPct val="0"/>
              </a:spcAft>
              <a:buNone/>
            </a:pPr>
            <a:r>
              <a:rPr lang="ru-RU" sz="2400" dirty="0" smtClean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Адрес сети и широковещательный адрес не назначаются узлам</a:t>
            </a:r>
            <a:endParaRPr lang="ru-RU" sz="2400" i="0" dirty="0" smtClean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endParaRPr lang="ru-RU" dirty="0" smtClean="0"/>
          </a:p>
          <a:p>
            <a:pPr marL="338145" lvl="1" indent="0" algn="l" defTabSz="814365">
              <a:lnSpc>
                <a:spcPct val="75000"/>
              </a:lnSpc>
              <a:spcBef>
                <a:spcPct val="35000"/>
              </a:spcBef>
              <a:spcAft>
                <a:spcPct val="0"/>
              </a:spcAft>
              <a:buNone/>
            </a:pPr>
            <a:endParaRPr lang="ru-RU" dirty="0" smtClean="0">
              <a:ea typeface="+mn-ea"/>
              <a:cs typeface="+mn-cs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None/>
            </a:pPr>
            <a:endParaRPr lang="ru-RU" dirty="0" smtClean="0"/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ea typeface="ＭＳ Ｐゴシック" pitchFamily="34" charset="-128"/>
              <a:cs typeface="Arial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ea typeface="ＭＳ Ｐゴシック" pitchFamily="34" charset="-128"/>
              <a:cs typeface="Arial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ea typeface="ＭＳ Ｐゴシック" pitchFamily="34" charset="-128"/>
              <a:cs typeface="Arial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ea typeface="ＭＳ Ｐゴシック" pitchFamily="34" charset="-128"/>
              <a:cs typeface="Arial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ea typeface="ＭＳ Ｐゴシック" pitchFamily="34" charset="-128"/>
              <a:cs typeface="Arial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ea typeface="ＭＳ Ｐゴシック" pitchFamily="34" charset="-128"/>
              <a:cs typeface="Arial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ea typeface="ＭＳ Ｐゴシック" pitchFamily="34" charset="-128"/>
              <a:cs typeface="Arial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ea typeface="ＭＳ Ｐゴシック" pitchFamily="34" charset="-128"/>
              <a:cs typeface="Arial" charset="0"/>
            </a:endParaRP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760859"/>
              </p:ext>
            </p:extLst>
          </p:nvPr>
        </p:nvGraphicFramePr>
        <p:xfrm>
          <a:off x="2273300" y="2847975"/>
          <a:ext cx="3606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4" imgW="901440" imgH="203040" progId="Equation.DSMT4">
                  <p:embed/>
                </p:oleObj>
              </mc:Choice>
              <mc:Fallback>
                <p:oleObj name="Equation" r:id="rId4" imgW="901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73300" y="2847975"/>
                        <a:ext cx="3606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482600"/>
            <a:ext cx="8947150" cy="4318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b="0" i="0" dirty="0" smtClean="0">
                <a:solidFill>
                  <a:srgbClr val="708CA1"/>
                </a:solidFill>
                <a:latin typeface="+mn-lt"/>
              </a:rPr>
              <a:t> </a:t>
            </a:r>
            <a:r>
              <a:rPr lang="ru-RU" sz="2600" i="0" dirty="0" smtClean="0">
                <a:solidFill>
                  <a:srgbClr val="708CA1"/>
                </a:solidFill>
                <a:latin typeface="+mn-lt"/>
              </a:rPr>
              <a:t>Р</a:t>
            </a:r>
            <a:r>
              <a:rPr lang="ru-RU" sz="2600" b="1" i="0" dirty="0" smtClean="0">
                <a:solidFill>
                  <a:srgbClr val="AAC1D8">
                    <a:lumMod val="75000"/>
                  </a:srgbClr>
                </a:solidFill>
                <a:latin typeface="+mn-lt"/>
                <a:cs typeface="Arial"/>
              </a:rPr>
              <a:t>азделение на подсети масками одинаковой длины</a:t>
            </a:r>
            <a:endParaRPr lang="ru-RU" sz="2600" dirty="0">
              <a:solidFill>
                <a:schemeClr val="accent5">
                  <a:lumMod val="7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idx="1"/>
          </p:nvPr>
        </p:nvSpPr>
        <p:spPr>
          <a:xfrm>
            <a:off x="241301" y="915988"/>
            <a:ext cx="8837612" cy="4948237"/>
          </a:xfrm>
        </p:spPr>
        <p:txBody>
          <a:bodyPr/>
          <a:lstStyle/>
          <a:p>
            <a:pPr marL="0" indent="0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2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Дана сеть с адресом 192.168.1.0/24 максимальное число узлов 254</a:t>
            </a:r>
          </a:p>
          <a:p>
            <a:pPr marL="0" indent="0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20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Надо разделить на две подсети с количеством узлов 126</a:t>
            </a:r>
            <a:r>
              <a:rPr lang="ru-RU" altLang="ja-JP" sz="22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</a:t>
            </a:r>
          </a:p>
          <a:p>
            <a:pPr marL="0" indent="0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2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Выделяем из узловой части 1 бит 2</a:t>
            </a:r>
            <a:r>
              <a:rPr lang="ru-RU" altLang="ja-JP" sz="2200" b="0" i="0" baseline="3000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1</a:t>
            </a:r>
            <a:r>
              <a:rPr lang="ru-RU" altLang="ja-JP" sz="22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= 2  для создания 2 подсетей</a:t>
            </a:r>
          </a:p>
          <a:p>
            <a:pPr marL="0" indent="0" algn="l" defTabSz="814365">
              <a:lnSpc>
                <a:spcPct val="75000"/>
              </a:lnSpc>
              <a:spcBef>
                <a:spcPts val="6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20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Увеличиваем маску на единицу 24+1=25</a:t>
            </a:r>
            <a:endParaRPr lang="ru-RU" altLang="ja-JP" sz="2200" b="0" i="0" dirty="0">
              <a:solidFill>
                <a:srgbClr val="000000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557224" y="3614738"/>
            <a:ext cx="5288189" cy="1247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 cstate="print"/>
          <a:srcRect t="10412" b="7585"/>
          <a:stretch>
            <a:fillRect/>
          </a:stretch>
        </p:blipFill>
        <p:spPr bwMode="auto">
          <a:xfrm>
            <a:off x="1336576" y="2336800"/>
            <a:ext cx="4599767" cy="14832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10248" name="Straight Arrow Connector 12"/>
          <p:cNvCxnSpPr>
            <a:cxnSpLocks noChangeShapeType="1"/>
          </p:cNvCxnSpPr>
          <p:nvPr/>
        </p:nvCxnSpPr>
        <p:spPr bwMode="auto">
          <a:xfrm flipV="1">
            <a:off x="2784474" y="4108451"/>
            <a:ext cx="1436688" cy="6810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0249" name="TextBox 13"/>
          <p:cNvSpPr txBox="1">
            <a:spLocks noChangeArrowheads="1"/>
          </p:cNvSpPr>
          <p:nvPr/>
        </p:nvSpPr>
        <p:spPr bwMode="auto">
          <a:xfrm>
            <a:off x="1349375" y="4789488"/>
            <a:ext cx="6865938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ru-RU" sz="1400" b="0" i="0" dirty="0" smtClean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При выделении 1 бита из поля в узловой части создаются 2 подсети с одинаковой маской подсети </a:t>
            </a:r>
            <a:endParaRPr lang="ru-RU" sz="1400" b="0" i="0" dirty="0">
              <a:solidFill>
                <a:schemeClr val="tx1"/>
              </a:solidFill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" y="414338"/>
            <a:ext cx="8145463" cy="423862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3200" b="1" i="0" dirty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Результат разбиения</a:t>
            </a:r>
            <a:endParaRPr lang="ru-RU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1267" name="Picture 4"/>
          <p:cNvPicPr>
            <a:picLocks noChangeAspect="1" noChangeArrowheads="1"/>
          </p:cNvPicPr>
          <p:nvPr/>
        </p:nvPicPr>
        <p:blipFill>
          <a:blip r:embed="rId3" cstate="print"/>
          <a:srcRect l="37482" t="31548" r="41658" b="47620"/>
          <a:stretch>
            <a:fillRect/>
          </a:stretch>
        </p:blipFill>
        <p:spPr bwMode="auto">
          <a:xfrm>
            <a:off x="841375" y="2808288"/>
            <a:ext cx="4616450" cy="2590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1268" name="Picture 5"/>
          <p:cNvPicPr>
            <a:picLocks noChangeAspect="1" noChangeArrowheads="1"/>
          </p:cNvPicPr>
          <p:nvPr/>
        </p:nvPicPr>
        <p:blipFill>
          <a:blip r:embed="rId4" cstate="print"/>
          <a:srcRect b="8506"/>
          <a:stretch>
            <a:fillRect/>
          </a:stretch>
        </p:blipFill>
        <p:spPr bwMode="auto">
          <a:xfrm>
            <a:off x="4973179" y="1219200"/>
            <a:ext cx="2888411" cy="254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1269" name="Picture 6"/>
          <p:cNvPicPr>
            <a:picLocks noChangeAspect="1" noChangeArrowheads="1"/>
          </p:cNvPicPr>
          <p:nvPr/>
        </p:nvPicPr>
        <p:blipFill>
          <a:blip r:embed="rId5" cstate="print"/>
          <a:srcRect b="9849"/>
          <a:stretch>
            <a:fillRect/>
          </a:stretch>
        </p:blipFill>
        <p:spPr bwMode="auto">
          <a:xfrm>
            <a:off x="4853766" y="3816803"/>
            <a:ext cx="3187148" cy="26638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1219200" y="2192338"/>
            <a:ext cx="278606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ru-RU" sz="2000" b="1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Подсеть 0</a:t>
            </a:r>
          </a:p>
          <a:p>
            <a:pPr algn="l">
              <a:lnSpc>
                <a:spcPct val="100000"/>
              </a:lnSpc>
              <a:buNone/>
            </a:pPr>
            <a:r>
              <a:rPr lang="ru-RU" sz="20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Сеть 192.168.1.</a:t>
            </a:r>
            <a:r>
              <a:rPr lang="ru-RU" sz="2000" b="1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ru-RU" sz="20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2000" b="1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</a:t>
            </a:r>
            <a:endParaRPr lang="ru-RU" sz="2000" b="1" i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71" name="TextBox 7"/>
          <p:cNvSpPr txBox="1">
            <a:spLocks noChangeArrowheads="1"/>
          </p:cNvSpPr>
          <p:nvPr/>
        </p:nvSpPr>
        <p:spPr bwMode="auto">
          <a:xfrm>
            <a:off x="1250950" y="5049838"/>
            <a:ext cx="268446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ru-RU" sz="2000" b="1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Подсеть 1</a:t>
            </a:r>
          </a:p>
          <a:p>
            <a:pPr algn="l">
              <a:lnSpc>
                <a:spcPct val="100000"/>
              </a:lnSpc>
              <a:buNone/>
            </a:pPr>
            <a:r>
              <a:rPr lang="ru-RU" sz="20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Сеть 192.168.1.</a:t>
            </a:r>
            <a:r>
              <a:rPr lang="ru-RU" sz="2000" b="1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128</a:t>
            </a:r>
            <a:r>
              <a:rPr lang="ru-RU" sz="20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u-RU" sz="2000" b="1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</a:t>
            </a:r>
            <a:endParaRPr lang="ru-RU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9238" y="396875"/>
            <a:ext cx="8145462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>Разделение IPv4-сети на подсети </a:t>
            </a:r>
            <a:r>
              <a:rPr lang="ru-RU" sz="1800" b="1" i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/>
            </a:r>
            <a:br>
              <a:rPr lang="ru-RU" sz="1800" b="1" i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</a:br>
            <a:r>
              <a:rPr lang="ru-RU" sz="3200" b="1" i="0" smtClean="0">
                <a:solidFill>
                  <a:srgbClr val="AAC1D8">
                    <a:lumMod val="75000"/>
                  </a:srgbClr>
                </a:solidFill>
                <a:latin typeface="Arial"/>
                <a:ea typeface="+mj-ea"/>
                <a:cs typeface="Arial"/>
              </a:rPr>
              <a:t>Создание 4 подсетей</a:t>
            </a:r>
            <a:endParaRPr lang="ru-RU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idx="1"/>
          </p:nvPr>
        </p:nvSpPr>
        <p:spPr>
          <a:xfrm>
            <a:off x="571500" y="1371600"/>
            <a:ext cx="8216900" cy="5153025"/>
          </a:xfrm>
        </p:spPr>
        <p:txBody>
          <a:bodyPr/>
          <a:lstStyle/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400" b="0" i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Выделение из поля 2 бит для создания 4 подсетей.  </a:t>
            </a:r>
            <a:r>
              <a:rPr lang="ru-RU" altLang="ja-JP" sz="2400" b="1" i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2</a:t>
            </a:r>
            <a:r>
              <a:rPr lang="ru-RU" altLang="ja-JP" sz="2400" b="1" i="0" baseline="3000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2 </a:t>
            </a:r>
            <a:r>
              <a:rPr lang="ru-RU" altLang="ja-JP" sz="2400" b="1" i="0" smtClean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= 4 подсети</a:t>
            </a:r>
            <a:endParaRPr lang="ru-RU" altLang="ja-JP" sz="2400" b="1" i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pic>
        <p:nvPicPr>
          <p:cNvPr id="13316" name="Picture 3"/>
          <p:cNvPicPr>
            <a:picLocks noChangeAspect="1" noChangeArrowheads="1"/>
          </p:cNvPicPr>
          <p:nvPr/>
        </p:nvPicPr>
        <p:blipFill>
          <a:blip r:embed="rId3" cstate="print"/>
          <a:srcRect b="9477"/>
          <a:stretch>
            <a:fillRect/>
          </a:stretch>
        </p:blipFill>
        <p:spPr bwMode="auto">
          <a:xfrm>
            <a:off x="2017486" y="2176463"/>
            <a:ext cx="5094514" cy="43404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0"/>
            <a:ext cx="8957827" cy="838200"/>
          </a:xfrm>
        </p:spPr>
        <p:txBody>
          <a:bodyPr/>
          <a:lstStyle/>
          <a:p>
            <a:r>
              <a:rPr lang="ru-RU" sz="2600" dirty="0" smtClean="0"/>
              <a:t>Недостатки разбиения масками одинаковой длины </a:t>
            </a:r>
            <a:endParaRPr lang="ru-RU" sz="2600" dirty="0"/>
          </a:p>
        </p:txBody>
      </p:sp>
      <p:sp>
        <p:nvSpPr>
          <p:cNvPr id="3" name="TextBox 2"/>
          <p:cNvSpPr txBox="1"/>
          <p:nvPr/>
        </p:nvSpPr>
        <p:spPr>
          <a:xfrm>
            <a:off x="887322" y="5356633"/>
            <a:ext cx="6658874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Создаются сети одинакового размера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Плохо адаптировать под сети разного размера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Могут быть неиспользуемые адреса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23950"/>
            <a:ext cx="4391025" cy="383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382588"/>
            <a:ext cx="8145462" cy="838200"/>
          </a:xfrm>
        </p:spPr>
        <p:txBody>
          <a:bodyPr/>
          <a:lstStyle/>
          <a:p>
            <a:pPr defTabSz="814365"/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+mj-cs"/>
              </a:rPr>
              <a:t>Преимущества использования масок подсети переменной длины</a:t>
            </a:r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/>
            </a:r>
            <a:br>
              <a:rPr lang="ru-RU" sz="1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</a:br>
            <a:r>
              <a:rPr lang="ru-RU" sz="2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Маски подсети переменной длины (VLSM</a:t>
            </a:r>
            <a:r>
              <a:rPr lang="en-US" sz="2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 </a:t>
            </a:r>
            <a:r>
              <a:rPr lang="en-US" sz="2800" dirty="0" smtClean="0"/>
              <a:t>(variable length subnet mask)</a:t>
            </a:r>
            <a:r>
              <a:rPr lang="ru-RU" sz="2800" b="1" i="0" dirty="0" smtClean="0">
                <a:solidFill>
                  <a:srgbClr val="708CA1"/>
                </a:solidFill>
                <a:latin typeface="Arial"/>
                <a:ea typeface="+mj-ea"/>
                <a:cs typeface="Arial"/>
              </a:rPr>
              <a:t>)</a:t>
            </a:r>
            <a:endParaRPr lang="ru-RU" sz="28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idx="1"/>
          </p:nvPr>
        </p:nvSpPr>
        <p:spPr>
          <a:xfrm>
            <a:off x="571500" y="1371600"/>
            <a:ext cx="8216900" cy="5153025"/>
          </a:xfrm>
        </p:spPr>
        <p:txBody>
          <a:bodyPr/>
          <a:lstStyle/>
          <a:p>
            <a:pPr marL="261938" indent="-261938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400" b="0" i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VLSM позволяет разделять сетевое пространство на неравные части.</a:t>
            </a:r>
          </a:p>
          <a:p>
            <a:pPr marL="261938" indent="-261938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400" b="0" i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Маска подсети может изменяться в зависимости от числа битов, выделенных из поля для отдельной сети.</a:t>
            </a:r>
          </a:p>
          <a:p>
            <a:pPr marL="261938" indent="-261938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Сначала сеть разбивается на подсети максимального размера</a:t>
            </a:r>
            <a:endParaRPr lang="ru-RU" sz="2400" b="0" i="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61938" indent="-261938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400" b="0" i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После чего полученные подсети, в свою очередь, разделяются на меньшие подсети.</a:t>
            </a:r>
          </a:p>
          <a:p>
            <a:pPr marL="261938" indent="-261938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altLang="ja-JP" sz="2400" b="0" i="0" dirty="0" smtClean="0">
                <a:solidFill>
                  <a:srgbClr val="000000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При необходимости эту процедуру можно повторить, чтобы создать подсети разного размера.</a:t>
            </a: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0" indent="0" algn="l" defTabSz="814365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endParaRPr lang="ru-RU" altLang="ja-JP" dirty="0" smtClean="0">
              <a:ea typeface="ＭＳ Ｐゴシック" pitchFamily="34" charset="-128"/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124" y="450171"/>
            <a:ext cx="8145462" cy="333601"/>
          </a:xfrm>
        </p:spPr>
        <p:txBody>
          <a:bodyPr/>
          <a:lstStyle/>
          <a:p>
            <a:r>
              <a:rPr lang="ru-RU" dirty="0" smtClean="0"/>
              <a:t>Разбиение на подсети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9658" y="943429"/>
            <a:ext cx="8781142" cy="5602513"/>
          </a:xfrm>
        </p:spPr>
        <p:txBody>
          <a:bodyPr/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Пусть необходимо разбить сеть на несколько более мелких подсетей с количеством узлов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N2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Nm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C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о</a:t>
            </a:r>
            <a:r>
              <a:rPr lang="ru-RU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ртируем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 количество узлов в порядке убывания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algn="ctr">
              <a:spcBef>
                <a:spcPct val="50000"/>
              </a:spcBef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&gt;….Nm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2. Определяем количество бит в узловой части адреса, необходимой для  адресации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N1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узлов по формуле</a:t>
            </a: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3. Определяем  и увеличиваем длину  новой маски по формуле</a:t>
            </a:r>
          </a:p>
          <a:p>
            <a:pPr marL="0" indent="0" algn="ctr">
              <a:buNone/>
            </a:pPr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4. Исходный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IP-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адрес с новой маской будет адресом первой подсети, при этом младшие биты сетевой части будут нулевыми.</a:t>
            </a:r>
          </a:p>
          <a:p>
            <a:pPr marL="0" indent="0" algn="ctr">
              <a:buNone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				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998745"/>
              </p:ext>
            </p:extLst>
          </p:nvPr>
        </p:nvGraphicFramePr>
        <p:xfrm>
          <a:off x="3403600" y="3763963"/>
          <a:ext cx="23542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3" imgW="1269720" imgH="253800" progId="Equation.DSMT4">
                  <p:embed/>
                </p:oleObj>
              </mc:Choice>
              <mc:Fallback>
                <p:oleObj name="Equation" r:id="rId3" imgW="12697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03600" y="3763963"/>
                        <a:ext cx="2354263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79818"/>
              </p:ext>
            </p:extLst>
          </p:nvPr>
        </p:nvGraphicFramePr>
        <p:xfrm>
          <a:off x="3771509" y="4731658"/>
          <a:ext cx="1714890" cy="353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5" imgW="863280" imgH="177480" progId="Equation.DSMT4">
                  <p:embed/>
                </p:oleObj>
              </mc:Choice>
              <mc:Fallback>
                <p:oleObj name="Equation" r:id="rId5" imgW="863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71509" y="4731658"/>
                        <a:ext cx="1714890" cy="353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8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6610" y="493713"/>
            <a:ext cx="8145462" cy="333601"/>
          </a:xfrm>
        </p:spPr>
        <p:txBody>
          <a:bodyPr/>
          <a:lstStyle/>
          <a:p>
            <a:r>
              <a:rPr lang="ru-RU" dirty="0"/>
              <a:t>Разбиение на подсети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9658" y="943429"/>
            <a:ext cx="8781142" cy="5602513"/>
          </a:xfrm>
        </p:spPr>
        <p:txBody>
          <a:bodyPr/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5. Увеличиваем сетевую часть полученного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IP-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адреса с </a:t>
            </a: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обновленной маской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на единицу и  получаем следующий сетевой адрес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6. Определяем количество бит узловой части для сети с 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N2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узлами </a:t>
            </a: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7. Определяем длину новой маски</a:t>
            </a: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8. Если  маски равны (</a:t>
            </a:r>
            <a:r>
              <a:rPr lang="ru-RU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М2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ru-RU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М1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), то полученный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IP-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адрес будет адресом второй подсети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c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той же маской</a:t>
            </a:r>
          </a:p>
          <a:p>
            <a:pPr algn="just"/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9. Если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М2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М1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, то увеличиваем маску и получаем адрес второй подсети с обновленной маской.</a:t>
            </a:r>
          </a:p>
          <a:p>
            <a:pPr marL="0" indent="0">
              <a:buNone/>
            </a:pPr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				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824656"/>
              </p:ext>
            </p:extLst>
          </p:nvPr>
        </p:nvGraphicFramePr>
        <p:xfrm>
          <a:off x="3686628" y="4034746"/>
          <a:ext cx="1869849" cy="363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Equation" r:id="rId3" imgW="914400" imgH="177480" progId="Equation.DSMT4">
                  <p:embed/>
                </p:oleObj>
              </mc:Choice>
              <mc:Fallback>
                <p:oleObj name="Equation" r:id="rId3" imgW="9144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86628" y="4034746"/>
                        <a:ext cx="1869849" cy="3637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873776"/>
              </p:ext>
            </p:extLst>
          </p:nvPr>
        </p:nvGraphicFramePr>
        <p:xfrm>
          <a:off x="3255963" y="2921681"/>
          <a:ext cx="24479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Equation" r:id="rId5" imgW="1320480" imgH="253800" progId="Equation.DSMT4">
                  <p:embed/>
                </p:oleObj>
              </mc:Choice>
              <mc:Fallback>
                <p:oleObj name="Equation" r:id="rId5" imgW="1320480" imgH="253800" progId="Equation.DSMT4">
                  <p:embed/>
                  <p:pic>
                    <p:nvPicPr>
                      <p:cNvPr id="0" name="Объект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3" y="2921681"/>
                        <a:ext cx="24479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9919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6610" y="508228"/>
            <a:ext cx="8145462" cy="333601"/>
          </a:xfrm>
        </p:spPr>
        <p:txBody>
          <a:bodyPr/>
          <a:lstStyle/>
          <a:p>
            <a:r>
              <a:rPr lang="ru-RU" dirty="0"/>
              <a:t>Разбиение на подсети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9658" y="943429"/>
            <a:ext cx="8781142" cy="5602513"/>
          </a:xfrm>
        </p:spPr>
        <p:txBody>
          <a:bodyPr/>
          <a:lstStyle/>
          <a:p>
            <a:pPr algn="just"/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10. Увеличиваем полученный сетевой адрес на единицу и получаем  следующий сетевой адрес</a:t>
            </a:r>
          </a:p>
          <a:p>
            <a:pPr algn="just"/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11. Повторяем пункты 6-10 для следующей подсети</a:t>
            </a:r>
          </a:p>
          <a:p>
            <a:pPr algn="just"/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				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586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2724" y="348570"/>
            <a:ext cx="8145462" cy="391659"/>
          </a:xfrm>
        </p:spPr>
        <p:txBody>
          <a:bodyPr/>
          <a:lstStyle/>
          <a:p>
            <a:r>
              <a:rPr lang="ru-RU" dirty="0"/>
              <a:t>Разбиение на подсети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143" y="914400"/>
            <a:ext cx="8897257" cy="5820229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ru-RU" dirty="0" smtClean="0"/>
              <a:t>Разбить сеть </a:t>
            </a:r>
            <a:r>
              <a:rPr lang="ru-RU" b="1" dirty="0" smtClean="0">
                <a:solidFill>
                  <a:srgbClr val="FF0000"/>
                </a:solidFill>
              </a:rPr>
              <a:t>10.251.32.0/23</a:t>
            </a:r>
            <a:r>
              <a:rPr lang="ru-RU" dirty="0" smtClean="0"/>
              <a:t> на три подсети с количеством уз</a:t>
            </a:r>
            <a:r>
              <a:rPr lang="ru-RU" dirty="0"/>
              <a:t>л</a:t>
            </a:r>
            <a:r>
              <a:rPr lang="ru-RU" dirty="0" smtClean="0"/>
              <a:t>ов </a:t>
            </a:r>
            <a:r>
              <a:rPr lang="en-US" b="1" i="1" dirty="0" err="1" smtClean="0">
                <a:solidFill>
                  <a:srgbClr val="FF0000"/>
                </a:solidFill>
              </a:rPr>
              <a:t>N</a:t>
            </a:r>
            <a:r>
              <a:rPr lang="en-US" b="1" dirty="0" err="1" smtClean="0">
                <a:solidFill>
                  <a:srgbClr val="FF0000"/>
                </a:solidFill>
              </a:rPr>
              <a:t>1</a:t>
            </a:r>
            <a:r>
              <a:rPr lang="en-US" b="1" dirty="0" smtClean="0">
                <a:solidFill>
                  <a:srgbClr val="FF0000"/>
                </a:solidFill>
              </a:rPr>
              <a:t>=</a:t>
            </a:r>
            <a:r>
              <a:rPr lang="ru-RU" b="1" dirty="0" smtClean="0">
                <a:solidFill>
                  <a:srgbClr val="FF0000"/>
                </a:solidFill>
              </a:rPr>
              <a:t>62, </a:t>
            </a:r>
            <a:r>
              <a:rPr lang="en-US" b="1" i="1" dirty="0" smtClean="0">
                <a:solidFill>
                  <a:srgbClr val="FF0000"/>
                </a:solidFill>
              </a:rPr>
              <a:t>N</a:t>
            </a:r>
            <a:r>
              <a:rPr lang="ru-RU" b="1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>
                <a:solidFill>
                  <a:srgbClr val="FF0000"/>
                </a:solidFill>
              </a:rPr>
              <a:t>=</a:t>
            </a:r>
            <a:r>
              <a:rPr lang="ru-RU" b="1" dirty="0" smtClean="0">
                <a:solidFill>
                  <a:srgbClr val="FF0000"/>
                </a:solidFill>
              </a:rPr>
              <a:t>60, </a:t>
            </a:r>
            <a:r>
              <a:rPr lang="en-US" b="1" i="1" dirty="0" smtClean="0">
                <a:solidFill>
                  <a:srgbClr val="FF0000"/>
                </a:solidFill>
              </a:rPr>
              <a:t>N</a:t>
            </a:r>
            <a:r>
              <a:rPr lang="ru-RU" b="1" dirty="0">
                <a:solidFill>
                  <a:srgbClr val="FF0000"/>
                </a:solidFill>
              </a:rPr>
              <a:t>3</a:t>
            </a:r>
            <a:r>
              <a:rPr lang="en-US" b="1" dirty="0" smtClean="0">
                <a:solidFill>
                  <a:srgbClr val="FF0000"/>
                </a:solidFill>
              </a:rPr>
              <a:t>=</a:t>
            </a:r>
            <a:r>
              <a:rPr lang="ru-RU" b="1" dirty="0" smtClean="0">
                <a:solidFill>
                  <a:srgbClr val="FF0000"/>
                </a:solidFill>
              </a:rPr>
              <a:t>30</a:t>
            </a:r>
          </a:p>
          <a:p>
            <a:pPr>
              <a:spcBef>
                <a:spcPts val="1000"/>
              </a:spcBef>
            </a:pPr>
            <a:r>
              <a:rPr lang="ru-RU" dirty="0" smtClean="0"/>
              <a:t>1. Вычисляем количество бит в узловой части для первой подсети</a:t>
            </a:r>
          </a:p>
          <a:p>
            <a:pPr>
              <a:spcBef>
                <a:spcPts val="1000"/>
              </a:spcBef>
            </a:pPr>
            <a:endParaRPr lang="ru-RU" dirty="0"/>
          </a:p>
          <a:p>
            <a:pPr>
              <a:spcBef>
                <a:spcPts val="1000"/>
              </a:spcBef>
            </a:pPr>
            <a:r>
              <a:rPr lang="ru-RU" dirty="0" smtClean="0"/>
              <a:t>2. Определяем обновленную маску подсети </a:t>
            </a:r>
            <a:r>
              <a:rPr lang="ru-RU" dirty="0" err="1" smtClean="0"/>
              <a:t>М1</a:t>
            </a:r>
            <a:endParaRPr lang="ru-RU" dirty="0" smtClean="0"/>
          </a:p>
          <a:p>
            <a:pPr>
              <a:spcBef>
                <a:spcPts val="1000"/>
              </a:spcBef>
            </a:pPr>
            <a:endParaRPr lang="ru-RU" dirty="0"/>
          </a:p>
          <a:p>
            <a:pPr>
              <a:spcBef>
                <a:spcPts val="1000"/>
              </a:spcBef>
            </a:pPr>
            <a:r>
              <a:rPr lang="ru-RU" dirty="0" smtClean="0"/>
              <a:t>3. Получаем адрес первой подсети</a:t>
            </a:r>
          </a:p>
          <a:p>
            <a:pPr>
              <a:spcBef>
                <a:spcPts val="1000"/>
              </a:spcBef>
            </a:pPr>
            <a:endParaRPr lang="ru-RU" dirty="0" smtClean="0"/>
          </a:p>
          <a:p>
            <a:pPr>
              <a:spcBef>
                <a:spcPts val="1000"/>
              </a:spcBef>
            </a:pPr>
            <a:endParaRPr lang="ru-RU" dirty="0" smtClean="0"/>
          </a:p>
          <a:p>
            <a:pPr>
              <a:spcBef>
                <a:spcPts val="1000"/>
              </a:spcBef>
            </a:pPr>
            <a:endParaRPr lang="ru-RU" dirty="0" smtClean="0"/>
          </a:p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756072"/>
              </p:ext>
            </p:extLst>
          </p:nvPr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689172"/>
              </p:ext>
            </p:extLst>
          </p:nvPr>
        </p:nvGraphicFramePr>
        <p:xfrm>
          <a:off x="3154363" y="2428875"/>
          <a:ext cx="27066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7" name="Equation" r:id="rId5" imgW="1460160" imgH="253800" progId="Equation.DSMT4">
                  <p:embed/>
                </p:oleObj>
              </mc:Choice>
              <mc:Fallback>
                <p:oleObj name="Equation" r:id="rId5" imgW="1460160" imgH="253800" progId="Equation.DSMT4">
                  <p:embed/>
                  <p:pic>
                    <p:nvPicPr>
                      <p:cNvPr id="0" name="Объект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3" y="2428875"/>
                        <a:ext cx="27066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429464"/>
              </p:ext>
            </p:extLst>
          </p:nvPr>
        </p:nvGraphicFramePr>
        <p:xfrm>
          <a:off x="2995613" y="3586163"/>
          <a:ext cx="33274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" name="Equation" r:id="rId7" imgW="1676160" imgH="177480" progId="Equation.DSMT4">
                  <p:embed/>
                </p:oleObj>
              </mc:Choice>
              <mc:Fallback>
                <p:oleObj name="Equation" r:id="rId7" imgW="1676160" imgH="177480" progId="Equation.DSMT4">
                  <p:embed/>
                  <p:pic>
                    <p:nvPicPr>
                      <p:cNvPr id="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3586163"/>
                        <a:ext cx="33274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142568"/>
              </p:ext>
            </p:extLst>
          </p:nvPr>
        </p:nvGraphicFramePr>
        <p:xfrm>
          <a:off x="1244702" y="4696732"/>
          <a:ext cx="6294336" cy="1384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" name="Equation" r:id="rId9" imgW="3174840" imgH="698400" progId="Equation.DSMT4">
                  <p:embed/>
                </p:oleObj>
              </mc:Choice>
              <mc:Fallback>
                <p:oleObj name="Equation" r:id="rId9" imgW="317484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44702" y="4696732"/>
                        <a:ext cx="6294336" cy="13847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0561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0152" y="464685"/>
            <a:ext cx="8145462" cy="420686"/>
          </a:xfrm>
        </p:spPr>
        <p:txBody>
          <a:bodyPr/>
          <a:lstStyle/>
          <a:p>
            <a:r>
              <a:rPr lang="ru-RU" dirty="0"/>
              <a:t>Разбиение на подсети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200" y="986972"/>
            <a:ext cx="8810171" cy="5762172"/>
          </a:xfrm>
        </p:spPr>
        <p:txBody>
          <a:bodyPr/>
          <a:lstStyle/>
          <a:p>
            <a:r>
              <a:rPr lang="ru-RU" dirty="0" smtClean="0"/>
              <a:t>4. Добавляем единицу к сетевой части и получаем следующий сетевой адрес</a:t>
            </a:r>
          </a:p>
          <a:p>
            <a:endParaRPr lang="ru-RU" dirty="0" smtClean="0"/>
          </a:p>
          <a:p>
            <a:r>
              <a:rPr lang="ru-RU" dirty="0" smtClean="0"/>
              <a:t>5. Определяем количество бит в узловой части для </a:t>
            </a:r>
            <a:r>
              <a:rPr lang="en-US" dirty="0" err="1" smtClean="0"/>
              <a:t>N2</a:t>
            </a:r>
            <a:endParaRPr lang="en-US" dirty="0" smtClean="0"/>
          </a:p>
          <a:p>
            <a:endParaRPr lang="en-US" dirty="0"/>
          </a:p>
          <a:p>
            <a:r>
              <a:rPr lang="ru-RU" dirty="0" smtClean="0"/>
              <a:t>6. Определяем маску (маска не изменилась)</a:t>
            </a:r>
          </a:p>
          <a:p>
            <a:endParaRPr lang="ru-RU" dirty="0"/>
          </a:p>
          <a:p>
            <a:r>
              <a:rPr lang="ru-RU" dirty="0" smtClean="0"/>
              <a:t>7. Адрес второй подсети</a:t>
            </a:r>
          </a:p>
          <a:p>
            <a:endParaRPr lang="ru-RU" dirty="0" smtClean="0"/>
          </a:p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986073"/>
              </p:ext>
            </p:extLst>
          </p:nvPr>
        </p:nvGraphicFramePr>
        <p:xfrm>
          <a:off x="370341" y="1866673"/>
          <a:ext cx="78978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1" name="Equation" r:id="rId3" imgW="4140000" imgH="253800" progId="Equation.DSMT4">
                  <p:embed/>
                </p:oleObj>
              </mc:Choice>
              <mc:Fallback>
                <p:oleObj name="Equation" r:id="rId3" imgW="4140000" imgH="253800" progId="Equation.DSMT4">
                  <p:embed/>
                  <p:pic>
                    <p:nvPicPr>
                      <p:cNvPr id="0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41" y="1866673"/>
                        <a:ext cx="789781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941040"/>
              </p:ext>
            </p:extLst>
          </p:nvPr>
        </p:nvGraphicFramePr>
        <p:xfrm>
          <a:off x="3076575" y="2965450"/>
          <a:ext cx="27781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" name="Equation" r:id="rId5" imgW="1498320" imgH="253800" progId="Equation.DSMT4">
                  <p:embed/>
                </p:oleObj>
              </mc:Choice>
              <mc:Fallback>
                <p:oleObj name="Equation" r:id="rId5" imgW="1498320" imgH="253800" progId="Equation.DSMT4">
                  <p:embed/>
                  <p:pic>
                    <p:nvPicPr>
                      <p:cNvPr id="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575" y="2965450"/>
                        <a:ext cx="27781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865271"/>
              </p:ext>
            </p:extLst>
          </p:nvPr>
        </p:nvGraphicFramePr>
        <p:xfrm>
          <a:off x="2917825" y="3977595"/>
          <a:ext cx="342741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name="Equation" r:id="rId7" imgW="1726920" imgH="177480" progId="Equation.DSMT4">
                  <p:embed/>
                </p:oleObj>
              </mc:Choice>
              <mc:Fallback>
                <p:oleObj name="Equation" r:id="rId7" imgW="1726920" imgH="177480" progId="Equation.DSMT4">
                  <p:embed/>
                  <p:pic>
                    <p:nvPicPr>
                      <p:cNvPr id="0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3977595"/>
                        <a:ext cx="342741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172529"/>
              </p:ext>
            </p:extLst>
          </p:nvPr>
        </p:nvGraphicFramePr>
        <p:xfrm>
          <a:off x="933780" y="5045075"/>
          <a:ext cx="6689396" cy="1442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Equation" r:id="rId9" imgW="3238200" imgH="698400" progId="Equation.DSMT4">
                  <p:embed/>
                </p:oleObj>
              </mc:Choice>
              <mc:Fallback>
                <p:oleObj name="Equation" r:id="rId9" imgW="3238200" imgH="698400" progId="Equation.DSMT4">
                  <p:embed/>
                  <p:pic>
                    <p:nvPicPr>
                      <p:cNvPr id="0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780" y="5045075"/>
                        <a:ext cx="6689396" cy="1442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3406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124" y="450170"/>
            <a:ext cx="8145462" cy="377144"/>
          </a:xfrm>
        </p:spPr>
        <p:txBody>
          <a:bodyPr/>
          <a:lstStyle/>
          <a:p>
            <a:r>
              <a:rPr lang="ru-RU" dirty="0"/>
              <a:t>Разбиение на подсети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001486"/>
            <a:ext cx="8998857" cy="5718628"/>
          </a:xfrm>
        </p:spPr>
        <p:txBody>
          <a:bodyPr/>
          <a:lstStyle/>
          <a:p>
            <a:r>
              <a:rPr lang="ru-RU" dirty="0" smtClean="0"/>
              <a:t>8. Увеличиваем новый сетевой адрес на единицу и получаем следующий сетевой адрес</a:t>
            </a:r>
          </a:p>
          <a:p>
            <a:endParaRPr lang="ru-RU" dirty="0"/>
          </a:p>
          <a:p>
            <a:r>
              <a:rPr lang="ru-RU" dirty="0" smtClean="0"/>
              <a:t>9. Определяем количество бит в узловой части  для третьей подсети</a:t>
            </a:r>
          </a:p>
          <a:p>
            <a:endParaRPr lang="ru-RU" dirty="0" smtClean="0"/>
          </a:p>
          <a:p>
            <a:r>
              <a:rPr lang="ru-RU" dirty="0" smtClean="0"/>
              <a:t>10. </a:t>
            </a:r>
            <a:r>
              <a:rPr lang="ru-RU" smtClean="0"/>
              <a:t>Длина новой маски </a:t>
            </a:r>
            <a:r>
              <a:rPr lang="ru-RU" dirty="0" smtClean="0"/>
              <a:t>для третьей подсети равна:</a:t>
            </a:r>
          </a:p>
          <a:p>
            <a:endParaRPr lang="ru-RU" dirty="0" smtClean="0"/>
          </a:p>
          <a:p>
            <a:r>
              <a:rPr lang="ru-RU" dirty="0" smtClean="0"/>
              <a:t>11. </a:t>
            </a:r>
            <a:r>
              <a:rPr lang="ru-RU" dirty="0" smtClean="0"/>
              <a:t>Увеличиваем длину маски </a:t>
            </a:r>
            <a:r>
              <a:rPr lang="ru-RU" dirty="0" smtClean="0"/>
              <a:t>на один бит и получаем адрес третьей подсети</a:t>
            </a:r>
          </a:p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776100"/>
              </p:ext>
            </p:extLst>
          </p:nvPr>
        </p:nvGraphicFramePr>
        <p:xfrm>
          <a:off x="271689" y="1866674"/>
          <a:ext cx="80660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7" name="Equation" r:id="rId3" imgW="4228920" imgH="253800" progId="Equation.DSMT4">
                  <p:embed/>
                </p:oleObj>
              </mc:Choice>
              <mc:Fallback>
                <p:oleObj name="Equation" r:id="rId3" imgW="4228920" imgH="253800" progId="Equation.DSMT4">
                  <p:embed/>
                  <p:pic>
                    <p:nvPicPr>
                      <p:cNvPr id="0" name="Объект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89" y="1866674"/>
                        <a:ext cx="80660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241638"/>
              </p:ext>
            </p:extLst>
          </p:nvPr>
        </p:nvGraphicFramePr>
        <p:xfrm>
          <a:off x="3100388" y="3255963"/>
          <a:ext cx="2730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Equation" r:id="rId5" imgW="1473120" imgH="253800" progId="Equation.DSMT4">
                  <p:embed/>
                </p:oleObj>
              </mc:Choice>
              <mc:Fallback>
                <p:oleObj name="Equation" r:id="rId5" imgW="1473120" imgH="253800" progId="Equation.DSMT4">
                  <p:embed/>
                  <p:pic>
                    <p:nvPicPr>
                      <p:cNvPr id="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3255963"/>
                        <a:ext cx="2730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235671"/>
              </p:ext>
            </p:extLst>
          </p:nvPr>
        </p:nvGraphicFramePr>
        <p:xfrm>
          <a:off x="2957513" y="4427538"/>
          <a:ext cx="33766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Equation" r:id="rId7" imgW="1701720" imgH="177480" progId="Equation.DSMT4">
                  <p:embed/>
                </p:oleObj>
              </mc:Choice>
              <mc:Fallback>
                <p:oleObj name="Equation" r:id="rId7" imgW="1701720" imgH="177480" progId="Equation.DSMT4">
                  <p:embed/>
                  <p:pic>
                    <p:nvPicPr>
                      <p:cNvPr id="0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4427538"/>
                        <a:ext cx="337661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400906"/>
              </p:ext>
            </p:extLst>
          </p:nvPr>
        </p:nvGraphicFramePr>
        <p:xfrm>
          <a:off x="2862717" y="5512028"/>
          <a:ext cx="582295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9" imgW="3327120" imgH="698400" progId="Equation.DSMT4">
                  <p:embed/>
                </p:oleObj>
              </mc:Choice>
              <mc:Fallback>
                <p:oleObj name="Equation" r:id="rId9" imgW="3327120" imgH="698400" progId="Equation.DSMT4">
                  <p:embed/>
                  <p:pic>
                    <p:nvPicPr>
                      <p:cNvPr id="0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717" y="5512028"/>
                        <a:ext cx="5822950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6814236"/>
      </p:ext>
    </p:extLst>
  </p:cSld>
  <p:clrMapOvr>
    <a:masterClrMapping/>
  </p:clrMapOvr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14358</TotalTime>
  <Pages>28</Pages>
  <Words>783</Words>
  <Application>Microsoft Office PowerPoint</Application>
  <PresentationFormat>Экран (4:3)</PresentationFormat>
  <Paragraphs>156</Paragraphs>
  <Slides>20</Slides>
  <Notes>7</Notes>
  <HiddenSlides>0</HiddenSlides>
  <MMClips>0</MMClips>
  <ScaleCrop>false</ScaleCrop>
  <HeadingPairs>
    <vt:vector size="6" baseType="variant"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PPT-TMPLT-WHT_C</vt:lpstr>
      <vt:lpstr>NetAcad-4F_PPT-WHT_060408</vt:lpstr>
      <vt:lpstr>Equation</vt:lpstr>
      <vt:lpstr>Разбиение сетей на подсети</vt:lpstr>
      <vt:lpstr>Широковещательный домен</vt:lpstr>
      <vt:lpstr>Широковещательный шторм</vt:lpstr>
      <vt:lpstr>Разделение IPv4-сети на подсети Необходимость разделения IP-сетей на подсети</vt:lpstr>
      <vt:lpstr>Сегментирование сети  Причины разделения на подсети</vt:lpstr>
      <vt:lpstr>Варианты разделения на подсети</vt:lpstr>
      <vt:lpstr>разделение с помощью масок одинаковой длины</vt:lpstr>
      <vt:lpstr>Правило разбиения</vt:lpstr>
      <vt:lpstr>Определение маски подсети Расчет количества узлов в подсетях </vt:lpstr>
      <vt:lpstr> Разделение на подсети масками одинаковой длины</vt:lpstr>
      <vt:lpstr>Результат разбиения</vt:lpstr>
      <vt:lpstr>Разделение IPv4-сети на подсети  Создание 4 подсетей</vt:lpstr>
      <vt:lpstr>Недостатки разбиения масками одинаковой длины </vt:lpstr>
      <vt:lpstr>Преимущества использования масок подсети переменной длины Маски подсети переменной длины (VLSM (variable length subnet mask))</vt:lpstr>
      <vt:lpstr>Разбиение на подсети</vt:lpstr>
      <vt:lpstr>Разбиение на подсети</vt:lpstr>
      <vt:lpstr>Разбиение на подсети</vt:lpstr>
      <vt:lpstr>Разбиение на подсети</vt:lpstr>
      <vt:lpstr>Разбиение на подсети</vt:lpstr>
      <vt:lpstr>Разбиение на подсети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vladimir</cp:lastModifiedBy>
  <cp:revision>948</cp:revision>
  <cp:lastPrinted>2021-02-04T06:59:35Z</cp:lastPrinted>
  <dcterms:created xsi:type="dcterms:W3CDTF">2006-10-23T15:07:30Z</dcterms:created>
  <dcterms:modified xsi:type="dcterms:W3CDTF">2026-09-18T03:00:55Z</dcterms:modified>
</cp:coreProperties>
</file>