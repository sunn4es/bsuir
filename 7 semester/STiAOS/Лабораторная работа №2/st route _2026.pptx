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50"/>
  </p:notesMasterIdLst>
  <p:handoutMasterIdLst>
    <p:handoutMasterId r:id="rId51"/>
  </p:handoutMasterIdLst>
  <p:sldIdLst>
    <p:sldId id="500" r:id="rId3"/>
    <p:sldId id="1076" r:id="rId4"/>
    <p:sldId id="1077" r:id="rId5"/>
    <p:sldId id="1078" r:id="rId6"/>
    <p:sldId id="1061" r:id="rId7"/>
    <p:sldId id="939" r:id="rId8"/>
    <p:sldId id="998" r:id="rId9"/>
    <p:sldId id="1064" r:id="rId10"/>
    <p:sldId id="1063" r:id="rId11"/>
    <p:sldId id="1021" r:id="rId12"/>
    <p:sldId id="1022" r:id="rId13"/>
    <p:sldId id="1023" r:id="rId14"/>
    <p:sldId id="1024" r:id="rId15"/>
    <p:sldId id="1025" r:id="rId16"/>
    <p:sldId id="1026" r:id="rId17"/>
    <p:sldId id="1027" r:id="rId18"/>
    <p:sldId id="1028" r:id="rId19"/>
    <p:sldId id="1073" r:id="rId20"/>
    <p:sldId id="1031" r:id="rId21"/>
    <p:sldId id="996" r:id="rId22"/>
    <p:sldId id="1015" r:id="rId23"/>
    <p:sldId id="897" r:id="rId24"/>
    <p:sldId id="1005" r:id="rId25"/>
    <p:sldId id="908" r:id="rId26"/>
    <p:sldId id="1074" r:id="rId27"/>
    <p:sldId id="1081" r:id="rId28"/>
    <p:sldId id="977" r:id="rId29"/>
    <p:sldId id="1052" r:id="rId30"/>
    <p:sldId id="1009" r:id="rId31"/>
    <p:sldId id="1053" r:id="rId32"/>
    <p:sldId id="1075" r:id="rId33"/>
    <p:sldId id="1010" r:id="rId34"/>
    <p:sldId id="1055" r:id="rId35"/>
    <p:sldId id="1082" r:id="rId36"/>
    <p:sldId id="1041" r:id="rId37"/>
    <p:sldId id="1042" r:id="rId38"/>
    <p:sldId id="1043" r:id="rId39"/>
    <p:sldId id="1044" r:id="rId40"/>
    <p:sldId id="961" r:id="rId41"/>
    <p:sldId id="962" r:id="rId42"/>
    <p:sldId id="963" r:id="rId43"/>
    <p:sldId id="935" r:id="rId44"/>
    <p:sldId id="1065" r:id="rId45"/>
    <p:sldId id="1066" r:id="rId46"/>
    <p:sldId id="1012" r:id="rId47"/>
    <p:sldId id="1013" r:id="rId48"/>
    <p:sldId id="1014" r:id="rId49"/>
  </p:sldIdLst>
  <p:sldSz cx="9144000" cy="6858000" type="screen4x3"/>
  <p:notesSz cx="6735763" cy="9866313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4" autoAdjust="0"/>
    <p:restoredTop sz="84587" autoAdjust="0"/>
  </p:normalViewPr>
  <p:slideViewPr>
    <p:cSldViewPr snapToGrid="0">
      <p:cViewPr>
        <p:scale>
          <a:sx n="66" d="100"/>
          <a:sy n="66" d="100"/>
        </p:scale>
        <p:origin x="1212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79" d="100"/>
          <a:sy n="79" d="100"/>
        </p:scale>
        <p:origin x="-2010" y="-90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5.xml"/><Relationship Id="rId3" Type="http://schemas.openxmlformats.org/officeDocument/2006/relationships/slide" Target="slides/slide14.xml"/><Relationship Id="rId7" Type="http://schemas.openxmlformats.org/officeDocument/2006/relationships/slide" Target="slides/slide32.xml"/><Relationship Id="rId2" Type="http://schemas.openxmlformats.org/officeDocument/2006/relationships/slide" Target="slides/slide13.xml"/><Relationship Id="rId1" Type="http://schemas.openxmlformats.org/officeDocument/2006/relationships/slide" Target="slides/slide12.xml"/><Relationship Id="rId6" Type="http://schemas.openxmlformats.org/officeDocument/2006/relationships/slide" Target="slides/slide31.xml"/><Relationship Id="rId5" Type="http://schemas.openxmlformats.org/officeDocument/2006/relationships/slide" Target="slides/slide27.xml"/><Relationship Id="rId4" Type="http://schemas.openxmlformats.org/officeDocument/2006/relationships/slide" Target="slides/slide2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005141" y="9136786"/>
            <a:ext cx="431662" cy="225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4912" y="9323801"/>
            <a:ext cx="2516759" cy="470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2006.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46430" y="9338964"/>
            <a:ext cx="639256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697028" y="9212602"/>
            <a:ext cx="780958" cy="304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44">
              <a:lnSpc>
                <a:spcPct val="100000"/>
              </a:lnSpc>
              <a:buNone/>
            </a:pPr>
            <a:fld id="{BCC1ECAD-6CE1-4897-9CEF-F2ECC9BEA19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005141" y="9136786"/>
            <a:ext cx="431662" cy="225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4912" y="9323801"/>
            <a:ext cx="3054792" cy="347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5667" tIns="50185" rIns="95667" bIns="50185">
            <a:spAutoFit/>
          </a:bodyPr>
          <a:lstStyle/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ru-RU" sz="800" b="0" i="0" noProof="0" smtClean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© Корпорация Cisco Systems, 2014. Все права защищены.</a:t>
            </a:r>
          </a:p>
          <a:p>
            <a:pPr algn="l" defTabSz="611185">
              <a:lnSpc>
                <a:spcPct val="100000"/>
              </a:lnSpc>
              <a:buNone/>
              <a:tabLst>
                <a:tab pos="2387600" algn="l"/>
                <a:tab pos="4830763" algn="l"/>
              </a:tabLst>
            </a:pPr>
            <a:r>
              <a:rPr lang="ru-RU" sz="800" b="0" i="0" noProof="0" smtClean="0">
                <a:solidFill>
                  <a:schemeClr val="tx1"/>
                </a:solidFill>
                <a:latin typeface="Arial"/>
                <a:ea typeface="+mn-ea"/>
                <a:cs typeface="+mn-cs"/>
              </a:rPr>
              <a:t>Presentation_ID.scr</a:t>
            </a:r>
            <a:endParaRPr lang="ru-RU" sz="800" b="0" i="0" noProof="0">
              <a:solidFill>
                <a:schemeClr val="tx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46430" y="9338964"/>
            <a:ext cx="639256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97028" y="9212602"/>
            <a:ext cx="780958" cy="304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71500" y="258763"/>
            <a:ext cx="5646738" cy="42370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8249" y="4646737"/>
            <a:ext cx="5254689" cy="451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F9034988-36DD-4D34-B1CE-37AB851117A5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954" y="4646737"/>
            <a:ext cx="5881590" cy="4513637"/>
          </a:xfrm>
          <a:noFill/>
          <a:ln/>
        </p:spPr>
        <p:txBody>
          <a:bodyPr/>
          <a:lstStyle/>
          <a:p>
            <a:pPr marL="112746" indent="-112746" algn="l" defTabSz="1020745">
              <a:buNone/>
            </a:pP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Программа Сетевой академии Cisco</a:t>
            </a:r>
          </a:p>
          <a:p>
            <a:pPr marL="112746" indent="-112746" algn="l" defTabSz="1020745">
              <a:buNone/>
            </a:pP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Протоколы маршрутизации</a:t>
            </a:r>
          </a:p>
          <a:p>
            <a:pPr marL="112746" indent="-112746" algn="l" defTabSz="1020745">
              <a:buNone/>
            </a:pPr>
            <a:r>
              <a:rPr lang="ru-RU" sz="13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Глава 4. Концепция маршрутизации</a:t>
            </a:r>
            <a:endParaRPr lang="ru-RU" b="1" noProof="0" dirty="0" smtClean="0"/>
          </a:p>
        </p:txBody>
      </p:sp>
    </p:spTree>
    <p:extLst>
      <p:ext uri="{BB962C8B-B14F-4D97-AF65-F5344CB8AC3E}">
        <p14:creationId xmlns:p14="http://schemas.microsoft.com/office/powerpoint/2010/main" val="1135643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 smtClean="0"/>
              <a:t>Общество Интернет (</a:t>
            </a:r>
            <a:r>
              <a:rPr lang="ru-RU" b="1" dirty="0" err="1" smtClean="0"/>
              <a:t>Internet</a:t>
            </a:r>
            <a:r>
              <a:rPr lang="ru-RU" b="1" dirty="0" smtClean="0"/>
              <a:t> </a:t>
            </a:r>
            <a:r>
              <a:rPr lang="ru-RU" b="1" dirty="0" err="1" smtClean="0"/>
              <a:t>Society</a:t>
            </a:r>
            <a:r>
              <a:rPr lang="ru-RU" b="1" dirty="0" smtClean="0"/>
              <a:t>, ISOC)</a:t>
            </a:r>
            <a:r>
              <a:rPr lang="ru-RU" dirty="0" smtClean="0"/>
              <a:t> отвечает за содействие открытой разработке и расширению использования Интернета во всем мире.</a:t>
            </a:r>
          </a:p>
          <a:p>
            <a:r>
              <a:rPr lang="ru-RU" b="1" dirty="0" smtClean="0"/>
              <a:t>Совет по архитектуре сети Интернет (</a:t>
            </a:r>
            <a:r>
              <a:rPr lang="ru-RU" b="1" dirty="0" err="1" smtClean="0"/>
              <a:t>Internet</a:t>
            </a:r>
            <a:r>
              <a:rPr lang="ru-RU" b="1" dirty="0" smtClean="0"/>
              <a:t> </a:t>
            </a:r>
            <a:r>
              <a:rPr lang="ru-RU" b="1" dirty="0" err="1" smtClean="0"/>
              <a:t>Architecture</a:t>
            </a:r>
            <a:r>
              <a:rPr lang="ru-RU" b="1" dirty="0" smtClean="0"/>
              <a:t> </a:t>
            </a:r>
            <a:r>
              <a:rPr lang="ru-RU" b="1" dirty="0" err="1" smtClean="0"/>
              <a:t>Board</a:t>
            </a:r>
            <a:r>
              <a:rPr lang="ru-RU" b="1" dirty="0" smtClean="0"/>
              <a:t>, IAB)</a:t>
            </a:r>
            <a:r>
              <a:rPr lang="ru-RU" dirty="0" smtClean="0"/>
              <a:t> отвечает за общее руководство и разработку интернет-стандартов.</a:t>
            </a:r>
          </a:p>
          <a:p>
            <a:r>
              <a:rPr lang="ru-RU" b="1" dirty="0" smtClean="0"/>
              <a:t>Инженерная группа по развитию Интернета (</a:t>
            </a:r>
            <a:r>
              <a:rPr lang="ru-RU" b="1" dirty="0" err="1" smtClean="0"/>
              <a:t>Internet</a:t>
            </a:r>
            <a:r>
              <a:rPr lang="ru-RU" b="1" dirty="0" smtClean="0"/>
              <a:t> </a:t>
            </a:r>
            <a:r>
              <a:rPr lang="ru-RU" b="1" dirty="0" err="1" smtClean="0"/>
              <a:t>Engineering</a:t>
            </a:r>
            <a:r>
              <a:rPr lang="ru-RU" b="1" dirty="0" smtClean="0"/>
              <a:t> </a:t>
            </a:r>
            <a:r>
              <a:rPr lang="ru-RU" b="1" dirty="0" err="1" smtClean="0"/>
              <a:t>Task</a:t>
            </a:r>
            <a:r>
              <a:rPr lang="ru-RU" b="1" dirty="0" smtClean="0"/>
              <a:t> </a:t>
            </a:r>
            <a:r>
              <a:rPr lang="ru-RU" b="1" dirty="0" err="1" smtClean="0"/>
              <a:t>Force</a:t>
            </a:r>
            <a:r>
              <a:rPr lang="ru-RU" b="1" dirty="0" smtClean="0"/>
              <a:t>, IETF)</a:t>
            </a:r>
            <a:r>
              <a:rPr lang="ru-RU" dirty="0" smtClean="0"/>
              <a:t> разрабатывает, обновляет и поддерживает технологии Интернета и TCP/IP. Она также выпускает документы для разработки новых и обновления существующих протоколов, известные как «Рабочие предложения» (</a:t>
            </a:r>
            <a:r>
              <a:rPr lang="ru-RU" dirty="0" err="1" smtClean="0"/>
              <a:t>Request</a:t>
            </a:r>
            <a:r>
              <a:rPr lang="ru-RU" dirty="0" smtClean="0"/>
              <a:t> </a:t>
            </a:r>
            <a:r>
              <a:rPr lang="ru-RU" dirty="0" err="1" smtClean="0"/>
              <a:t>for</a:t>
            </a:r>
            <a:r>
              <a:rPr lang="ru-RU" dirty="0" smtClean="0"/>
              <a:t> </a:t>
            </a:r>
            <a:r>
              <a:rPr lang="ru-RU" dirty="0" err="1" smtClean="0"/>
              <a:t>Comments</a:t>
            </a:r>
            <a:r>
              <a:rPr lang="ru-RU" dirty="0" smtClean="0"/>
              <a:t>, RFC).</a:t>
            </a:r>
          </a:p>
          <a:p>
            <a:r>
              <a:rPr lang="ru-RU" b="1" dirty="0" smtClean="0"/>
              <a:t>Исследовательская группа интернет-технологий (</a:t>
            </a:r>
            <a:r>
              <a:rPr lang="en-US" b="1" dirty="0" smtClean="0"/>
              <a:t>Internet Research Task Force, IRTF)</a:t>
            </a:r>
            <a:r>
              <a:rPr lang="en-US" dirty="0" smtClean="0"/>
              <a:t>, </a:t>
            </a:r>
            <a:r>
              <a:rPr lang="ru-RU" dirty="0" smtClean="0"/>
              <a:t>проводящая долгосрочные исследования Интернета и протоколов </a:t>
            </a:r>
            <a:r>
              <a:rPr lang="en-US" dirty="0" smtClean="0"/>
              <a:t>TCP/IP, </a:t>
            </a:r>
            <a:r>
              <a:rPr lang="ru-RU" dirty="0" smtClean="0"/>
              <a:t>включает в себя Группу исследования защиты от спама (</a:t>
            </a:r>
            <a:r>
              <a:rPr lang="en-US" dirty="0" smtClean="0"/>
              <a:t>Anti-Spam Research Group, ASRG), </a:t>
            </a:r>
            <a:r>
              <a:rPr lang="ru-RU" dirty="0" smtClean="0"/>
              <a:t>Группу исследования криптографической защиты (</a:t>
            </a:r>
            <a:r>
              <a:rPr lang="en-US" dirty="0" smtClean="0"/>
              <a:t>Crypto Forum Research Group, CFRG) </a:t>
            </a:r>
            <a:r>
              <a:rPr lang="ru-RU" dirty="0" smtClean="0"/>
              <a:t>и Группу исследования </a:t>
            </a:r>
            <a:r>
              <a:rPr lang="ru-RU" dirty="0" err="1" smtClean="0"/>
              <a:t>одноранговых</a:t>
            </a:r>
            <a:r>
              <a:rPr lang="ru-RU" dirty="0" smtClean="0"/>
              <a:t> сетей (</a:t>
            </a:r>
            <a:r>
              <a:rPr lang="en-US" dirty="0" smtClean="0"/>
              <a:t>Peer-to-Peer Research Group, P2PRG).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532F71-2340-EB42-9513-093D0C3453B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43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организации, работающие с </a:t>
            </a:r>
            <a:r>
              <a:rPr lang="ru-RU" dirty="0" err="1" smtClean="0"/>
              <a:t>IP</a:t>
            </a:r>
            <a:r>
              <a:rPr lang="ru-RU" dirty="0" smtClean="0"/>
              <a:t>-адресами </a:t>
            </a:r>
          </a:p>
          <a:p>
            <a:r>
              <a:rPr lang="ru-RU" dirty="0" smtClean="0"/>
              <a:t>организации, работающие с доменными именами </a:t>
            </a:r>
          </a:p>
          <a:p>
            <a:r>
              <a:rPr lang="ru-RU" dirty="0" smtClean="0"/>
              <a:t>менеджеры доменов высшего уровня страны (специальное исключение, как объясняется внизу страницы).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532F71-2340-EB42-9513-093D0C3453B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85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3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09" indent="-285734" defTabSz="90323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2937" indent="-228587" defTabSz="90323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111" indent="-228587" defTabSz="90323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287" indent="-228587" defTabSz="903239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461" indent="-228587" algn="ctr" defTabSz="90323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635" indent="-228587" algn="ctr" defTabSz="90323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8811" indent="-228587" algn="ctr" defTabSz="90323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5985" indent="-228587" algn="ctr" defTabSz="90323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903194"/>
            <a:fld id="{4D9FE341-CDAE-0646-B9FA-BCFE31716F80}" type="slidenum">
              <a:rPr lang="en-US" sz="800">
                <a:solidFill>
                  <a:prstClr val="black"/>
                </a:solidFill>
                <a:latin typeface="Arial"/>
                <a:ea typeface="ＭＳ Ｐゴシック"/>
                <a:cs typeface="+mn-cs"/>
              </a:rPr>
              <a:pPr defTabSz="903194"/>
              <a:t>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40" indent="-112740" defTabSz="1020688">
              <a:lnSpc>
                <a:spcPct val="80000"/>
              </a:lnSpc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Ай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трипл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и</a:t>
            </a:r>
            <a:endParaRPr lang="en-US" dirty="0">
              <a:solidFill>
                <a:srgbClr val="000000"/>
              </a:solidFill>
              <a:latin typeface="Arial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562035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1600" b="0" i="0" dirty="0" err="1" smtClean="0">
                <a:solidFill>
                  <a:srgbClr val="000000"/>
                </a:solidFill>
                <a:latin typeface="Arial"/>
              </a:rPr>
              <a:t>Маршрутизаторы</a:t>
            </a: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 — это специализированные компьютеры, оборудованные следующими компонентами:</a:t>
            </a:r>
          </a:p>
          <a:p>
            <a:pPr marL="723900" lvl="1" indent="-266700" algn="l" defTabSz="814365"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16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Центральный процессор (ЦП);</a:t>
            </a:r>
          </a:p>
          <a:p>
            <a:pPr marL="723900" lvl="1" indent="-266700" algn="l" defTabSz="814365"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16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Операционная система (ОС) — </a:t>
            </a:r>
            <a:r>
              <a:rPr lang="ru-RU" sz="1600" b="0" i="0" dirty="0" err="1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Cisco</a:t>
            </a:r>
            <a:r>
              <a:rPr lang="ru-RU" sz="16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IOS;</a:t>
            </a:r>
          </a:p>
          <a:p>
            <a:pPr marL="723900" lvl="1" indent="-266700" algn="l" defTabSz="814365"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ru-RU" sz="16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Память и хранилище данных (ОЗУ, ПЗУ, энергонезависимое ОЗУ, </a:t>
            </a:r>
            <a:r>
              <a:rPr lang="ru-RU" sz="1600" b="0" i="0" dirty="0" err="1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флеш-память</a:t>
            </a:r>
            <a:r>
              <a:rPr lang="ru-RU" sz="16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, жесткий диск).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440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E2906053-E8A2-4DAD-B57C-C8945C1AD1DD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marR="0" indent="-112746" algn="l" defTabSz="1020745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4.2.1 Коммутация пакетов между сетями</a:t>
            </a:r>
            <a:endParaRPr lang="ru-RU" b="1" baseline="0" noProof="0" dirty="0" smtClean="0"/>
          </a:p>
          <a:p>
            <a:pPr marL="112746" marR="0" indent="-112746" algn="l" defTabSz="1020745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baseline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4.2.1.1 </a:t>
            </a: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Функции коммутации маршрутизатора</a:t>
            </a:r>
            <a:endParaRPr lang="ru-RU" b="1" noProof="0" dirty="0" smtClean="0"/>
          </a:p>
        </p:txBody>
      </p:sp>
    </p:spTree>
    <p:extLst>
      <p:ext uri="{BB962C8B-B14F-4D97-AF65-F5344CB8AC3E}">
        <p14:creationId xmlns:p14="http://schemas.microsoft.com/office/powerpoint/2010/main" val="2330179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DBE9C86-8F91-408C-8823-75B6B5CDDFF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12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4.2.2</a:t>
            </a:r>
            <a:r>
              <a:rPr lang="ru-RU" sz="1200" b="1" i="0" baseline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Определение пути</a:t>
            </a: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baseline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4.2.2.2 Оптимальный путь</a:t>
            </a: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endParaRPr lang="ru-RU" noProof="0" dirty="0" smtClean="0"/>
          </a:p>
        </p:txBody>
      </p:sp>
    </p:spTree>
    <p:extLst>
      <p:ext uri="{BB962C8B-B14F-4D97-AF65-F5344CB8AC3E}">
        <p14:creationId xmlns:p14="http://schemas.microsoft.com/office/powerpoint/2010/main" val="1848085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DBE9C86-8F91-408C-8823-75B6B5CDDFF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13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1200" dirty="0" smtClean="0"/>
              <a:t>Если на маршрутизаторе с помощью различных протоколов маршрутизации, основанных на различных метриках, настроено несколько маршрутов к одной и той же сети, то какой маршрут предпочтительней?</a:t>
            </a:r>
          </a:p>
          <a:p>
            <a:r>
              <a:rPr lang="ru-RU" sz="1200" dirty="0" smtClean="0"/>
              <a:t>Для сравнительной оценки маршрутов, построенных с помощью различных протоколов маршрутизации  в с операционной системе </a:t>
            </a:r>
            <a:r>
              <a:rPr lang="ru-RU" sz="1200" dirty="0" err="1" smtClean="0"/>
              <a:t>Cisco</a:t>
            </a:r>
            <a:r>
              <a:rPr lang="ru-RU" sz="1200" dirty="0" smtClean="0"/>
              <a:t> IOS административное расстояние (AD). Административное расстояние представляет «надёжность» маршрута; чем меньше его значение, тем более надёжным является источник маршрута. На рисунке приведены различные протоколы маршрутизации и соответствующие им значения AD.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sz="1200" b="0" i="0" u="none" strike="noStrike" kern="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noProof="0" dirty="0" smtClean="0"/>
              <a:t>!!!!! </a:t>
            </a:r>
            <a:r>
              <a:rPr lang="en-US" noProof="0" dirty="0" smtClean="0"/>
              <a:t>http://</a:t>
            </a:r>
            <a:r>
              <a:rPr lang="en-US" noProof="0" dirty="0" err="1" smtClean="0"/>
              <a:t>ciscotips.ru</a:t>
            </a:r>
            <a:r>
              <a:rPr lang="en-US" noProof="0" dirty="0" smtClean="0"/>
              <a:t>/</a:t>
            </a:r>
            <a:r>
              <a:rPr lang="en-US" noProof="0" dirty="0" err="1" smtClean="0"/>
              <a:t>administrative-distance?attempt</a:t>
            </a:r>
            <a:r>
              <a:rPr lang="en-US" noProof="0" smtClean="0"/>
              <a:t>=1</a:t>
            </a:r>
            <a:endParaRPr lang="ru-RU" noProof="0" dirty="0" smtClean="0"/>
          </a:p>
          <a:p>
            <a:r>
              <a:rPr lang="ru-RU" b="1" dirty="0" smtClean="0"/>
              <a:t>Административная дистанция позволяет маршрутизатору выбрать один из нескольких маршрутов, ведущих в одну и ту же удалённую сеть в том случае, если маршруты получены из разных источников, или из разных протоколов маршрутизации.</a:t>
            </a:r>
          </a:p>
          <a:p>
            <a:r>
              <a:rPr lang="ru-RU" dirty="0" smtClean="0"/>
              <a:t>Давайте задумаемся над сравнением маршрутов. Предположим, работает протокол </a:t>
            </a:r>
            <a:r>
              <a:rPr lang="ru-RU" dirty="0" err="1" smtClean="0"/>
              <a:t>RIP</a:t>
            </a:r>
            <a:r>
              <a:rPr lang="ru-RU" dirty="0" smtClean="0"/>
              <a:t>. Как известно, в </a:t>
            </a:r>
            <a:r>
              <a:rPr lang="ru-RU" dirty="0" err="1" smtClean="0"/>
              <a:t>RIP</a:t>
            </a:r>
            <a:r>
              <a:rPr lang="ru-RU" dirty="0" smtClean="0"/>
              <a:t> считается метрика для каждого маршрута, равная количеству </a:t>
            </a:r>
            <a:r>
              <a:rPr lang="ru-RU" dirty="0" err="1" smtClean="0"/>
              <a:t>хопов</a:t>
            </a:r>
            <a:r>
              <a:rPr lang="ru-RU" dirty="0" smtClean="0"/>
              <a:t> (промежуточных маршрутизаторов). Допустим, в одну и ту же сеть есть два маршрута из </a:t>
            </a:r>
            <a:r>
              <a:rPr lang="ru-RU" dirty="0" err="1" smtClean="0"/>
              <a:t>RIP</a:t>
            </a:r>
            <a:r>
              <a:rPr lang="ru-RU" dirty="0" smtClean="0"/>
              <a:t>-а: один – с метрикой 4, другой – с метрикой 7. В этом случае всё понятно, тот что с метрикой 4 лучше и именно он попадёт в таблицу маршрутизации.</a:t>
            </a:r>
          </a:p>
          <a:p>
            <a:r>
              <a:rPr lang="ru-RU" dirty="0" smtClean="0"/>
              <a:t>Но что же делать, если на одном маршрутизаторе работает несколько протоколов маршрутизации и каждый из них «предлагает» разместить его маршруты в таблице маршрутизации? Предположим, что работают два протокола: </a:t>
            </a:r>
            <a:r>
              <a:rPr lang="ru-RU" dirty="0" err="1" smtClean="0"/>
              <a:t>EIGRP</a:t>
            </a:r>
            <a:r>
              <a:rPr lang="ru-RU" dirty="0" smtClean="0"/>
              <a:t> и </a:t>
            </a:r>
            <a:r>
              <a:rPr lang="ru-RU" dirty="0" err="1" smtClean="0"/>
              <a:t>RIP</a:t>
            </a:r>
            <a:r>
              <a:rPr lang="ru-RU" dirty="0" smtClean="0"/>
              <a:t>. И в одну и ту же сеть они предлагают свои маршруты </a:t>
            </a:r>
            <a:r>
              <a:rPr lang="ru-RU" dirty="0" err="1" smtClean="0"/>
              <a:t>RIP</a:t>
            </a:r>
            <a:r>
              <a:rPr lang="ru-RU" dirty="0" smtClean="0"/>
              <a:t>, посчитав метрику по своему алгоритму, сообщает что она равна 4, а </a:t>
            </a:r>
            <a:r>
              <a:rPr lang="ru-RU" dirty="0" err="1" smtClean="0"/>
              <a:t>EIGRP</a:t>
            </a:r>
            <a:r>
              <a:rPr lang="ru-RU" dirty="0" smtClean="0"/>
              <a:t>, по своему алгоритму (с использованием коэффициентов </a:t>
            </a:r>
            <a:r>
              <a:rPr lang="ru-RU" dirty="0" err="1" smtClean="0"/>
              <a:t>EIGRP</a:t>
            </a:r>
            <a:r>
              <a:rPr lang="ru-RU" dirty="0" smtClean="0"/>
              <a:t> </a:t>
            </a:r>
            <a:r>
              <a:rPr lang="ru-RU" dirty="0" err="1" smtClean="0"/>
              <a:t>k1</a:t>
            </a:r>
            <a:r>
              <a:rPr lang="ru-RU" dirty="0" smtClean="0"/>
              <a:t>, </a:t>
            </a:r>
            <a:r>
              <a:rPr lang="ru-RU" dirty="0" err="1" smtClean="0"/>
              <a:t>k2</a:t>
            </a:r>
            <a:r>
              <a:rPr lang="ru-RU" dirty="0" smtClean="0"/>
              <a:t>, </a:t>
            </a:r>
            <a:r>
              <a:rPr lang="ru-RU" dirty="0" err="1" smtClean="0"/>
              <a:t>k3</a:t>
            </a:r>
            <a:r>
              <a:rPr lang="ru-RU" dirty="0" smtClean="0"/>
              <a:t>, </a:t>
            </a:r>
            <a:r>
              <a:rPr lang="ru-RU" dirty="0" err="1" smtClean="0"/>
              <a:t>k4</a:t>
            </a:r>
            <a:r>
              <a:rPr lang="ru-RU" dirty="0" smtClean="0"/>
              <a:t>, </a:t>
            </a:r>
            <a:r>
              <a:rPr lang="ru-RU" dirty="0" err="1" smtClean="0"/>
              <a:t>k5</a:t>
            </a:r>
            <a:r>
              <a:rPr lang="ru-RU" dirty="0" smtClean="0"/>
              <a:t>), сообщает, что метрика равна 156160. Понятно, что эти два числа нельзя сравнивать напрямую, так как у них совершенно разный смысл: первое олицетворяет количество </a:t>
            </a:r>
            <a:r>
              <a:rPr lang="ru-RU" dirty="0" err="1" smtClean="0"/>
              <a:t>хопов</a:t>
            </a:r>
            <a:r>
              <a:rPr lang="ru-RU" dirty="0" smtClean="0"/>
              <a:t>, а второе – нагрузку на канал, пропускную способность, задержку и другие параметры. Чтобы разрешить эту проблему и существует административная дистанция. Есть таблица, которая для каждого источника маршрутов приводит в соответствие число – административную дистанцию. Чем она меньше, тем «надёжнее» считается данный источник маршрутов. Соответственно, не глядя на метрику, будет выбран протокол с меньшей административной дистанцией. </a:t>
            </a:r>
            <a:r>
              <a:rPr lang="ru-RU" b="1" dirty="0" smtClean="0"/>
              <a:t>Административная дистанция является своего рода степенью доверия к протоколу</a:t>
            </a:r>
            <a:r>
              <a:rPr lang="ru-RU" dirty="0" smtClean="0"/>
              <a:t>. Например, старый </a:t>
            </a:r>
            <a:r>
              <a:rPr lang="ru-RU" dirty="0" err="1" smtClean="0"/>
              <a:t>RIP</a:t>
            </a:r>
            <a:r>
              <a:rPr lang="ru-RU" dirty="0" smtClean="0"/>
              <a:t> находится внизу таблицы, то есть доверие к нему невелико, и разработанный компанией </a:t>
            </a:r>
            <a:r>
              <a:rPr lang="ru-RU" dirty="0" err="1" smtClean="0"/>
              <a:t>Cisco</a:t>
            </a:r>
            <a:r>
              <a:rPr lang="ru-RU" dirty="0" smtClean="0"/>
              <a:t> </a:t>
            </a:r>
            <a:r>
              <a:rPr lang="ru-RU" dirty="0" err="1" smtClean="0"/>
              <a:t>EIGRP</a:t>
            </a:r>
            <a:r>
              <a:rPr lang="ru-RU" dirty="0" smtClean="0"/>
              <a:t> – один из самых приоритетных.</a:t>
            </a:r>
          </a:p>
          <a:p>
            <a:r>
              <a:rPr lang="ru-RU" dirty="0" smtClean="0"/>
              <a:t>Источник </a:t>
            </a:r>
            <a:r>
              <a:rPr lang="ru-RU" dirty="0" err="1" smtClean="0"/>
              <a:t>маршрутаАдминистративная</a:t>
            </a:r>
            <a:r>
              <a:rPr lang="ru-RU" dirty="0" smtClean="0"/>
              <a:t> дистанция </a:t>
            </a:r>
            <a:r>
              <a:rPr lang="ru-RU" dirty="0" err="1" smtClean="0"/>
              <a:t>Connected</a:t>
            </a:r>
            <a:r>
              <a:rPr lang="ru-RU" dirty="0" smtClean="0"/>
              <a:t> (непосредственно подключенная сеть)</a:t>
            </a:r>
            <a:r>
              <a:rPr lang="ru-RU" dirty="0" err="1" smtClean="0"/>
              <a:t>0Static</a:t>
            </a:r>
            <a:r>
              <a:rPr lang="ru-RU" dirty="0" smtClean="0"/>
              <a:t> (статический маршрут)</a:t>
            </a:r>
            <a:r>
              <a:rPr lang="ru-RU" dirty="0" err="1" smtClean="0"/>
              <a:t>1EIGRP</a:t>
            </a:r>
            <a:r>
              <a:rPr lang="ru-RU" dirty="0" smtClean="0"/>
              <a:t> </a:t>
            </a:r>
            <a:r>
              <a:rPr lang="ru-RU" dirty="0" err="1" smtClean="0"/>
              <a:t>summary5External</a:t>
            </a:r>
            <a:r>
              <a:rPr lang="ru-RU" dirty="0" smtClean="0"/>
              <a:t> </a:t>
            </a:r>
            <a:r>
              <a:rPr lang="ru-RU" dirty="0" err="1" smtClean="0"/>
              <a:t>BGP20Internal</a:t>
            </a:r>
            <a:r>
              <a:rPr lang="ru-RU" dirty="0" smtClean="0"/>
              <a:t> </a:t>
            </a:r>
            <a:r>
              <a:rPr lang="ru-RU" dirty="0" err="1" smtClean="0"/>
              <a:t>EIGRP90IGRP100OSPF110IS-IS115RIP120External</a:t>
            </a:r>
            <a:r>
              <a:rPr lang="ru-RU" dirty="0" smtClean="0"/>
              <a:t> </a:t>
            </a:r>
            <a:r>
              <a:rPr lang="ru-RU" dirty="0" err="1" smtClean="0"/>
              <a:t>EIGRP170Internal</a:t>
            </a:r>
            <a:r>
              <a:rPr lang="ru-RU" dirty="0" smtClean="0"/>
              <a:t> </a:t>
            </a:r>
            <a:r>
              <a:rPr lang="ru-RU" dirty="0" err="1" smtClean="0"/>
              <a:t>BGP200Таким</a:t>
            </a:r>
            <a:r>
              <a:rPr lang="ru-RU" dirty="0" smtClean="0"/>
              <a:t> образом, если в некую сеть имеется несколько маршрутов, из разных источников (разных протоколов), то сначала выбирается протокол с наименьшей административной дистанцией, а затем уже, среди его маршрутов выбирается тот, у которого минимальная метрика. Приведённые в таблице значения являются стандартными и могут быть переопределены, однако, в курсе </a:t>
            </a:r>
            <a:r>
              <a:rPr lang="ru-RU" dirty="0" err="1" smtClean="0"/>
              <a:t>CCNA</a:t>
            </a:r>
            <a:r>
              <a:rPr lang="ru-RU" dirty="0" smtClean="0"/>
              <a:t> этого делать не требуется. </a:t>
            </a:r>
          </a:p>
          <a:p>
            <a:r>
              <a:rPr lang="ru-RU" dirty="0" smtClean="0"/>
              <a:t>В выводе команды </a:t>
            </a:r>
            <a:r>
              <a:rPr lang="ru-RU" dirty="0" err="1" smtClean="0"/>
              <a:t>show</a:t>
            </a:r>
            <a:r>
              <a:rPr lang="ru-RU" dirty="0" smtClean="0"/>
              <a:t> </a:t>
            </a:r>
            <a:r>
              <a:rPr lang="ru-RU" dirty="0" err="1" smtClean="0"/>
              <a:t>ip</a:t>
            </a:r>
            <a:r>
              <a:rPr lang="ru-RU" dirty="0" smtClean="0"/>
              <a:t> </a:t>
            </a:r>
            <a:r>
              <a:rPr lang="ru-RU" dirty="0" err="1" smtClean="0"/>
              <a:t>protocols</a:t>
            </a:r>
            <a:r>
              <a:rPr lang="ru-RU" dirty="0" smtClean="0"/>
              <a:t>, можно увидеть дистанцию для того или иного протокола (из числа тех, что работают в настоящий момент на маршрутизаторе):</a:t>
            </a:r>
          </a:p>
          <a:p>
            <a:r>
              <a:rPr lang="ru-RU" dirty="0" err="1" smtClean="0"/>
              <a:t>Router#show</a:t>
            </a:r>
            <a:r>
              <a:rPr lang="ru-RU" dirty="0" smtClean="0"/>
              <a:t> </a:t>
            </a:r>
            <a:r>
              <a:rPr lang="ru-RU" dirty="0" err="1" smtClean="0"/>
              <a:t>ip</a:t>
            </a:r>
            <a:r>
              <a:rPr lang="ru-RU" dirty="0" smtClean="0"/>
              <a:t> </a:t>
            </a:r>
            <a:r>
              <a:rPr lang="ru-RU" dirty="0" err="1" smtClean="0"/>
              <a:t>protocols</a:t>
            </a:r>
            <a:r>
              <a:rPr lang="ru-RU" dirty="0" smtClean="0"/>
              <a:t> </a:t>
            </a:r>
            <a:r>
              <a:rPr lang="ru-RU" dirty="0" err="1" smtClean="0"/>
              <a:t>Routing</a:t>
            </a:r>
            <a:r>
              <a:rPr lang="ru-RU" dirty="0" smtClean="0"/>
              <a:t> </a:t>
            </a:r>
            <a:r>
              <a:rPr lang="ru-RU" dirty="0" err="1" smtClean="0"/>
              <a:t>Protocol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"</a:t>
            </a:r>
            <a:r>
              <a:rPr lang="ru-RU" dirty="0" err="1" smtClean="0"/>
              <a:t>rip</a:t>
            </a:r>
            <a:r>
              <a:rPr lang="ru-RU" dirty="0" smtClean="0"/>
              <a:t>" </a:t>
            </a:r>
            <a:r>
              <a:rPr lang="ru-RU" dirty="0" err="1" smtClean="0"/>
              <a:t>Sending</a:t>
            </a:r>
            <a:r>
              <a:rPr lang="ru-RU" dirty="0" smtClean="0"/>
              <a:t> </a:t>
            </a:r>
            <a:r>
              <a:rPr lang="ru-RU" dirty="0" err="1" smtClean="0"/>
              <a:t>updates</a:t>
            </a:r>
            <a:r>
              <a:rPr lang="ru-RU" dirty="0" smtClean="0"/>
              <a:t> </a:t>
            </a:r>
            <a:r>
              <a:rPr lang="ru-RU" dirty="0" err="1" smtClean="0"/>
              <a:t>every</a:t>
            </a:r>
            <a:r>
              <a:rPr lang="ru-RU" dirty="0" smtClean="0"/>
              <a:t> 30 </a:t>
            </a:r>
            <a:r>
              <a:rPr lang="ru-RU" dirty="0" err="1" smtClean="0"/>
              <a:t>seconds</a:t>
            </a:r>
            <a:r>
              <a:rPr lang="ru-RU" dirty="0" smtClean="0"/>
              <a:t>, </a:t>
            </a:r>
            <a:r>
              <a:rPr lang="ru-RU" dirty="0" err="1" smtClean="0"/>
              <a:t>next</a:t>
            </a:r>
            <a:r>
              <a:rPr lang="ru-RU" dirty="0" smtClean="0"/>
              <a:t> </a:t>
            </a:r>
            <a:r>
              <a:rPr lang="ru-RU" dirty="0" err="1" smtClean="0"/>
              <a:t>due</a:t>
            </a:r>
            <a:r>
              <a:rPr lang="ru-RU" dirty="0" smtClean="0"/>
              <a:t> </a:t>
            </a:r>
            <a:r>
              <a:rPr lang="ru-RU" dirty="0" err="1" smtClean="0"/>
              <a:t>in</a:t>
            </a:r>
            <a:r>
              <a:rPr lang="ru-RU" dirty="0" smtClean="0"/>
              <a:t> 16 </a:t>
            </a:r>
            <a:r>
              <a:rPr lang="ru-RU" dirty="0" err="1" smtClean="0"/>
              <a:t>seconds</a:t>
            </a:r>
            <a:r>
              <a:rPr lang="ru-RU" dirty="0" smtClean="0"/>
              <a:t> </a:t>
            </a:r>
            <a:r>
              <a:rPr lang="ru-RU" dirty="0" err="1" smtClean="0"/>
              <a:t>Invalid</a:t>
            </a:r>
            <a:r>
              <a:rPr lang="ru-RU" dirty="0" smtClean="0"/>
              <a:t> </a:t>
            </a:r>
            <a:r>
              <a:rPr lang="ru-RU" dirty="0" err="1" smtClean="0"/>
              <a:t>after</a:t>
            </a:r>
            <a:r>
              <a:rPr lang="ru-RU" dirty="0" smtClean="0"/>
              <a:t> 180 </a:t>
            </a:r>
            <a:r>
              <a:rPr lang="ru-RU" dirty="0" err="1" smtClean="0"/>
              <a:t>seconds</a:t>
            </a:r>
            <a:r>
              <a:rPr lang="ru-RU" dirty="0" smtClean="0"/>
              <a:t>, </a:t>
            </a:r>
            <a:r>
              <a:rPr lang="ru-RU" dirty="0" err="1" smtClean="0"/>
              <a:t>hold</a:t>
            </a:r>
            <a:r>
              <a:rPr lang="ru-RU" dirty="0" smtClean="0"/>
              <a:t> </a:t>
            </a:r>
            <a:r>
              <a:rPr lang="ru-RU" dirty="0" err="1" smtClean="0"/>
              <a:t>down</a:t>
            </a:r>
            <a:r>
              <a:rPr lang="ru-RU" dirty="0" smtClean="0"/>
              <a:t> 180, </a:t>
            </a:r>
            <a:r>
              <a:rPr lang="ru-RU" dirty="0" err="1" smtClean="0"/>
              <a:t>flushed</a:t>
            </a:r>
            <a:r>
              <a:rPr lang="ru-RU" dirty="0" smtClean="0"/>
              <a:t> </a:t>
            </a:r>
            <a:r>
              <a:rPr lang="ru-RU" dirty="0" err="1" smtClean="0"/>
              <a:t>after</a:t>
            </a:r>
            <a:r>
              <a:rPr lang="ru-RU" dirty="0" smtClean="0"/>
              <a:t> 240 … </a:t>
            </a:r>
            <a:r>
              <a:rPr lang="ru-RU" dirty="0" err="1" smtClean="0"/>
              <a:t>Distance</a:t>
            </a:r>
            <a:r>
              <a:rPr lang="ru-RU" dirty="0" smtClean="0"/>
              <a:t>: (</a:t>
            </a:r>
            <a:r>
              <a:rPr lang="ru-RU" dirty="0" err="1" smtClean="0"/>
              <a:t>default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120) </a:t>
            </a:r>
            <a:r>
              <a:rPr lang="ru-RU" dirty="0" err="1" smtClean="0"/>
              <a:t>Router</a:t>
            </a:r>
            <a:r>
              <a:rPr lang="ru-RU" dirty="0" smtClean="0"/>
              <a:t>#</a:t>
            </a:r>
          </a:p>
          <a:p>
            <a:r>
              <a:rPr lang="ru-RU" dirty="0" smtClean="0"/>
              <a:t>В выводе команды </a:t>
            </a:r>
            <a:r>
              <a:rPr lang="ru-RU" dirty="0" err="1" smtClean="0"/>
              <a:t>show</a:t>
            </a:r>
            <a:r>
              <a:rPr lang="ru-RU" dirty="0" smtClean="0"/>
              <a:t> </a:t>
            </a:r>
            <a:r>
              <a:rPr lang="ru-RU" dirty="0" err="1" smtClean="0"/>
              <a:t>ip</a:t>
            </a:r>
            <a:r>
              <a:rPr lang="ru-RU" dirty="0" smtClean="0"/>
              <a:t> </a:t>
            </a:r>
            <a:r>
              <a:rPr lang="ru-RU" dirty="0" err="1" smtClean="0"/>
              <a:t>route</a:t>
            </a:r>
            <a:r>
              <a:rPr lang="ru-RU" dirty="0" smtClean="0"/>
              <a:t>, можно увидеть административную дистанцию и метрику для маршрутов:</a:t>
            </a:r>
          </a:p>
          <a:p>
            <a:r>
              <a:rPr lang="ru-RU" dirty="0" err="1" smtClean="0"/>
              <a:t>Router#show</a:t>
            </a:r>
            <a:r>
              <a:rPr lang="ru-RU" dirty="0" smtClean="0"/>
              <a:t> </a:t>
            </a:r>
            <a:r>
              <a:rPr lang="ru-RU" dirty="0" err="1" smtClean="0"/>
              <a:t>ip</a:t>
            </a:r>
            <a:r>
              <a:rPr lang="ru-RU" dirty="0" smtClean="0"/>
              <a:t> </a:t>
            </a:r>
            <a:r>
              <a:rPr lang="ru-RU" dirty="0" err="1" smtClean="0"/>
              <a:t>route</a:t>
            </a:r>
            <a:r>
              <a:rPr lang="ru-RU" dirty="0" smtClean="0"/>
              <a:t> </a:t>
            </a:r>
            <a:r>
              <a:rPr lang="ru-RU" dirty="0" err="1" smtClean="0"/>
              <a:t>Codes</a:t>
            </a:r>
            <a:r>
              <a:rPr lang="ru-RU" dirty="0" smtClean="0"/>
              <a:t>: C - </a:t>
            </a:r>
            <a:r>
              <a:rPr lang="ru-RU" dirty="0" err="1" smtClean="0"/>
              <a:t>connected</a:t>
            </a:r>
            <a:r>
              <a:rPr lang="ru-RU" dirty="0" smtClean="0"/>
              <a:t>, S - </a:t>
            </a:r>
            <a:r>
              <a:rPr lang="ru-RU" dirty="0" err="1" smtClean="0"/>
              <a:t>static</a:t>
            </a:r>
            <a:r>
              <a:rPr lang="ru-RU" dirty="0" smtClean="0"/>
              <a:t>, I - </a:t>
            </a:r>
            <a:r>
              <a:rPr lang="ru-RU" dirty="0" err="1" smtClean="0"/>
              <a:t>IGRP</a:t>
            </a:r>
            <a:r>
              <a:rPr lang="ru-RU" dirty="0" smtClean="0"/>
              <a:t>, R - </a:t>
            </a:r>
            <a:r>
              <a:rPr lang="ru-RU" dirty="0" err="1" smtClean="0"/>
              <a:t>RIP</a:t>
            </a:r>
            <a:r>
              <a:rPr lang="ru-RU" dirty="0" smtClean="0"/>
              <a:t>, M - </a:t>
            </a:r>
            <a:r>
              <a:rPr lang="ru-RU" dirty="0" err="1" smtClean="0"/>
              <a:t>mobile</a:t>
            </a:r>
            <a:r>
              <a:rPr lang="ru-RU" dirty="0" smtClean="0"/>
              <a:t>, B - </a:t>
            </a:r>
            <a:r>
              <a:rPr lang="ru-RU" dirty="0" err="1" smtClean="0"/>
              <a:t>BGP</a:t>
            </a:r>
            <a:r>
              <a:rPr lang="ru-RU" dirty="0" smtClean="0"/>
              <a:t> D - </a:t>
            </a:r>
            <a:r>
              <a:rPr lang="ru-RU" dirty="0" err="1" smtClean="0"/>
              <a:t>EIGRP</a:t>
            </a:r>
            <a:r>
              <a:rPr lang="ru-RU" dirty="0" smtClean="0"/>
              <a:t>, </a:t>
            </a:r>
            <a:r>
              <a:rPr lang="ru-RU" dirty="0" err="1" smtClean="0"/>
              <a:t>EX</a:t>
            </a:r>
            <a:r>
              <a:rPr lang="ru-RU" dirty="0" smtClean="0"/>
              <a:t> - </a:t>
            </a:r>
            <a:r>
              <a:rPr lang="ru-RU" dirty="0" err="1" smtClean="0"/>
              <a:t>EIGRP</a:t>
            </a:r>
            <a:r>
              <a:rPr lang="ru-RU" dirty="0" smtClean="0"/>
              <a:t> </a:t>
            </a:r>
            <a:r>
              <a:rPr lang="ru-RU" dirty="0" err="1" smtClean="0"/>
              <a:t>external</a:t>
            </a:r>
            <a:r>
              <a:rPr lang="ru-RU" dirty="0" smtClean="0"/>
              <a:t>, O - </a:t>
            </a:r>
            <a:r>
              <a:rPr lang="ru-RU" dirty="0" err="1" smtClean="0"/>
              <a:t>OSPF</a:t>
            </a:r>
            <a:r>
              <a:rPr lang="ru-RU" dirty="0" smtClean="0"/>
              <a:t>, </a:t>
            </a:r>
            <a:r>
              <a:rPr lang="ru-RU" dirty="0" err="1" smtClean="0"/>
              <a:t>IA</a:t>
            </a:r>
            <a:r>
              <a:rPr lang="ru-RU" dirty="0" smtClean="0"/>
              <a:t> - </a:t>
            </a:r>
            <a:r>
              <a:rPr lang="ru-RU" dirty="0" err="1" smtClean="0"/>
              <a:t>OSPF</a:t>
            </a:r>
            <a:r>
              <a:rPr lang="ru-RU" dirty="0" smtClean="0"/>
              <a:t> </a:t>
            </a:r>
            <a:r>
              <a:rPr lang="ru-RU" dirty="0" err="1" smtClean="0"/>
              <a:t>inter</a:t>
            </a:r>
            <a:r>
              <a:rPr lang="ru-RU" dirty="0" smtClean="0"/>
              <a:t> </a:t>
            </a:r>
            <a:r>
              <a:rPr lang="ru-RU" dirty="0" err="1" smtClean="0"/>
              <a:t>area</a:t>
            </a:r>
            <a:r>
              <a:rPr lang="ru-RU" dirty="0" smtClean="0"/>
              <a:t> </a:t>
            </a:r>
            <a:r>
              <a:rPr lang="ru-RU" dirty="0" err="1" smtClean="0"/>
              <a:t>N1</a:t>
            </a:r>
            <a:r>
              <a:rPr lang="ru-RU" dirty="0" smtClean="0"/>
              <a:t> - </a:t>
            </a:r>
            <a:r>
              <a:rPr lang="ru-RU" dirty="0" err="1" smtClean="0"/>
              <a:t>OSPF</a:t>
            </a:r>
            <a:r>
              <a:rPr lang="ru-RU" dirty="0" smtClean="0"/>
              <a:t> </a:t>
            </a:r>
            <a:r>
              <a:rPr lang="ru-RU" dirty="0" err="1" smtClean="0"/>
              <a:t>NSSA</a:t>
            </a:r>
            <a:r>
              <a:rPr lang="ru-RU" dirty="0" smtClean="0"/>
              <a:t> </a:t>
            </a:r>
            <a:r>
              <a:rPr lang="ru-RU" dirty="0" err="1" smtClean="0"/>
              <a:t>external</a:t>
            </a:r>
            <a:r>
              <a:rPr lang="ru-RU" dirty="0" smtClean="0"/>
              <a:t> </a:t>
            </a:r>
            <a:r>
              <a:rPr lang="ru-RU" dirty="0" err="1" smtClean="0"/>
              <a:t>type</a:t>
            </a:r>
            <a:r>
              <a:rPr lang="ru-RU" dirty="0" smtClean="0"/>
              <a:t> 1, </a:t>
            </a:r>
            <a:r>
              <a:rPr lang="ru-RU" dirty="0" err="1" smtClean="0"/>
              <a:t>N2</a:t>
            </a:r>
            <a:r>
              <a:rPr lang="ru-RU" dirty="0" smtClean="0"/>
              <a:t> - </a:t>
            </a:r>
            <a:r>
              <a:rPr lang="ru-RU" dirty="0" err="1" smtClean="0"/>
              <a:t>OSPF</a:t>
            </a:r>
            <a:r>
              <a:rPr lang="ru-RU" dirty="0" smtClean="0"/>
              <a:t> </a:t>
            </a:r>
            <a:r>
              <a:rPr lang="ru-RU" dirty="0" err="1" smtClean="0"/>
              <a:t>NSSA</a:t>
            </a:r>
            <a:r>
              <a:rPr lang="ru-RU" dirty="0" smtClean="0"/>
              <a:t> </a:t>
            </a:r>
            <a:r>
              <a:rPr lang="ru-RU" dirty="0" err="1" smtClean="0"/>
              <a:t>external</a:t>
            </a:r>
            <a:r>
              <a:rPr lang="ru-RU" dirty="0" smtClean="0"/>
              <a:t> </a:t>
            </a:r>
            <a:r>
              <a:rPr lang="ru-RU" dirty="0" err="1" smtClean="0"/>
              <a:t>type</a:t>
            </a:r>
            <a:r>
              <a:rPr lang="ru-RU" dirty="0" smtClean="0"/>
              <a:t> 2 </a:t>
            </a:r>
            <a:r>
              <a:rPr lang="ru-RU" dirty="0" err="1" smtClean="0"/>
              <a:t>E1</a:t>
            </a:r>
            <a:r>
              <a:rPr lang="ru-RU" dirty="0" smtClean="0"/>
              <a:t> - </a:t>
            </a:r>
            <a:r>
              <a:rPr lang="ru-RU" dirty="0" err="1" smtClean="0"/>
              <a:t>OSPF</a:t>
            </a:r>
            <a:r>
              <a:rPr lang="ru-RU" dirty="0" smtClean="0"/>
              <a:t> </a:t>
            </a:r>
            <a:r>
              <a:rPr lang="ru-RU" dirty="0" err="1" smtClean="0"/>
              <a:t>external</a:t>
            </a:r>
            <a:r>
              <a:rPr lang="ru-RU" dirty="0" smtClean="0"/>
              <a:t> </a:t>
            </a:r>
            <a:r>
              <a:rPr lang="ru-RU" dirty="0" err="1" smtClean="0"/>
              <a:t>type</a:t>
            </a:r>
            <a:r>
              <a:rPr lang="ru-RU" dirty="0" smtClean="0"/>
              <a:t> 1, </a:t>
            </a:r>
            <a:r>
              <a:rPr lang="ru-RU" dirty="0" err="1" smtClean="0"/>
              <a:t>E2</a:t>
            </a:r>
            <a:r>
              <a:rPr lang="ru-RU" dirty="0" smtClean="0"/>
              <a:t> - </a:t>
            </a:r>
            <a:r>
              <a:rPr lang="ru-RU" dirty="0" err="1" smtClean="0"/>
              <a:t>OSPF</a:t>
            </a:r>
            <a:r>
              <a:rPr lang="ru-RU" dirty="0" smtClean="0"/>
              <a:t> </a:t>
            </a:r>
            <a:r>
              <a:rPr lang="ru-RU" dirty="0" err="1" smtClean="0"/>
              <a:t>external</a:t>
            </a:r>
            <a:r>
              <a:rPr lang="ru-RU" dirty="0" smtClean="0"/>
              <a:t> </a:t>
            </a:r>
            <a:r>
              <a:rPr lang="ru-RU" dirty="0" err="1" smtClean="0"/>
              <a:t>type</a:t>
            </a:r>
            <a:r>
              <a:rPr lang="ru-RU" dirty="0" smtClean="0"/>
              <a:t> 2, E - </a:t>
            </a:r>
            <a:r>
              <a:rPr lang="ru-RU" dirty="0" err="1" smtClean="0"/>
              <a:t>EGP</a:t>
            </a:r>
            <a:r>
              <a:rPr lang="ru-RU" dirty="0" smtClean="0"/>
              <a:t> i - </a:t>
            </a:r>
            <a:r>
              <a:rPr lang="ru-RU" dirty="0" err="1" smtClean="0"/>
              <a:t>IS-IS</a:t>
            </a:r>
            <a:r>
              <a:rPr lang="ru-RU" dirty="0" smtClean="0"/>
              <a:t>, </a:t>
            </a:r>
            <a:r>
              <a:rPr lang="ru-RU" dirty="0" err="1" smtClean="0"/>
              <a:t>L1</a:t>
            </a:r>
            <a:r>
              <a:rPr lang="ru-RU" dirty="0" smtClean="0"/>
              <a:t> - </a:t>
            </a:r>
            <a:r>
              <a:rPr lang="ru-RU" dirty="0" err="1" smtClean="0"/>
              <a:t>IS-IS</a:t>
            </a:r>
            <a:r>
              <a:rPr lang="ru-RU" dirty="0" smtClean="0"/>
              <a:t> </a:t>
            </a:r>
            <a:r>
              <a:rPr lang="ru-RU" dirty="0" err="1" smtClean="0"/>
              <a:t>level</a:t>
            </a:r>
            <a:r>
              <a:rPr lang="ru-RU" dirty="0" smtClean="0"/>
              <a:t>-1, </a:t>
            </a:r>
            <a:r>
              <a:rPr lang="ru-RU" dirty="0" err="1" smtClean="0"/>
              <a:t>L2</a:t>
            </a:r>
            <a:r>
              <a:rPr lang="ru-RU" dirty="0" smtClean="0"/>
              <a:t> - </a:t>
            </a:r>
            <a:r>
              <a:rPr lang="ru-RU" dirty="0" err="1" smtClean="0"/>
              <a:t>IS-IS</a:t>
            </a:r>
            <a:r>
              <a:rPr lang="ru-RU" dirty="0" smtClean="0"/>
              <a:t> </a:t>
            </a:r>
            <a:r>
              <a:rPr lang="ru-RU" dirty="0" err="1" smtClean="0"/>
              <a:t>level</a:t>
            </a:r>
            <a:r>
              <a:rPr lang="ru-RU" dirty="0" smtClean="0"/>
              <a:t>-2, </a:t>
            </a:r>
            <a:r>
              <a:rPr lang="ru-RU" dirty="0" err="1" smtClean="0"/>
              <a:t>ia</a:t>
            </a:r>
            <a:r>
              <a:rPr lang="ru-RU" dirty="0" smtClean="0"/>
              <a:t> - </a:t>
            </a:r>
            <a:r>
              <a:rPr lang="ru-RU" dirty="0" err="1" smtClean="0"/>
              <a:t>IS-IS</a:t>
            </a:r>
            <a:r>
              <a:rPr lang="ru-RU" dirty="0" smtClean="0"/>
              <a:t> </a:t>
            </a:r>
            <a:r>
              <a:rPr lang="ru-RU" dirty="0" err="1" smtClean="0"/>
              <a:t>inter</a:t>
            </a:r>
            <a:r>
              <a:rPr lang="ru-RU" dirty="0" smtClean="0"/>
              <a:t> </a:t>
            </a:r>
            <a:r>
              <a:rPr lang="ru-RU" dirty="0" err="1" smtClean="0"/>
              <a:t>area</a:t>
            </a:r>
            <a:r>
              <a:rPr lang="ru-RU" dirty="0" smtClean="0"/>
              <a:t> * - </a:t>
            </a:r>
            <a:r>
              <a:rPr lang="ru-RU" dirty="0" err="1" smtClean="0"/>
              <a:t>candidate</a:t>
            </a:r>
            <a:r>
              <a:rPr lang="ru-RU" dirty="0" smtClean="0"/>
              <a:t> </a:t>
            </a:r>
            <a:r>
              <a:rPr lang="ru-RU" dirty="0" err="1" smtClean="0"/>
              <a:t>default</a:t>
            </a:r>
            <a:r>
              <a:rPr lang="ru-RU" dirty="0" smtClean="0"/>
              <a:t>, U - </a:t>
            </a:r>
            <a:r>
              <a:rPr lang="ru-RU" dirty="0" err="1" smtClean="0"/>
              <a:t>per-user</a:t>
            </a:r>
            <a:r>
              <a:rPr lang="ru-RU" dirty="0" smtClean="0"/>
              <a:t> </a:t>
            </a:r>
            <a:r>
              <a:rPr lang="ru-RU" dirty="0" err="1" smtClean="0"/>
              <a:t>static</a:t>
            </a:r>
            <a:r>
              <a:rPr lang="ru-RU" dirty="0" smtClean="0"/>
              <a:t> </a:t>
            </a:r>
            <a:r>
              <a:rPr lang="ru-RU" dirty="0" err="1" smtClean="0"/>
              <a:t>route</a:t>
            </a:r>
            <a:r>
              <a:rPr lang="ru-RU" dirty="0" smtClean="0"/>
              <a:t>, o - </a:t>
            </a:r>
            <a:r>
              <a:rPr lang="ru-RU" dirty="0" err="1" smtClean="0"/>
              <a:t>ODR</a:t>
            </a:r>
            <a:r>
              <a:rPr lang="ru-RU" dirty="0" smtClean="0"/>
              <a:t> P - </a:t>
            </a:r>
            <a:r>
              <a:rPr lang="ru-RU" dirty="0" err="1" smtClean="0"/>
              <a:t>periodic</a:t>
            </a:r>
            <a:r>
              <a:rPr lang="ru-RU" dirty="0" smtClean="0"/>
              <a:t> </a:t>
            </a:r>
            <a:r>
              <a:rPr lang="ru-RU" dirty="0" err="1" smtClean="0"/>
              <a:t>downloaded</a:t>
            </a:r>
            <a:r>
              <a:rPr lang="ru-RU" dirty="0" smtClean="0"/>
              <a:t> </a:t>
            </a:r>
            <a:r>
              <a:rPr lang="ru-RU" dirty="0" err="1" smtClean="0"/>
              <a:t>static</a:t>
            </a:r>
            <a:r>
              <a:rPr lang="ru-RU" dirty="0" smtClean="0"/>
              <a:t> </a:t>
            </a:r>
            <a:r>
              <a:rPr lang="ru-RU" dirty="0" err="1" smtClean="0"/>
              <a:t>route</a:t>
            </a:r>
            <a:r>
              <a:rPr lang="ru-RU" dirty="0" smtClean="0"/>
              <a:t>   </a:t>
            </a:r>
            <a:r>
              <a:rPr lang="ru-RU" dirty="0" err="1" smtClean="0"/>
              <a:t>Gateway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last</a:t>
            </a:r>
            <a:r>
              <a:rPr lang="ru-RU" dirty="0" smtClean="0"/>
              <a:t> </a:t>
            </a:r>
            <a:r>
              <a:rPr lang="ru-RU" dirty="0" err="1" smtClean="0"/>
              <a:t>resort</a:t>
            </a:r>
            <a:r>
              <a:rPr lang="ru-RU" dirty="0" smtClean="0"/>
              <a:t> </a:t>
            </a:r>
            <a:r>
              <a:rPr lang="ru-RU" dirty="0" err="1" smtClean="0"/>
              <a:t>is</a:t>
            </a:r>
            <a:r>
              <a:rPr lang="ru-RU" dirty="0" smtClean="0"/>
              <a:t> </a:t>
            </a:r>
            <a:r>
              <a:rPr lang="ru-RU" dirty="0" err="1" smtClean="0"/>
              <a:t>not</a:t>
            </a:r>
            <a:r>
              <a:rPr lang="ru-RU" dirty="0" smtClean="0"/>
              <a:t> </a:t>
            </a:r>
            <a:r>
              <a:rPr lang="ru-RU" dirty="0" err="1" smtClean="0"/>
              <a:t>set</a:t>
            </a:r>
            <a:r>
              <a:rPr lang="ru-RU" dirty="0" smtClean="0"/>
              <a:t>   C 192.168.0.0/24 </a:t>
            </a:r>
            <a:r>
              <a:rPr lang="ru-RU" dirty="0" err="1" smtClean="0"/>
              <a:t>is</a:t>
            </a:r>
            <a:r>
              <a:rPr lang="ru-RU" dirty="0" smtClean="0"/>
              <a:t> </a:t>
            </a:r>
            <a:r>
              <a:rPr lang="ru-RU" dirty="0" err="1" smtClean="0"/>
              <a:t>directly</a:t>
            </a:r>
            <a:r>
              <a:rPr lang="ru-RU" dirty="0" smtClean="0"/>
              <a:t> </a:t>
            </a:r>
            <a:r>
              <a:rPr lang="ru-RU" dirty="0" err="1" smtClean="0"/>
              <a:t>connected</a:t>
            </a:r>
            <a:r>
              <a:rPr lang="ru-RU" dirty="0" smtClean="0"/>
              <a:t>, </a:t>
            </a:r>
            <a:r>
              <a:rPr lang="ru-RU" dirty="0" err="1" smtClean="0"/>
              <a:t>FastEthernet0</a:t>
            </a:r>
            <a:r>
              <a:rPr lang="ru-RU" dirty="0" smtClean="0"/>
              <a:t>/0 D 192.168.2.0/24 [90/156160] </a:t>
            </a:r>
            <a:r>
              <a:rPr lang="ru-RU" dirty="0" err="1" smtClean="0"/>
              <a:t>via</a:t>
            </a:r>
            <a:r>
              <a:rPr lang="ru-RU" dirty="0" smtClean="0"/>
              <a:t> 192.168.0.1, 00:09:54, </a:t>
            </a:r>
            <a:r>
              <a:rPr lang="ru-RU" dirty="0" err="1" smtClean="0"/>
              <a:t>FastEthernet0</a:t>
            </a:r>
            <a:r>
              <a:rPr lang="ru-RU" dirty="0" smtClean="0"/>
              <a:t>/0 </a:t>
            </a:r>
            <a:r>
              <a:rPr lang="ru-RU" dirty="0" err="1" smtClean="0"/>
              <a:t>Router</a:t>
            </a:r>
            <a:r>
              <a:rPr lang="ru-RU" dirty="0" smtClean="0"/>
              <a:t>#</a:t>
            </a:r>
          </a:p>
          <a:p>
            <a:r>
              <a:rPr lang="ru-RU" dirty="0" smtClean="0"/>
              <a:t>В данном случае есть маршрут в сеть 192.168.2.0, возле него следующая запись: [90/156160]. Первое число (90) – обозначает административную дистанцию протокола </a:t>
            </a:r>
            <a:r>
              <a:rPr lang="ru-RU" dirty="0" err="1" smtClean="0"/>
              <a:t>EIGRP</a:t>
            </a:r>
            <a:r>
              <a:rPr lang="ru-RU" dirty="0" smtClean="0"/>
              <a:t> (см. таблицу выше), а второе (156160) – метрику, посчитанную по правилам этого протокола.</a:t>
            </a: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endParaRPr lang="ru-RU" noProof="0" dirty="0" smtClean="0"/>
          </a:p>
        </p:txBody>
      </p:sp>
    </p:spTree>
    <p:extLst>
      <p:ext uri="{BB962C8B-B14F-4D97-AF65-F5344CB8AC3E}">
        <p14:creationId xmlns:p14="http://schemas.microsoft.com/office/powerpoint/2010/main" val="1730457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4DBE9C86-8F91-408C-8823-75B6B5CDDFFE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14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4.2.2</a:t>
            </a:r>
            <a:r>
              <a:rPr lang="ru-RU" sz="1200" b="1" i="0" baseline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Определение пути</a:t>
            </a: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r>
              <a:rPr lang="ru-RU" sz="1200" b="1" i="0" baseline="0" noProof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4.2.2.3 Распределение нагрузки</a:t>
            </a:r>
          </a:p>
          <a:p>
            <a:pPr marL="112746" marR="0" indent="-112746" algn="l" defTabSz="1020745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None/>
              <a:tabLst/>
            </a:pPr>
            <a:endParaRPr lang="ru-RU" noProof="0" dirty="0" smtClean="0"/>
          </a:p>
        </p:txBody>
      </p:sp>
    </p:spTree>
    <p:extLst>
      <p:ext uri="{BB962C8B-B14F-4D97-AF65-F5344CB8AC3E}">
        <p14:creationId xmlns:p14="http://schemas.microsoft.com/office/powerpoint/2010/main" val="3771056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Временная метка – </a:t>
            </a:r>
            <a:r>
              <a:rPr lang="ru-RU" dirty="0" err="1" smtClean="0"/>
              <a:t>инетрвал</a:t>
            </a:r>
            <a:r>
              <a:rPr lang="ru-RU" dirty="0" smtClean="0"/>
              <a:t> времени прошедший с момента получения информации</a:t>
            </a:r>
            <a:r>
              <a:rPr lang="ru-RU" baseline="0" dirty="0" smtClean="0"/>
              <a:t> </a:t>
            </a:r>
          </a:p>
          <a:p>
            <a:r>
              <a:rPr lang="ru-RU" baseline="0" dirty="0" smtClean="0"/>
              <a:t>О маршруте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60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зависимости от того, как указан следующий адрес пересылки пакета, создаётся один из трёх возможных типов маршрута: </a:t>
            </a:r>
          </a:p>
          <a:p>
            <a:r>
              <a:rPr lang="ru-RU" b="1" dirty="0" smtClean="0"/>
              <a:t>Маршрут следующего перехода </a:t>
            </a:r>
            <a:r>
              <a:rPr lang="ru-RU" dirty="0" smtClean="0"/>
              <a:t>— указывается только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перехода.</a:t>
            </a:r>
          </a:p>
          <a:p>
            <a:r>
              <a:rPr lang="ru-RU" b="1" dirty="0" smtClean="0"/>
              <a:t>Напрямую подключённый статический маршрут </a:t>
            </a:r>
            <a:r>
              <a:rPr lang="ru-RU" dirty="0" smtClean="0"/>
              <a:t>— указывается только выходной интерфейс маршрутизатора.</a:t>
            </a:r>
          </a:p>
          <a:p>
            <a:r>
              <a:rPr lang="ru-RU" b="1" dirty="0" smtClean="0"/>
              <a:t>Полностью заданный статический маршрут</a:t>
            </a:r>
            <a:r>
              <a:rPr lang="ru-RU" dirty="0" smtClean="0"/>
              <a:t> — указываются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 и выходной интерфейс.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47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244">
              <a:lnSpc>
                <a:spcPct val="100000"/>
              </a:lnSpc>
            </a:pPr>
            <a:fld id="{570978E6-FB79-4E74-A4A4-2BA13DA27C44}" type="slidenum">
              <a:rPr lang="en-US" sz="800">
                <a:solidFill>
                  <a:prstClr val="black"/>
                </a:solidFill>
                <a:latin typeface="Arial"/>
              </a:rPr>
              <a:pPr defTabSz="903244">
                <a:lnSpc>
                  <a:spcPct val="100000"/>
                </a:lnSpc>
              </a:pPr>
              <a:t>24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6.2.1.1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26721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зависимости от того, как указан следующий адрес пересылки пакета, создаётся один из трёх возможных типов маршрута: </a:t>
            </a:r>
          </a:p>
          <a:p>
            <a:r>
              <a:rPr lang="ru-RU" b="1" dirty="0" smtClean="0"/>
              <a:t>Маршрут следующего перехода </a:t>
            </a:r>
            <a:r>
              <a:rPr lang="ru-RU" dirty="0" smtClean="0"/>
              <a:t>— указывается только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перехода.</a:t>
            </a:r>
          </a:p>
          <a:p>
            <a:r>
              <a:rPr lang="ru-RU" b="1" dirty="0" smtClean="0"/>
              <a:t>Напрямую подключённый статический маршрут </a:t>
            </a:r>
            <a:r>
              <a:rPr lang="ru-RU" dirty="0" smtClean="0"/>
              <a:t>— указывается только выходной интерфейс маршрутизатора.</a:t>
            </a:r>
          </a:p>
          <a:p>
            <a:r>
              <a:rPr lang="ru-RU" b="1" dirty="0" smtClean="0"/>
              <a:t>Полностью заданный статический маршрут</a:t>
            </a:r>
            <a:r>
              <a:rPr lang="ru-RU" dirty="0" smtClean="0"/>
              <a:t> — указываются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 и выходной интерфейс.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47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зависимости от того, как указан следующий адрес пересылки пакета, создаётся один из трёх возможных типов маршрута: </a:t>
            </a:r>
          </a:p>
          <a:p>
            <a:r>
              <a:rPr lang="ru-RU" b="1" dirty="0" smtClean="0"/>
              <a:t>Маршрут следующего перехода </a:t>
            </a:r>
            <a:r>
              <a:rPr lang="ru-RU" dirty="0" smtClean="0"/>
              <a:t>— указывается только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перехода.</a:t>
            </a:r>
          </a:p>
          <a:p>
            <a:r>
              <a:rPr lang="ru-RU" b="1" dirty="0" smtClean="0"/>
              <a:t>Напрямую подключённый статический маршрут </a:t>
            </a:r>
            <a:r>
              <a:rPr lang="ru-RU" dirty="0" smtClean="0"/>
              <a:t>— указывается только выходной интерфейс маршрутизатора.</a:t>
            </a:r>
          </a:p>
          <a:p>
            <a:r>
              <a:rPr lang="ru-RU" b="1" dirty="0" smtClean="0"/>
              <a:t>Полностью заданный статический маршрут</a:t>
            </a:r>
            <a:r>
              <a:rPr lang="ru-RU" dirty="0" smtClean="0"/>
              <a:t> — указываются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 и выходной интерфейс.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47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244">
              <a:lnSpc>
                <a:spcPct val="100000"/>
              </a:lnSpc>
            </a:pPr>
            <a:fld id="{570978E6-FB79-4E74-A4A4-2BA13DA27C44}" type="slidenum">
              <a:rPr lang="en-US" sz="800">
                <a:solidFill>
                  <a:prstClr val="black"/>
                </a:solidFill>
                <a:latin typeface="Arial"/>
              </a:rPr>
              <a:pPr defTabSz="903244">
                <a:lnSpc>
                  <a:spcPct val="100000"/>
                </a:lnSpc>
              </a:pPr>
              <a:t>27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Используется для последовательного канала точка-точка</a:t>
            </a:r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 следующего перехода предопределен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Поиск маршрута за одно обращение к таблице маршрутизации.</a:t>
            </a:r>
          </a:p>
          <a:p>
            <a:r>
              <a:rPr lang="ru-RU" dirty="0" smtClean="0"/>
              <a:t>Напрямую подключённый интерфейс может иметь административное расстояние, равное 0.</a:t>
            </a:r>
          </a:p>
          <a:p>
            <a:r>
              <a:rPr lang="ru-RU" dirty="0" smtClean="0"/>
              <a:t>Для интерфейсов типа «точка-точка</a:t>
            </a:r>
            <a:r>
              <a:rPr lang="en-US" dirty="0" smtClean="0"/>
              <a:t> </a:t>
            </a:r>
            <a:r>
              <a:rPr lang="ru-RU" dirty="0" smtClean="0"/>
              <a:t> - </a:t>
            </a:r>
            <a:r>
              <a:rPr lang="en-US" dirty="0" smtClean="0"/>
              <a:t>Serial</a:t>
            </a:r>
            <a:r>
              <a:rPr lang="ru-RU" dirty="0" smtClean="0"/>
              <a:t>» можно использовать статические маршруты, указывающие на выходной интерфейс или адрес следующего перехода. </a:t>
            </a:r>
          </a:p>
          <a:p>
            <a:r>
              <a:rPr lang="ru-RU" dirty="0" smtClean="0"/>
              <a:t>Для многоточечных (</a:t>
            </a:r>
            <a:r>
              <a:rPr lang="en-US" dirty="0" smtClean="0"/>
              <a:t>Ethernet</a:t>
            </a:r>
            <a:r>
              <a:rPr lang="ru-RU" dirty="0" smtClean="0"/>
              <a:t>) или широковещательных интерфейсов рекомендуется использовать статические маршруты, указывающие на адрес следующего перехода, из – за возникающей неоднозначно</a:t>
            </a:r>
            <a:r>
              <a:rPr lang="en-US" dirty="0" smtClean="0"/>
              <a:t>c</a:t>
            </a:r>
            <a:r>
              <a:rPr lang="ru-RU" dirty="0" err="1" smtClean="0"/>
              <a:t>ти</a:t>
            </a:r>
            <a:r>
              <a:rPr lang="ru-RU" dirty="0" smtClean="0"/>
              <a:t> (пример </a:t>
            </a:r>
            <a:r>
              <a:rPr lang="en-US" dirty="0" smtClean="0"/>
              <a:t>Switch - Router</a:t>
            </a:r>
            <a:r>
              <a:rPr lang="ru-RU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8107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зависимости от того, как указан следующий адрес пересылки пакета, создаётся один из трёх возможных типов маршрута: </a:t>
            </a:r>
          </a:p>
          <a:p>
            <a:r>
              <a:rPr lang="ru-RU" b="1" dirty="0" smtClean="0"/>
              <a:t>Маршрут следующего перехода </a:t>
            </a:r>
            <a:r>
              <a:rPr lang="ru-RU" dirty="0" smtClean="0"/>
              <a:t>— указывается только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перехода.</a:t>
            </a:r>
          </a:p>
          <a:p>
            <a:r>
              <a:rPr lang="ru-RU" b="1" dirty="0" smtClean="0"/>
              <a:t>Напрямую подключённый статический маршрут </a:t>
            </a:r>
            <a:r>
              <a:rPr lang="ru-RU" dirty="0" smtClean="0"/>
              <a:t>— указывается только выходной интерфейс маршрутизатора.</a:t>
            </a:r>
          </a:p>
          <a:p>
            <a:r>
              <a:rPr lang="ru-RU" b="1" dirty="0" smtClean="0"/>
              <a:t>Полностью заданный статический маршрут</a:t>
            </a:r>
            <a:r>
              <a:rPr lang="ru-RU" dirty="0" smtClean="0"/>
              <a:t> — указываются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 и выходной интерфейс.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47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Маршруты у которых адрес сети назначения имеет больше совпадающих бит  имеют  более высокий приоритет по сравнению с маршрутом по умолчанию.</a:t>
            </a:r>
          </a:p>
          <a:p>
            <a:endParaRPr lang="ru-RU" dirty="0" smtClean="0"/>
          </a:p>
          <a:p>
            <a:r>
              <a:rPr lang="ru-RU" dirty="0" smtClean="0"/>
              <a:t>Статические маршруты по умолчанию  часто используются при подключении пограничного </a:t>
            </a:r>
            <a:r>
              <a:rPr lang="ru-RU" dirty="0" err="1" smtClean="0"/>
              <a:t>маршрутизатора</a:t>
            </a:r>
            <a:r>
              <a:rPr lang="ru-RU" dirty="0" smtClean="0"/>
              <a:t> компании к сети интернет-провайдера.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184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зависимости от того, как указан следующий адрес пересылки пакета, создаётся один из трёх возможных типов маршрута: </a:t>
            </a:r>
          </a:p>
          <a:p>
            <a:r>
              <a:rPr lang="ru-RU" b="1" dirty="0" smtClean="0"/>
              <a:t>Маршрут следующего перехода </a:t>
            </a:r>
            <a:r>
              <a:rPr lang="ru-RU" dirty="0" smtClean="0"/>
              <a:t>— указывается только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перехода.</a:t>
            </a:r>
          </a:p>
          <a:p>
            <a:r>
              <a:rPr lang="ru-RU" b="1" dirty="0" smtClean="0"/>
              <a:t>Напрямую подключённый статический маршрут </a:t>
            </a:r>
            <a:r>
              <a:rPr lang="ru-RU" dirty="0" smtClean="0"/>
              <a:t>— указывается только выходной интерфейс маршрутизатора.</a:t>
            </a:r>
          </a:p>
          <a:p>
            <a:r>
              <a:rPr lang="ru-RU" b="1" dirty="0" smtClean="0"/>
              <a:t>Полностью заданный статический маршрут</a:t>
            </a:r>
            <a:r>
              <a:rPr lang="ru-RU" dirty="0" smtClean="0"/>
              <a:t> — указываются </a:t>
            </a:r>
            <a:r>
              <a:rPr lang="ru-RU" dirty="0" err="1" smtClean="0"/>
              <a:t>IP</a:t>
            </a:r>
            <a:r>
              <a:rPr lang="ru-RU" dirty="0" smtClean="0"/>
              <a:t>-адрес следующего перехода и выходной интерфейс.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47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defTabSz="903244">
              <a:lnSpc>
                <a:spcPct val="100000"/>
              </a:lnSpc>
              <a:buNone/>
            </a:pPr>
            <a:fld id="{570978E6-FB79-4E74-A4A4-2BA13DA27C44}" type="slidenum">
              <a:rPr lang="en-US" sz="800" b="0" i="0">
                <a:solidFill>
                  <a:schemeClr val="tx1"/>
                </a:solidFill>
                <a:latin typeface="Arial"/>
                <a:ea typeface="+mn-ea"/>
                <a:cs typeface="+mn-cs"/>
              </a:rPr>
              <a:pPr algn="r" defTabSz="903244">
                <a:lnSpc>
                  <a:spcPct val="100000"/>
                </a:lnSpc>
                <a:buNone/>
              </a:pPr>
              <a:t>31</a:t>
            </a:fld>
            <a:endParaRPr lang="en-US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ru-RU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Если есть несколько маршрутов к сети назначения</a:t>
            </a:r>
            <a:r>
              <a:rPr lang="ru-RU" sz="1200" b="0" i="0" baseline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 с разной маской, выбирается тот у которого маска </a:t>
            </a:r>
            <a:r>
              <a:rPr lang="ru-RU" sz="1200" b="0" i="0" baseline="0" dirty="0" err="1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длиньше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20991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244">
              <a:lnSpc>
                <a:spcPct val="100000"/>
              </a:lnSpc>
            </a:pPr>
            <a:fld id="{570978E6-FB79-4E74-A4A4-2BA13DA27C44}" type="slidenum">
              <a:rPr lang="en-US" sz="800">
                <a:solidFill>
                  <a:prstClr val="black"/>
                </a:solidFill>
                <a:latin typeface="Arial"/>
              </a:rPr>
              <a:pPr defTabSz="903244">
                <a:lnSpc>
                  <a:spcPct val="100000"/>
                </a:lnSpc>
              </a:pPr>
              <a:t>32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en-US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6</a:t>
            </a:r>
            <a:r>
              <a:rPr lang="ru-RU" sz="1200" b="0" i="0" dirty="0" smtClean="0">
                <a:solidFill>
                  <a:srgbClr val="000000"/>
                </a:solidFill>
                <a:latin typeface="Arial"/>
              </a:rPr>
              <a:t>Объединение маршрутов, которое также называется «агрегацией маршрутов» — это процесс замены группы смежных адресов единым адресом с более короткой маской подсети. </a:t>
            </a:r>
            <a:endParaRPr lang="ru-RU" sz="12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1200" b="0" i="0" dirty="0" smtClean="0">
                <a:solidFill>
                  <a:srgbClr val="000000"/>
                </a:solidFill>
                <a:latin typeface="Arial"/>
              </a:rPr>
              <a:t>CIDR — это разновидность объединения маршрутов.</a:t>
            </a:r>
            <a:endParaRPr lang="ru-RU" sz="12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1200" b="0" i="0" dirty="0" smtClean="0">
                <a:solidFill>
                  <a:srgbClr val="000000"/>
                </a:solidFill>
                <a:latin typeface="Arial"/>
              </a:rPr>
              <a:t>CIDR игнорирует ограничения, возникающие при классовом делении сетей, и позволяет использовать при суммировании маски, которые меньше соответствующих классовых масок по умолчанию. </a:t>
            </a:r>
            <a:endParaRPr lang="ru-RU" sz="12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1200" b="0" i="0" dirty="0" smtClean="0">
                <a:solidFill>
                  <a:srgbClr val="000000"/>
                </a:solidFill>
                <a:latin typeface="Arial"/>
              </a:rPr>
              <a:t>Такой тип объединения позволяет сократить количество записей в обновлениях маршрутов и в локальных таблицах маршрутизации.</a:t>
            </a:r>
          </a:p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 dirty="0" smtClean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.</a:t>
            </a:r>
            <a:r>
              <a:rPr lang="en-US" sz="1200" b="0" i="0" dirty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1.2.4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350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3244">
              <a:lnSpc>
                <a:spcPct val="100000"/>
              </a:lnSpc>
            </a:pPr>
            <a:fld id="{570978E6-FB79-4E74-A4A4-2BA13DA27C44}" type="slidenum">
              <a:rPr lang="en-US" sz="800">
                <a:solidFill>
                  <a:prstClr val="black"/>
                </a:solidFill>
                <a:latin typeface="Arial"/>
              </a:rPr>
              <a:pPr defTabSz="903244">
                <a:lnSpc>
                  <a:spcPct val="100000"/>
                </a:lnSpc>
              </a:pPr>
              <a:t>35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46" indent="-112746" algn="l" defTabSz="1020745">
              <a:lnSpc>
                <a:spcPct val="80000"/>
              </a:lnSpc>
              <a:buNone/>
            </a:pPr>
            <a:r>
              <a:rPr lang="en-US" sz="1200" b="0" i="0">
                <a:solidFill>
                  <a:srgbClr val="000000"/>
                </a:solidFill>
                <a:latin typeface="Arial"/>
                <a:ea typeface="+mn-ea"/>
                <a:cs typeface="+mn-cs"/>
              </a:rPr>
              <a:t>6.1.2.5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10384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4692" lvl="1" indent="-236555" defTabSz="814365">
              <a:buFont typeface="Wingdings"/>
              <a:buChar char="§"/>
            </a:pPr>
            <a:r>
              <a:rPr lang="ru-RU" dirty="0" smtClean="0">
                <a:solidFill>
                  <a:srgbClr val="FF0000"/>
                </a:solidFill>
              </a:rPr>
              <a:t>Маршрутизации в небольших сетях</a:t>
            </a:r>
            <a:r>
              <a:rPr lang="ru-RU" dirty="0" smtClean="0">
                <a:solidFill>
                  <a:srgbClr val="000000"/>
                </a:solidFill>
              </a:rPr>
              <a:t>, которые не планируется существенно расширять;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dirty="0" smtClean="0">
                <a:solidFill>
                  <a:srgbClr val="FF0000"/>
                </a:solidFill>
              </a:rPr>
              <a:t>Маршрутизации к тупиковым </a:t>
            </a:r>
            <a:r>
              <a:rPr lang="ru-RU" dirty="0" smtClean="0">
                <a:solidFill>
                  <a:srgbClr val="000000"/>
                </a:solidFill>
              </a:rPr>
              <a:t>сетям и от них. </a:t>
            </a:r>
            <a:endParaRPr lang="ru-RU" sz="1800" i="1" dirty="0" smtClean="0">
              <a:solidFill>
                <a:srgbClr val="000000"/>
              </a:solidFill>
            </a:endParaRPr>
          </a:p>
          <a:p>
            <a:pPr marL="574692" lvl="1" indent="-236555" defTabSz="814365">
              <a:buFont typeface="Wingdings"/>
              <a:buChar char="§"/>
            </a:pPr>
            <a:r>
              <a:rPr lang="ru-RU" dirty="0" smtClean="0">
                <a:solidFill>
                  <a:srgbClr val="000000"/>
                </a:solidFill>
              </a:rPr>
              <a:t>Уменьшения числа объявленных маршрутов путём объединения некоторых смежных сетей в один статический маршрут (</a:t>
            </a:r>
            <a:r>
              <a:rPr lang="ru-RU" b="1" dirty="0" smtClean="0">
                <a:solidFill>
                  <a:srgbClr val="FF0000"/>
                </a:solidFill>
              </a:rPr>
              <a:t>суммарные маршруты</a:t>
            </a:r>
            <a:r>
              <a:rPr lang="ru-RU" dirty="0" smtClean="0">
                <a:solidFill>
                  <a:srgbClr val="000000"/>
                </a:solidFill>
              </a:rPr>
              <a:t>);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dirty="0" smtClean="0">
                <a:solidFill>
                  <a:srgbClr val="000000"/>
                </a:solidFill>
              </a:rPr>
              <a:t>Создания резервного (</a:t>
            </a:r>
            <a:r>
              <a:rPr lang="ru-RU" b="1" dirty="0" smtClean="0">
                <a:solidFill>
                  <a:srgbClr val="FF0000"/>
                </a:solidFill>
              </a:rPr>
              <a:t>плавающего</a:t>
            </a:r>
            <a:r>
              <a:rPr lang="ru-RU" dirty="0" smtClean="0">
                <a:solidFill>
                  <a:srgbClr val="000000"/>
                </a:solidFill>
              </a:rPr>
              <a:t>) маршрута на случай отказа основного маршрута;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dirty="0" smtClean="0">
                <a:solidFill>
                  <a:srgbClr val="000000"/>
                </a:solidFill>
              </a:rPr>
              <a:t>Использование единого </a:t>
            </a:r>
            <a:r>
              <a:rPr lang="ru-RU" b="1" dirty="0" smtClean="0">
                <a:solidFill>
                  <a:srgbClr val="FF0000"/>
                </a:solidFill>
              </a:rPr>
              <a:t>маршрута по умолчанию</a:t>
            </a:r>
            <a:r>
              <a:rPr lang="ru-RU" dirty="0" smtClean="0">
                <a:solidFill>
                  <a:srgbClr val="000000"/>
                </a:solidFill>
              </a:rPr>
              <a:t>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15CF7-9F59-4C8A-B650-E68E69E0FCF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248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ru-RU" dirty="0" smtClean="0"/>
              <a:t>Путь, используемый статическим маршрутом для отправки данных, заранее известен.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15CF7-9F59-4C8A-B650-E68E69E0FCF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540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ru-RU" dirty="0" smtClean="0">
                <a:solidFill>
                  <a:srgbClr val="C00000"/>
                </a:solidFill>
              </a:rPr>
              <a:t>Временные затраты </a:t>
            </a:r>
            <a:r>
              <a:rPr lang="ru-RU" dirty="0" smtClean="0"/>
              <a:t>на  настройку и обслуживание.</a:t>
            </a:r>
          </a:p>
          <a:p>
            <a:pPr lvl="1"/>
            <a:r>
              <a:rPr lang="ru-RU" dirty="0" smtClean="0">
                <a:solidFill>
                  <a:srgbClr val="C00000"/>
                </a:solidFill>
              </a:rPr>
              <a:t>Ошибки настройки </a:t>
            </a:r>
            <a:r>
              <a:rPr lang="ru-RU" dirty="0" smtClean="0"/>
              <a:t>, особенно в больших сетях.</a:t>
            </a:r>
          </a:p>
          <a:p>
            <a:pPr lvl="1"/>
            <a:r>
              <a:rPr lang="ru-RU" dirty="0" smtClean="0">
                <a:solidFill>
                  <a:srgbClr val="C00000"/>
                </a:solidFill>
              </a:rPr>
              <a:t>Требуется постоянное </a:t>
            </a:r>
            <a:r>
              <a:rPr lang="ru-RU" dirty="0" smtClean="0"/>
              <a:t>вмешательство администратора и доскональное знание всей сети.</a:t>
            </a:r>
          </a:p>
          <a:p>
            <a:pPr lvl="1"/>
            <a:r>
              <a:rPr lang="ru-RU" dirty="0" smtClean="0">
                <a:solidFill>
                  <a:srgbClr val="C00000"/>
                </a:solidFill>
              </a:rPr>
              <a:t>Недостаточные возможности масштабирования  сети</a:t>
            </a:r>
          </a:p>
          <a:p>
            <a:pPr lvl="1"/>
            <a:r>
              <a:rPr lang="ru-RU" dirty="0" smtClean="0"/>
              <a:t>Низкая оперативность. Появление несправных маршрутов, приводит </a:t>
            </a:r>
            <a:r>
              <a:rPr lang="ru-RU" dirty="0" smtClean="0">
                <a:solidFill>
                  <a:srgbClr val="FF0000"/>
                </a:solidFill>
              </a:rPr>
              <a:t>к сбоям </a:t>
            </a:r>
            <a:r>
              <a:rPr lang="ru-RU" dirty="0" smtClean="0"/>
              <a:t>в работе сети, которые необходимо оперативно устранять вручную. 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15CF7-9F59-4C8A-B650-E68E69E0FCFD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14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US" b="1" dirty="0" smtClean="0"/>
              <a:t>show </a:t>
            </a:r>
            <a:r>
              <a:rPr lang="en-US" b="1" dirty="0" err="1" smtClean="0"/>
              <a:t>ip</a:t>
            </a:r>
            <a:r>
              <a:rPr lang="en-US" b="1" dirty="0" smtClean="0"/>
              <a:t> route </a:t>
            </a:r>
            <a:r>
              <a:rPr lang="en-US" i="1" dirty="0" smtClean="0"/>
              <a:t>network</a:t>
            </a:r>
            <a:r>
              <a:rPr lang="en-US" dirty="0" smtClean="0"/>
              <a:t> </a:t>
            </a:r>
            <a:r>
              <a:rPr lang="ru-RU" dirty="0" smtClean="0"/>
              <a:t> (192.168.10.0)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1620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Если в колонке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Шлюз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указано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On-link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, то это означает что адрес назначения находится в одной сети с хостом и доступен без маршрутизации.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Метрика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определяет приоритет правил маршрутизации, если адрес назначения имеет в таблице маршрутов несколько правил, то используется тот, что имеет меньшую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метри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32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Persistent</a:t>
            </a:r>
            <a:r>
              <a:rPr lang="en-US" baseline="0" dirty="0" smtClean="0"/>
              <a:t> Routers </a:t>
            </a:r>
            <a:r>
              <a:rPr lang="ru-RU" baseline="0" dirty="0" smtClean="0"/>
              <a:t>постоянные маршруты </a:t>
            </a:r>
            <a:endParaRPr lang="en-US" baseline="0" dirty="0" smtClean="0"/>
          </a:p>
          <a:p>
            <a:r>
              <a:rPr lang="en-US" baseline="0" dirty="0" smtClean="0"/>
              <a:t>None</a:t>
            </a:r>
            <a:r>
              <a:rPr lang="ru-RU" baseline="0" dirty="0" smtClean="0"/>
              <a:t>       отсутствуют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004549-1125-4930-988B-40FFE37DB1E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74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C31C4615-7F19-455B-A5C4-EA1B3B194C81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ACFA795C-7F0A-48D8-9FC3-F2BA5F8EB736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Rectangle 6312"/>
          <p:cNvSpPr>
            <a:spLocks noChangeArrowheads="1"/>
          </p:cNvSpPr>
          <p:nvPr userDrawn="1"/>
        </p:nvSpPr>
        <p:spPr bwMode="auto">
          <a:xfrm>
            <a:off x="3708400" y="6643235"/>
            <a:ext cx="2604020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" name="Rectangle 6313"/>
          <p:cNvSpPr>
            <a:spLocks noChangeArrowheads="1"/>
          </p:cNvSpPr>
          <p:nvPr userDrawn="1"/>
        </p:nvSpPr>
        <p:spPr bwMode="auto">
          <a:xfrm>
            <a:off x="6128465" y="6643235"/>
            <a:ext cx="2312273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Конфиденциальная информация корпорации Cisco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ITE PC v4.1</a:t>
            </a:r>
          </a:p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Глава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58EC189E-ADD4-420E-B89E-1E32C54438D7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2007–2010. Все права защищены.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Общедоступная информация корпорации Cisco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en-US" sz="7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fld id="{85C5E045-6C48-46C0-92AE-30A8710B0BBD}" type="slidenum">
              <a:rPr lang="en-US" sz="1000" b="0" i="0">
                <a:solidFill>
                  <a:srgbClr val="D3D3D3"/>
                </a:solidFill>
                <a:latin typeface="Arial"/>
                <a:ea typeface="+mn-ea"/>
                <a:cs typeface="+mn-cs"/>
              </a:rPr>
              <a:pPr algn="r" defTabSz="814365">
                <a:lnSpc>
                  <a:spcPct val="100000"/>
                </a:lnSpc>
                <a:buNone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6312"/>
          <p:cNvSpPr>
            <a:spLocks noChangeArrowheads="1"/>
          </p:cNvSpPr>
          <p:nvPr userDrawn="1"/>
        </p:nvSpPr>
        <p:spPr bwMode="auto">
          <a:xfrm>
            <a:off x="3708400" y="6643235"/>
            <a:ext cx="2604020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© Корпорация Cisco Systems, 2014. Все права защищены.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Rectangle 6313"/>
          <p:cNvSpPr>
            <a:spLocks noChangeArrowheads="1"/>
          </p:cNvSpPr>
          <p:nvPr userDrawn="1"/>
        </p:nvSpPr>
        <p:spPr bwMode="auto">
          <a:xfrm>
            <a:off x="6128465" y="6643235"/>
            <a:ext cx="2312273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5">
              <a:lnSpc>
                <a:spcPct val="100000"/>
              </a:lnSpc>
              <a:buNone/>
            </a:pPr>
            <a:r>
              <a:rPr lang="ru-RU" sz="700" b="0" i="0" noProof="0" dirty="0" smtClean="0">
                <a:solidFill>
                  <a:srgbClr val="D3D3D3"/>
                </a:solidFill>
                <a:latin typeface="Arial"/>
                <a:ea typeface="+mn-ea"/>
                <a:cs typeface="+mn-cs"/>
              </a:rPr>
              <a:t>Конфиденциальная информация корпорации Cisco</a:t>
            </a:r>
            <a:endParaRPr lang="ru-RU" sz="700" b="0" i="0" noProof="0" dirty="0">
              <a:solidFill>
                <a:srgbClr val="D3D3D3"/>
              </a:solidFill>
              <a:latin typeface="Arial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marL="0" indent="0">
              <a:buNone/>
            </a:pPr>
            <a:r>
              <a:rPr lang="ru-RU" sz="2400" b="1" i="0" dirty="0" smtClean="0">
                <a:solidFill>
                  <a:srgbClr val="000000"/>
                </a:solidFill>
              </a:rPr>
              <a:t>Протоколы маршрутизации</a:t>
            </a:r>
            <a:endParaRPr lang="ru-RU" sz="2400" b="1" i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439718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Стандарты Интернета</a:t>
            </a:r>
            <a:endParaRPr lang="ru-RU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77918"/>
            <a:ext cx="9144000" cy="618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84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Стандарты Интернета</a:t>
            </a:r>
            <a:endParaRPr lang="ru-RU" sz="3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031" y="1056460"/>
            <a:ext cx="8015621" cy="556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056026" y="1380844"/>
            <a:ext cx="436213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dirty="0" smtClean="0">
                <a:latin typeface="Arial" pitchFamily="34" charset="0"/>
                <a:cs typeface="Arial" pitchFamily="34" charset="0"/>
              </a:rPr>
              <a:t>Корпорация по управлению доменными</a:t>
            </a:r>
          </a:p>
          <a:p>
            <a:pPr algn="l"/>
            <a:r>
              <a:rPr lang="ru-RU" sz="1100" dirty="0" smtClean="0">
                <a:latin typeface="Arial" pitchFamily="34" charset="0"/>
                <a:cs typeface="Arial" pitchFamily="34" charset="0"/>
              </a:rPr>
              <a:t> именами и IP-адресами</a:t>
            </a:r>
          </a:p>
          <a:p>
            <a:pPr algn="l"/>
            <a:r>
              <a:rPr lang="ru-RU" sz="11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Internet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Corporation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for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Assigned</a:t>
            </a:r>
            <a:endParaRPr lang="ru-RU" sz="1100" dirty="0" smtClean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Names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and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100" dirty="0" err="1" smtClean="0">
                <a:latin typeface="Arial" pitchFamily="34" charset="0"/>
                <a:cs typeface="Arial" pitchFamily="34" charset="0"/>
              </a:rPr>
              <a:t>Numbers</a:t>
            </a:r>
            <a:r>
              <a:rPr lang="ru-RU" sz="1100" dirty="0" smtClean="0">
                <a:latin typeface="Arial" pitchFamily="34" charset="0"/>
                <a:cs typeface="Arial" pitchFamily="34" charset="0"/>
              </a:rPr>
              <a:t>, ICANN)</a:t>
            </a:r>
            <a:endParaRPr lang="ru-RU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1588957" y="1514007"/>
            <a:ext cx="408733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 smtClean="0">
                <a:latin typeface="Arial" pitchFamily="34" charset="0"/>
                <a:cs typeface="Arial" pitchFamily="34" charset="0"/>
              </a:rPr>
              <a:t>Администрация адресного пространства Интернет</a:t>
            </a:r>
          </a:p>
          <a:p>
            <a:r>
              <a:rPr lang="ru-RU" sz="1200" b="1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sz="1200" b="1" dirty="0" err="1" smtClean="0">
                <a:latin typeface="Arial" pitchFamily="34" charset="0"/>
                <a:cs typeface="Arial" pitchFamily="34" charset="0"/>
              </a:rPr>
              <a:t>Internet</a:t>
            </a:r>
            <a:r>
              <a:rPr lang="ru-RU" sz="1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200" b="1" dirty="0" err="1" smtClean="0">
                <a:latin typeface="Arial" pitchFamily="34" charset="0"/>
                <a:cs typeface="Arial" pitchFamily="34" charset="0"/>
              </a:rPr>
              <a:t>Assigned</a:t>
            </a:r>
            <a:r>
              <a:rPr lang="ru-RU" sz="1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200" b="1" dirty="0" err="1" smtClean="0">
                <a:latin typeface="Arial" pitchFamily="34" charset="0"/>
                <a:cs typeface="Arial" pitchFamily="34" charset="0"/>
              </a:rPr>
              <a:t>Numbers</a:t>
            </a:r>
            <a:r>
              <a:rPr lang="ru-RU" sz="12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1200" b="1" dirty="0" err="1" smtClean="0">
                <a:latin typeface="Arial" pitchFamily="34" charset="0"/>
                <a:cs typeface="Arial" pitchFamily="34" charset="0"/>
              </a:rPr>
              <a:t>Authority</a:t>
            </a:r>
            <a:r>
              <a:rPr lang="ru-RU" sz="1200" b="1" dirty="0" smtClean="0">
                <a:latin typeface="Arial" pitchFamily="34" charset="0"/>
                <a:cs typeface="Arial" pitchFamily="34" charset="0"/>
              </a:rPr>
              <a:t>, IANA)</a:t>
            </a:r>
            <a:endParaRPr lang="ru-RU" sz="1200" b="1" dirty="0"/>
          </a:p>
        </p:txBody>
      </p:sp>
    </p:spTree>
    <p:extLst>
      <p:ext uri="{BB962C8B-B14F-4D97-AF65-F5344CB8AC3E}">
        <p14:creationId xmlns:p14="http://schemas.microsoft.com/office/powerpoint/2010/main" val="344058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24219"/>
            <a:ext cx="9144000" cy="1143000"/>
          </a:xfrm>
        </p:spPr>
        <p:txBody>
          <a:bodyPr>
            <a:normAutofit fontScale="90000"/>
          </a:bodyPr>
          <a:lstStyle/>
          <a:p>
            <a:pPr algn="l" defTabSz="814365"/>
            <a:r>
              <a:rPr lang="ru-RU" sz="22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  <a:t>Организации по стандартизации  в области электроники и связи</a:t>
            </a:r>
            <a:r>
              <a:rPr lang="ru-RU" sz="1600" b="1" dirty="0" smtClean="0"/>
              <a:t/>
            </a:r>
            <a:br>
              <a:rPr lang="ru-RU" sz="1600" b="1" dirty="0" smtClean="0"/>
            </a:b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</a:br>
            <a:r>
              <a:rPr lang="ru-RU" sz="32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  <a:t>IEEE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  <a:t> </a:t>
            </a:r>
            <a:r>
              <a:rPr lang="ru-RU" sz="2400" b="1" i="0" dirty="0" smtClean="0">
                <a:solidFill>
                  <a:srgbClr val="708CA1"/>
                </a:solidFill>
                <a:latin typeface="Arial" pitchFamily="34" charset="0"/>
                <a:ea typeface="ＭＳ Ｐゴシック"/>
                <a:cs typeface="Arial" pitchFamily="34" charset="0"/>
              </a:rPr>
              <a:t>(</a:t>
            </a:r>
            <a:r>
              <a:rPr lang="ru-RU" sz="2400" b="1" dirty="0" smtClean="0">
                <a:latin typeface="Arial" pitchFamily="34" charset="0"/>
                <a:cs typeface="Arial" pitchFamily="34" charset="0"/>
              </a:rPr>
              <a:t>Институт инженеров по электротехнике и электронике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 — ( 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Institute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of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Electrical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and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Electronics</a:t>
            </a:r>
            <a:r>
              <a:rPr lang="ru-RU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i="1" dirty="0" err="1" smtClean="0">
                <a:latin typeface="Arial" pitchFamily="34" charset="0"/>
                <a:cs typeface="Arial" pitchFamily="34" charset="0"/>
              </a:rPr>
              <a:t>Engineers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) — международная не коммерческая ассоциация специалистов в области радиоэлектроники и  электротехники.</a:t>
            </a:r>
            <a:r>
              <a:rPr lang="ru-RU" sz="2400" b="1" i="0" dirty="0" smtClean="0">
                <a:solidFill>
                  <a:srgbClr val="708CA1"/>
                </a:solidFill>
                <a:latin typeface="Arial" pitchFamily="34" charset="0"/>
                <a:ea typeface="ＭＳ Ｐゴシック"/>
                <a:cs typeface="Arial" pitchFamily="34" charset="0"/>
              </a:rPr>
              <a:t>)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  <a:ea typeface="ＭＳ Ｐゴシック"/>
                <a:cs typeface="ＭＳ Ｐゴシック"/>
              </a:rPr>
            </a:br>
            <a:endParaRPr lang="ru-RU" sz="3200" b="1" i="0" dirty="0">
              <a:solidFill>
                <a:srgbClr val="708CA1"/>
              </a:solidFill>
              <a:latin typeface="Arial"/>
              <a:ea typeface="ＭＳ Ｐゴシック"/>
              <a:cs typeface="ＭＳ Ｐゴシック"/>
            </a:endParaRPr>
          </a:p>
        </p:txBody>
      </p:sp>
      <p:sp>
        <p:nvSpPr>
          <p:cNvPr id="44034" name="Content Placeholder 1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Стандартизирует канальный и физический уровень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38 обществ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130 журналов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1 300 конференций ежегодно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1 300 стандартов и проектов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400 000 участников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160 стран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IEEE 802.3</a:t>
            </a:r>
            <a:r>
              <a:rPr lang="en-US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  - </a:t>
            </a:r>
            <a:r>
              <a:rPr lang="ru-RU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комитет по </a:t>
            </a:r>
            <a:r>
              <a:rPr lang="en-US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Ethernet</a:t>
            </a:r>
            <a:endParaRPr lang="ru-RU" sz="2000" b="1" i="0" dirty="0" smtClean="0">
              <a:solidFill>
                <a:srgbClr val="000000"/>
              </a:solidFill>
              <a:latin typeface="Arial"/>
              <a:ea typeface="ＭＳ Ｐゴシック"/>
              <a:cs typeface="ＭＳ Ｐゴシック"/>
            </a:endParaRPr>
          </a:p>
          <a:p>
            <a:pPr marL="236555" indent="-236555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IEEE 802.11</a:t>
            </a:r>
            <a:r>
              <a:rPr lang="en-US" sz="2000" b="1" i="0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 - </a:t>
            </a:r>
            <a:r>
              <a:rPr lang="ru-RU" sz="2000" b="1" dirty="0" smtClean="0">
                <a:solidFill>
                  <a:srgbClr val="000000"/>
                </a:solidFill>
                <a:latin typeface="Arial" pitchFamily="34" charset="0"/>
                <a:ea typeface="ＭＳ Ｐゴシック"/>
                <a:cs typeface="Arial" pitchFamily="34" charset="0"/>
              </a:rPr>
              <a:t>комитет по</a:t>
            </a:r>
            <a:r>
              <a:rPr lang="en-US" sz="2000" b="1" dirty="0" smtClean="0">
                <a:solidFill>
                  <a:srgbClr val="000000"/>
                </a:solidFill>
                <a:latin typeface="Arial" pitchFamily="34" charset="0"/>
                <a:ea typeface="ＭＳ Ｐゴシック"/>
                <a:cs typeface="Arial" pitchFamily="34" charset="0"/>
              </a:rPr>
              <a:t> </a:t>
            </a:r>
            <a:r>
              <a:rPr lang="ru-RU" sz="2000" b="1" dirty="0" smtClean="0">
                <a:solidFill>
                  <a:srgbClr val="000000"/>
                </a:solidFill>
                <a:latin typeface="Arial" pitchFamily="34" charset="0"/>
                <a:ea typeface="ＭＳ Ｐゴシック"/>
                <a:cs typeface="Arial" pitchFamily="34" charset="0"/>
              </a:rPr>
              <a:t>беспроводным сетям</a:t>
            </a:r>
          </a:p>
          <a:p>
            <a:pPr marL="236555" indent="-236555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b="1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IEEE 802.15 – комитете по персональным сетям (</a:t>
            </a:r>
            <a:r>
              <a:rPr lang="en-US" sz="2000" b="1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WPAN</a:t>
            </a:r>
            <a:r>
              <a:rPr lang="ru-RU" sz="2000" b="1" dirty="0" smtClean="0">
                <a:solidFill>
                  <a:srgbClr val="000000"/>
                </a:solidFill>
                <a:latin typeface="Arial"/>
                <a:ea typeface="ＭＳ Ｐゴシック"/>
                <a:cs typeface="ＭＳ Ｐゴシック"/>
              </a:rPr>
              <a:t>)</a:t>
            </a:r>
            <a:endParaRPr lang="ru-RU" sz="2000" b="1" i="0" dirty="0">
              <a:solidFill>
                <a:srgbClr val="000000"/>
              </a:solidFill>
              <a:latin typeface="Arial" pitchFamily="34" charset="0"/>
              <a:ea typeface="ＭＳ Ｐゴシック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03229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8705" y="392113"/>
            <a:ext cx="8145462" cy="454554"/>
          </a:xfrm>
        </p:spPr>
        <p:txBody>
          <a:bodyPr/>
          <a:lstStyle/>
          <a:p>
            <a:r>
              <a:rPr lang="ru-RU" sz="2800" dirty="0" smtClean="0"/>
              <a:t>Маршрутизация 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41866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Маршрутизация – поиск оптимального маршрута доставки пакета  между сетями через транзитные узлы – маршрутизаторы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Этапы маршрутизации: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Изучение сети 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Определение оптимального маршрута и продвижение пакета маршрутизаторами по этому маршруту</a:t>
            </a:r>
          </a:p>
          <a:p>
            <a:pPr lvl="1"/>
            <a:endParaRPr lang="ru-R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78" y="4412116"/>
            <a:ext cx="3997551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739" y="4412116"/>
            <a:ext cx="4056289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611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377599"/>
            <a:ext cx="8145462" cy="478744"/>
          </a:xfrm>
        </p:spPr>
        <p:txBody>
          <a:bodyPr/>
          <a:lstStyle/>
          <a:p>
            <a:r>
              <a:rPr lang="ru-RU" dirty="0" smtClean="0"/>
              <a:t>Основные функции </a:t>
            </a:r>
            <a:r>
              <a:rPr lang="ru-RU" dirty="0" err="1" smtClean="0"/>
              <a:t>маршрутизаторов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5638" y="1158196"/>
            <a:ext cx="7940675" cy="3571875"/>
          </a:xfrm>
        </p:spPr>
        <p:txBody>
          <a:bodyPr/>
          <a:lstStyle/>
          <a:p>
            <a:r>
              <a:rPr lang="ru-RU" dirty="0" smtClean="0"/>
              <a:t>Связывание сетей </a:t>
            </a:r>
          </a:p>
          <a:p>
            <a:r>
              <a:rPr lang="ru-RU" dirty="0" smtClean="0"/>
              <a:t>Маршрутизация пакетов; 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551316"/>
          </a:xfrm>
        </p:spPr>
        <p:txBody>
          <a:bodyPr/>
          <a:lstStyle/>
          <a:p>
            <a:r>
              <a:rPr lang="ru-RU" dirty="0" smtClean="0"/>
              <a:t>Дополнительные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1124" y="1651681"/>
            <a:ext cx="7940675" cy="3571875"/>
          </a:xfrm>
        </p:spPr>
        <p:txBody>
          <a:bodyPr/>
          <a:lstStyle/>
          <a:p>
            <a:r>
              <a:rPr lang="en-US" dirty="0" smtClean="0"/>
              <a:t>NAT</a:t>
            </a:r>
            <a:endParaRPr lang="ru-RU" dirty="0" smtClean="0"/>
          </a:p>
          <a:p>
            <a:r>
              <a:rPr lang="en-US" dirty="0" err="1" smtClean="0"/>
              <a:t>DHCP</a:t>
            </a:r>
            <a:r>
              <a:rPr lang="ru-RU" dirty="0" smtClean="0"/>
              <a:t> - сервер</a:t>
            </a:r>
          </a:p>
          <a:p>
            <a:r>
              <a:rPr lang="en-US" dirty="0" err="1" smtClean="0"/>
              <a:t>SLAAC</a:t>
            </a:r>
            <a:r>
              <a:rPr lang="ru-RU" dirty="0" smtClean="0"/>
              <a:t> - сервер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en-US" dirty="0" smtClean="0"/>
              <a:t>DNS </a:t>
            </a:r>
            <a:r>
              <a:rPr lang="ru-RU" dirty="0" smtClean="0"/>
              <a:t>- сервер</a:t>
            </a:r>
          </a:p>
          <a:p>
            <a:r>
              <a:rPr lang="en-US" dirty="0" err="1" smtClean="0"/>
              <a:t>VPN</a:t>
            </a:r>
            <a:endParaRPr lang="ru-RU" dirty="0" smtClean="0"/>
          </a:p>
          <a:p>
            <a:r>
              <a:rPr lang="ru-RU" dirty="0" smtClean="0"/>
              <a:t>Межсетевой экран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Сетевое  время</a:t>
            </a:r>
          </a:p>
          <a:p>
            <a:r>
              <a:rPr lang="ru-RU" dirty="0" smtClean="0"/>
              <a:t>Мониторинг сети</a:t>
            </a:r>
          </a:p>
          <a:p>
            <a:r>
              <a:rPr lang="ru-RU" dirty="0" smtClean="0"/>
              <a:t>И другие ……….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75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02273"/>
            <a:ext cx="8831580" cy="838200"/>
          </a:xfrm>
        </p:spPr>
        <p:txBody>
          <a:bodyPr/>
          <a:lstStyle/>
          <a:p>
            <a:r>
              <a:rPr lang="ru-RU" sz="2800" dirty="0" err="1" smtClean="0"/>
              <a:t>Маршрутизатор</a:t>
            </a:r>
            <a:r>
              <a:rPr lang="ru-RU" sz="2800" dirty="0" smtClean="0"/>
              <a:t> – специализированный компьютер</a:t>
            </a:r>
            <a:endParaRPr lang="ru-RU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546405"/>
            <a:ext cx="6842760" cy="4851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3765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55638" y="537256"/>
            <a:ext cx="8145462" cy="510148"/>
          </a:xfrm>
        </p:spPr>
        <p:txBody>
          <a:bodyPr/>
          <a:lstStyle/>
          <a:p>
            <a:pPr algn="l" defTabSz="81436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2800" dirty="0" smtClean="0"/>
              <a:t>У маршрутизатора </a:t>
            </a:r>
            <a:r>
              <a:rPr lang="ru-RU" sz="2800" dirty="0" smtClean="0"/>
              <a:t>минимум 3 </a:t>
            </a:r>
            <a:r>
              <a:rPr lang="ru-RU" sz="2800" dirty="0" smtClean="0"/>
              <a:t>уровня модели </a:t>
            </a:r>
            <a:r>
              <a:rPr lang="en-US" sz="2800" dirty="0" err="1" smtClean="0"/>
              <a:t>OSI</a:t>
            </a:r>
            <a:endParaRPr lang="ru-RU" sz="28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8458" y="1378856"/>
            <a:ext cx="5839999" cy="462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318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23913" y="2447471"/>
            <a:ext cx="7772400" cy="1362075"/>
          </a:xfrm>
        </p:spPr>
        <p:txBody>
          <a:bodyPr/>
          <a:lstStyle/>
          <a:p>
            <a:r>
              <a:rPr lang="ru-RU" dirty="0" smtClean="0"/>
              <a:t>Оптимальный путь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6594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8552" y="392113"/>
            <a:ext cx="8145462" cy="464230"/>
          </a:xfrm>
        </p:spPr>
        <p:txBody>
          <a:bodyPr/>
          <a:lstStyle/>
          <a:p>
            <a:r>
              <a:rPr lang="ru-RU" dirty="0" smtClean="0"/>
              <a:t>Оптимальный путь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Для определения оптимального пути используют две характеристики: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Метрика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Административная дистанция</a:t>
            </a:r>
            <a:endParaRPr lang="ru-R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033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</a:rPr>
              <a:t>Определение пути</a:t>
            </a:r>
            <a:r>
              <a:rPr lang="ru-RU" sz="3200" b="1" i="0" dirty="0" smtClean="0">
                <a:solidFill>
                  <a:srgbClr val="708CA1"/>
                </a:solidFill>
                <a:latin typeface="Arial"/>
              </a:rPr>
              <a:t/>
            </a:r>
            <a:br>
              <a:rPr lang="ru-RU" sz="3200" b="1" i="0" dirty="0" smtClean="0">
                <a:solidFill>
                  <a:srgbClr val="708CA1"/>
                </a:solidFill>
                <a:latin typeface="Arial"/>
              </a:rPr>
            </a:br>
            <a:r>
              <a:rPr lang="ru-RU" sz="3200" b="1" i="0" dirty="0" smtClean="0">
                <a:solidFill>
                  <a:srgbClr val="708CA1"/>
                </a:solidFill>
                <a:latin typeface="Arial"/>
              </a:rPr>
              <a:t>Метрика</a:t>
            </a:r>
            <a:endParaRPr lang="ru-RU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 bwMode="auto">
          <a:xfrm>
            <a:off x="478970" y="1386114"/>
            <a:ext cx="8055430" cy="35922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6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Метрика — это числовое значение, характеризующее </a:t>
            </a:r>
            <a:r>
              <a:rPr lang="ru-RU" sz="2600" b="0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«стоимость»  маршрута. </a:t>
            </a:r>
            <a:r>
              <a:rPr lang="ru-RU" sz="2600" b="0" i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6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качестве метрики могут выступать:</a:t>
            </a: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dirty="0" smtClean="0">
                <a:latin typeface="Arial"/>
              </a:rPr>
              <a:t>Количество переходов (маршрутизаторов) между сетями;</a:t>
            </a: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dirty="0" smtClean="0">
                <a:latin typeface="Arial"/>
              </a:rPr>
              <a:t>Суммарная пропускная способность;</a:t>
            </a: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dirty="0" smtClean="0">
                <a:latin typeface="Arial"/>
              </a:rPr>
              <a:t>Время задержки  </a:t>
            </a: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chemeClr val="tx1"/>
                </a:solidFill>
                <a:latin typeface="Arial"/>
              </a:rPr>
              <a:t>Стоимость</a:t>
            </a: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chemeClr val="tx1"/>
                </a:solidFill>
                <a:latin typeface="Arial"/>
              </a:rPr>
              <a:t>А также их комбинации.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sz="2000" b="0" i="0" dirty="0" smtClean="0">
              <a:solidFill>
                <a:schemeClr val="tx1"/>
              </a:solidFill>
              <a:latin typeface="Arial"/>
            </a:endParaRPr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None/>
            </a:pPr>
            <a:endParaRPr lang="ru-RU" sz="18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None/>
            </a:pPr>
            <a:endParaRPr lang="ru-RU" dirty="0" smtClean="0"/>
          </a:p>
          <a:p>
            <a:pPr marL="693755" lvl="1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 smtClean="0"/>
          </a:p>
          <a:p>
            <a:pPr algn="l">
              <a:buNone/>
            </a:pPr>
            <a:r>
              <a:rPr lang="ru-RU" sz="2400" b="1" i="0" dirty="0" smtClean="0">
                <a:solidFill>
                  <a:schemeClr val="tx1"/>
                </a:solidFill>
                <a:latin typeface="Arial"/>
              </a:rPr>
              <a:t>Алгоритм кратчайшего пути (OSPF) </a:t>
            </a:r>
            <a:r>
              <a:rPr lang="ru-RU" sz="2400" b="0" i="0" dirty="0" smtClean="0">
                <a:solidFill>
                  <a:schemeClr val="tx1"/>
                </a:solidFill>
                <a:latin typeface="Arial"/>
              </a:rPr>
              <a:t>—- метрика, основанная на суммарной пропускной способности от источника до места назначения.</a:t>
            </a:r>
          </a:p>
          <a:p>
            <a:pPr algn="l">
              <a:buNone/>
            </a:pPr>
            <a:r>
              <a:rPr lang="ru-RU" sz="2400" b="1" i="0" dirty="0" smtClean="0">
                <a:solidFill>
                  <a:schemeClr val="tx1"/>
                </a:solidFill>
                <a:latin typeface="Arial"/>
              </a:rPr>
              <a:t>Усовершенствованный протокол внутренней маршрутизации между шлюзами (Протокол EIGRP) </a:t>
            </a:r>
            <a:r>
              <a:rPr lang="ru-RU" sz="2400" b="0" i="0" dirty="0" smtClean="0">
                <a:solidFill>
                  <a:schemeClr val="tx1"/>
                </a:solidFill>
                <a:latin typeface="Arial"/>
              </a:rPr>
              <a:t>— пропускная способность, задержка, нагрузка и надёжность.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chemeClr val="tx1"/>
                </a:solidFill>
                <a:latin typeface="Arial"/>
              </a:rPr>
              <a:t>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b="0" i="0" u="none" strike="noStrike" kern="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0817" y="5428342"/>
            <a:ext cx="7703583" cy="7571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ru-RU" dirty="0">
                <a:latin typeface="Arial"/>
              </a:rPr>
              <a:t>Наиболее </a:t>
            </a:r>
            <a:r>
              <a:rPr lang="ru-RU" dirty="0">
                <a:solidFill>
                  <a:srgbClr val="FF0000"/>
                </a:solidFill>
                <a:latin typeface="Arial"/>
              </a:rPr>
              <a:t>оптимальным путём </a:t>
            </a:r>
            <a:r>
              <a:rPr lang="ru-RU" dirty="0">
                <a:latin typeface="Arial"/>
              </a:rPr>
              <a:t>к сети является путь </a:t>
            </a:r>
            <a:endParaRPr lang="ru-RU" dirty="0" smtClean="0">
              <a:latin typeface="Arial"/>
            </a:endParaRPr>
          </a:p>
          <a:p>
            <a:r>
              <a:rPr lang="ru-RU" dirty="0" smtClean="0">
                <a:latin typeface="Arial"/>
              </a:rPr>
              <a:t>с </a:t>
            </a:r>
            <a:r>
              <a:rPr lang="ru-RU" dirty="0">
                <a:solidFill>
                  <a:srgbClr val="FF0000"/>
                </a:solidFill>
                <a:latin typeface="Arial"/>
              </a:rPr>
              <a:t>наименьшей метрикой</a:t>
            </a:r>
            <a:r>
              <a:rPr lang="ru-RU" dirty="0" smtClean="0">
                <a:latin typeface="Arial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23850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145463" cy="465818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3200" b="1" i="0" dirty="0" smtClean="0">
                <a:solidFill>
                  <a:srgbClr val="708CA1"/>
                </a:solidFill>
                <a:latin typeface="Arial"/>
              </a:rPr>
              <a:t>Административная дистанция</a:t>
            </a:r>
            <a:endParaRPr lang="ru-RU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217715" y="921657"/>
            <a:ext cx="8788400" cy="45502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2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Административная дистанция </a:t>
            </a:r>
            <a:r>
              <a:rPr lang="ru-RU" sz="2200" b="1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характеризует «</a:t>
            </a:r>
            <a:r>
              <a:rPr lang="ru-RU" sz="2200" b="1" i="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надёжность</a:t>
            </a:r>
            <a:r>
              <a:rPr lang="ru-RU" sz="2200" b="1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» маршрута.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r>
              <a:rPr lang="en-US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AD  </a:t>
            </a:r>
            <a:r>
              <a:rPr lang="ru-RU" sz="2200" b="1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представляет собой число, которое присваивается  маршруту в зависимости от того по каким правилам (протоколам)  он был построен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708CA1"/>
              </a:buClr>
              <a:buFont typeface="Wingdings"/>
              <a:buChar char="§"/>
            </a:pP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Протоколы 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характеризуются: </a:t>
            </a:r>
            <a:r>
              <a:rPr lang="ru-R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нагрузкой на процессоры  маршрутизатора, </a:t>
            </a:r>
            <a:r>
              <a:rPr lang="ru-RU" sz="2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алгоритмами  поиска оптимального маршрута, дополнительным </a:t>
            </a:r>
            <a:r>
              <a:rPr lang="ru-R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служебным трафиком, безопасностью </a:t>
            </a:r>
            <a:r>
              <a:rPr lang="ru-RU" sz="20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и.т.д</a:t>
            </a:r>
            <a:r>
              <a:rPr lang="ru-RU" sz="20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buClr>
                <a:srgbClr val="708CA1"/>
              </a:buClr>
              <a:buFont typeface="Wingdings"/>
              <a:buChar char="§"/>
            </a:pPr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ct val="50000"/>
              </a:lnSpc>
              <a:buFont typeface="Arial" panose="020B0604020202020204" pitchFamily="34" charset="0"/>
              <a:buChar char="•"/>
            </a:pPr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ru-R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Чем ниже значение </a:t>
            </a:r>
            <a:r>
              <a:rPr lang="ru-R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ru-RU" sz="2000" dirty="0">
                <a:latin typeface="Calibri" panose="020F0502020204030204" pitchFamily="34" charset="0"/>
                <a:cs typeface="Calibri" panose="020F0502020204030204" pitchFamily="34" charset="0"/>
              </a:rPr>
              <a:t>, тем выше надёжность маршрута.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b="0" i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b="0" i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b="0" i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b="0" i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sz="180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sz="1800" b="0" i="0" kern="0" dirty="0" smtClean="0">
              <a:solidFill>
                <a:schemeClr val="tx1"/>
              </a:solidFill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sz="1800" u="none" strike="noStrike" kern="0" cap="none" spc="0" normalizeH="0" baseline="0" dirty="0" smtClean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sz="1800" b="0" i="0" kern="0" dirty="0" smtClean="0">
              <a:solidFill>
                <a:schemeClr val="tx1"/>
              </a:solidFill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sz="180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sz="180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Arial"/>
            </a:endParaRPr>
          </a:p>
          <a:p>
            <a:pPr algn="l"/>
            <a:endParaRPr lang="ru-RU" sz="1800" dirty="0" smtClean="0"/>
          </a:p>
          <a:p>
            <a:pPr algn="l"/>
            <a:endParaRPr lang="ru-RU" sz="1800" dirty="0"/>
          </a:p>
          <a:p>
            <a:pPr algn="l"/>
            <a:r>
              <a:rPr lang="ru-RU" sz="1800" dirty="0" smtClean="0"/>
              <a:t> </a:t>
            </a:r>
            <a:endParaRPr kumimoji="0" lang="ru-RU" sz="1800" b="0" i="0" u="none" strike="noStrike" kern="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7" b="2294"/>
          <a:stretch/>
        </p:blipFill>
        <p:spPr bwMode="auto">
          <a:xfrm>
            <a:off x="1013416" y="2734974"/>
            <a:ext cx="5905500" cy="2736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678907" y="3196771"/>
            <a:ext cx="28725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`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216881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145463" cy="838200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</a:rPr>
              <a:t>Определение пути</a:t>
            </a:r>
            <a:r>
              <a:rPr lang="ru-RU" sz="3200" b="1" i="0" smtClean="0">
                <a:solidFill>
                  <a:srgbClr val="708CA1"/>
                </a:solidFill>
                <a:latin typeface="Arial"/>
              </a:rPr>
              <a:t/>
            </a:r>
            <a:br>
              <a:rPr lang="ru-RU" sz="3200" b="1" i="0" smtClean="0">
                <a:solidFill>
                  <a:srgbClr val="708CA1"/>
                </a:solidFill>
                <a:latin typeface="Arial"/>
              </a:rPr>
            </a:br>
            <a:r>
              <a:rPr lang="ru-RU" sz="3200" b="1" i="0" smtClean="0">
                <a:solidFill>
                  <a:srgbClr val="708CA1"/>
                </a:solidFill>
                <a:latin typeface="Arial"/>
              </a:rPr>
              <a:t>Распределение нагрузки</a:t>
            </a:r>
            <a:endParaRPr lang="ru-RU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 bwMode="auto">
          <a:xfrm>
            <a:off x="478970" y="1386114"/>
            <a:ext cx="8055430" cy="5087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kumimoji="0" lang="ru-RU" b="0" i="0" u="none" strike="noStrike" kern="0" cap="none" spc="0" normalizeH="0" baseline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 bwMode="auto">
          <a:xfrm>
            <a:off x="631370" y="1538514"/>
            <a:ext cx="8055430" cy="5087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endParaRPr lang="ru-RU" sz="1800" smtClean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endParaRPr lang="ru-RU" smtClean="0"/>
          </a:p>
          <a:p>
            <a:pPr marL="693738" lvl="1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lang="ru-RU" smtClean="0"/>
          </a:p>
          <a:p>
            <a:pPr marL="236538" lvl="0" indent="-236538" algn="l"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itchFamily="2" charset="2"/>
              <a:buChar char="§"/>
            </a:pPr>
            <a:endParaRPr kumimoji="0" lang="ru-RU" b="0" i="0" u="none" strike="noStrike" kern="0" cap="none" spc="0" normalizeH="0" baseline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Content Placeholder 3"/>
          <p:cNvSpPr txBox="1">
            <a:spLocks/>
          </p:cNvSpPr>
          <p:nvPr/>
        </p:nvSpPr>
        <p:spPr bwMode="auto">
          <a:xfrm>
            <a:off x="580570" y="1458686"/>
            <a:ext cx="8055430" cy="50872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marL="236555" indent="-236555" algn="l" defTabSz="814365">
              <a:lnSpc>
                <a:spcPct val="100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Из нескольких маршрутов к одному</a:t>
            </a:r>
            <a:r>
              <a:rPr lang="en-US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тому же  пункту выбирается маршрут, построенный на базе протокола с меньшей </a:t>
            </a:r>
            <a:r>
              <a:rPr lang="en-US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AD.</a:t>
            </a:r>
          </a:p>
          <a:p>
            <a:pPr marL="236555" indent="-236555" algn="l" defTabSz="814365">
              <a:lnSpc>
                <a:spcPct val="100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Из нескольких маршрутов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с одной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AD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выбирается маршрут с наименьшей метрикой.</a:t>
            </a:r>
            <a:endParaRPr lang="ru-RU" sz="2400" b="0" i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36555" indent="-236555" algn="l" defTabSz="814365">
              <a:lnSpc>
                <a:spcPct val="100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маршрутизатор располагает несколькими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маршрутами к одному и тому же пункту с одинаковой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AD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, и метрикой, то он </a:t>
            </a:r>
            <a:r>
              <a:rPr lang="ru-RU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распределяет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 пакеты  по </a:t>
            </a:r>
            <a:r>
              <a:rPr lang="en-US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400" b="0" i="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обоим маршрутам.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sz="2400" b="0" i="0" dirty="0" smtClean="0">
              <a:solidFill>
                <a:schemeClr val="tx1"/>
              </a:solidFill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lang="ru-RU" dirty="0">
              <a:latin typeface="Arial"/>
            </a:endParaRP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r>
              <a:rPr lang="ru-RU" sz="2400" b="0" i="0" dirty="0" smtClean="0">
                <a:solidFill>
                  <a:schemeClr val="tx1"/>
                </a:solidFill>
                <a:latin typeface="Arial"/>
              </a:rPr>
              <a:t> </a:t>
            </a:r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/>
              <a:buChar char="§"/>
            </a:pPr>
            <a:endParaRPr kumimoji="0" lang="ru-RU" b="0" i="0" u="none" strike="noStrike" kern="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51045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6827" y="2244272"/>
            <a:ext cx="7772400" cy="1362075"/>
          </a:xfrm>
        </p:spPr>
        <p:txBody>
          <a:bodyPr/>
          <a:lstStyle/>
          <a:p>
            <a:r>
              <a:rPr lang="ru-RU" dirty="0" smtClean="0"/>
              <a:t>Таблица маршрутизации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518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5478" y="432753"/>
            <a:ext cx="8145462" cy="339407"/>
          </a:xfrm>
        </p:spPr>
        <p:txBody>
          <a:bodyPr/>
          <a:lstStyle/>
          <a:p>
            <a:r>
              <a:rPr lang="ru-RU" dirty="0" smtClean="0"/>
              <a:t>Записи таблицы маршрутизации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5638" y="957898"/>
            <a:ext cx="7940675" cy="5696902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Таблица маршрутизации содержит записи о: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Маршрутах к сетям с прямым подключением.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Маршрутах  к удаленным сетям.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Маршрутах к удаленной сетям  по умолчанию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0" y="784393"/>
            <a:ext cx="8573006" cy="3000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83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21142"/>
            <a:ext cx="9652000" cy="405447"/>
          </a:xfrm>
        </p:spPr>
        <p:txBody>
          <a:bodyPr/>
          <a:lstStyle/>
          <a:p>
            <a:r>
              <a:rPr lang="ru-RU" sz="2600" dirty="0" smtClean="0"/>
              <a:t>Запись о маршрутах  к сетям с прямым подключением</a:t>
            </a:r>
            <a:endParaRPr lang="ru-RU" sz="2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2014538"/>
            <a:ext cx="9144000" cy="4154033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Маршрутизатор, с настроенным </a:t>
            </a:r>
            <a:r>
              <a:rPr lang="ru-RU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-адресом и маской подсети при включении, </a:t>
            </a:r>
            <a:r>
              <a:rPr lang="ru-RU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автоматически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создает две записи в  таблице маршрутизации, имеющие для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Cisco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IOS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обозначение: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3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IP-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 сети, </a:t>
            </a:r>
            <a:r>
              <a:rPr lang="ru-RU" sz="2300" dirty="0">
                <a:latin typeface="Calibri" panose="020F0502020204030204" pitchFamily="34" charset="0"/>
                <a:cs typeface="Calibri" panose="020F0502020204030204" pitchFamily="34" charset="0"/>
              </a:rPr>
              <a:t>непосредственно подключенной к 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интерфейсу маршрутизатора   </a:t>
            </a:r>
            <a:r>
              <a:rPr lang="ru-RU" sz="23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( сеть с прямым подключением). </a:t>
            </a:r>
          </a:p>
          <a:p>
            <a:pPr marL="800100" lvl="1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3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ru-RU" sz="23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-адрес этого интерфейса. на маршрутизаторе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53" y="1593157"/>
            <a:ext cx="760184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171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1734" y="342900"/>
            <a:ext cx="8145462" cy="508000"/>
          </a:xfrm>
        </p:spPr>
        <p:txBody>
          <a:bodyPr/>
          <a:lstStyle/>
          <a:p>
            <a:r>
              <a:rPr lang="ru-RU" sz="2800" dirty="0"/>
              <a:t>Записи об маршрутах к удаленным сетям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Маршрутизатор</a:t>
            </a:r>
            <a:r>
              <a:rPr lang="ru-RU" dirty="0" smtClean="0"/>
              <a:t>  строит маршрут на основе анализа таблицы маршрутизации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1100"/>
            <a:ext cx="9017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0" y="5922963"/>
            <a:ext cx="8825070" cy="83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28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04813"/>
            <a:ext cx="8145462" cy="369887"/>
          </a:xfrm>
        </p:spPr>
        <p:txBody>
          <a:bodyPr/>
          <a:lstStyle/>
          <a:p>
            <a:r>
              <a:rPr lang="ru-RU" dirty="0" smtClean="0"/>
              <a:t>Запись о маршруте по умолчанию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7257" y="4325711"/>
            <a:ext cx="9144000" cy="16850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ru-RU" sz="23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 по умолчанию 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– маршрут по которому отправляются пакеты,</a:t>
            </a:r>
          </a:p>
          <a:p>
            <a:pPr algn="l"/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 если в таблице маршрутизации отсутствуют  другие маршруты к удаленной сети</a:t>
            </a:r>
          </a:p>
          <a:p>
            <a:pPr algn="l"/>
            <a:endParaRPr lang="ru-RU" sz="23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3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2300" dirty="0" smtClean="0">
                <a:latin typeface="Calibri" panose="020F0502020204030204" pitchFamily="34" charset="0"/>
                <a:cs typeface="Calibri" panose="020F0502020204030204" pitchFamily="34" charset="0"/>
              </a:rPr>
              <a:t>адрес и маска  удаленной сети  состоят из нулей</a:t>
            </a:r>
            <a:endParaRPr lang="ru-RU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19" y="1447800"/>
            <a:ext cx="836385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010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0398" y="463233"/>
            <a:ext cx="8145462" cy="496887"/>
          </a:xfrm>
        </p:spPr>
        <p:txBody>
          <a:bodyPr/>
          <a:lstStyle/>
          <a:p>
            <a:r>
              <a:rPr lang="ru-RU" dirty="0" smtClean="0"/>
              <a:t>Маршруты к удаленным сетям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5638" y="1343978"/>
            <a:ext cx="8488362" cy="3571875"/>
          </a:xfrm>
        </p:spPr>
        <p:txBody>
          <a:bodyPr/>
          <a:lstStyle/>
          <a:p>
            <a:r>
              <a:rPr lang="ru-RU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Статические маршруты 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– задаются вручную администратором 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itchFamily="34" charset="0"/>
              <a:buChar char="•"/>
            </a:pPr>
            <a:endParaRPr lang="ru-RU" b="1" i="1" dirty="0" smtClean="0"/>
          </a:p>
          <a:p>
            <a:r>
              <a:rPr lang="ru-RU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Динамические маршруты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– создаются автоматически с помощью протоколов динамической маршрутизации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2888570"/>
            <a:ext cx="8145462" cy="838200"/>
          </a:xfrm>
        </p:spPr>
        <p:txBody>
          <a:bodyPr/>
          <a:lstStyle/>
          <a:p>
            <a:r>
              <a:rPr lang="ru-RU" dirty="0" smtClean="0"/>
              <a:t>Статическая маршрутизация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052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17513"/>
            <a:ext cx="9144000" cy="563389"/>
          </a:xfrm>
        </p:spPr>
        <p:txBody>
          <a:bodyPr/>
          <a:lstStyle/>
          <a:p>
            <a:r>
              <a:rPr lang="ru-RU" dirty="0" smtClean="0"/>
              <a:t>Статические маршруты к удаленным сетям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55638" y="1219200"/>
            <a:ext cx="7940675" cy="4367213"/>
          </a:xfrm>
        </p:spPr>
        <p:txBody>
          <a:bodyPr/>
          <a:lstStyle/>
          <a:p>
            <a:pPr>
              <a:buNone/>
            </a:pPr>
            <a:r>
              <a:rPr lang="ru-R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Бывают: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Стандартный статический маршрут;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Статический маршрут по умолчанию;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Суммарный статический маршрут: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Плавающий статический маршрут.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038" y="827542"/>
            <a:ext cx="8145462" cy="420687"/>
          </a:xfrm>
        </p:spPr>
        <p:txBody>
          <a:bodyPr/>
          <a:lstStyle/>
          <a:p>
            <a:r>
              <a:rPr lang="ru-RU" sz="2600" dirty="0" smtClean="0"/>
              <a:t>Стандартный статический маршрут к удаленной сети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0286" y="972457"/>
            <a:ext cx="8592457" cy="5617029"/>
          </a:xfrm>
        </p:spPr>
        <p:txBody>
          <a:bodyPr/>
          <a:lstStyle/>
          <a:p>
            <a:endParaRPr lang="ru-RU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R(</a:t>
            </a:r>
            <a:r>
              <a:rPr lang="en-US" sz="2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)# </a:t>
            </a:r>
            <a:r>
              <a:rPr lang="en-US" sz="2600" i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sz="26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route</a:t>
            </a:r>
            <a:r>
              <a:rPr lang="ru-RU" sz="26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600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a</a:t>
            </a:r>
            <a:r>
              <a:rPr lang="ru-RU" sz="2600" dirty="0" err="1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дрес</a:t>
            </a:r>
            <a:r>
              <a:rPr lang="en-US" sz="26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6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сети назначения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)   ( </a:t>
            </a:r>
            <a:r>
              <a:rPr lang="ru-RU" sz="26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</a:t>
            </a:r>
            <a:r>
              <a:rPr lang="ru-RU" sz="26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аска </a:t>
            </a:r>
          </a:p>
          <a:p>
            <a:r>
              <a:rPr lang="ru-RU" sz="26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сети назначения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ru-RU" sz="26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</a:t>
            </a:r>
            <a:r>
              <a:rPr lang="ru-RU" sz="26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араметры следующего перехода</a:t>
            </a:r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ru-RU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/>
          </a:p>
          <a:p>
            <a:endParaRPr lang="ru-RU" dirty="0" smtClean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В зависимости от параметра следующего перехода бывают: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1.</a:t>
            </a:r>
            <a:r>
              <a:rPr lang="ru-RU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Маршрут следующего перехода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— указывается только </a:t>
            </a:r>
            <a:r>
              <a:rPr lang="ru-RU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-адрес следующего перехода (маршрутизатора).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2. </a:t>
            </a:r>
            <a:r>
              <a:rPr lang="ru-RU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Напрямую подключённый статический маршрут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— указывается только выходной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 интерфейс маршрутизатора.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1+2 </a:t>
            </a:r>
            <a:r>
              <a:rPr lang="ru-RU" sz="22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Полностью </a:t>
            </a:r>
            <a:r>
              <a:rPr lang="ru-RU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заданный статический маршрут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указываются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и выходной интерфейс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и  </a:t>
            </a:r>
            <a:r>
              <a:rPr lang="ru-RU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-адрес следующего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перехода. 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772" y="3007581"/>
            <a:ext cx="2554514" cy="59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155" y="3013779"/>
            <a:ext cx="2527722" cy="594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Прямая со стрелкой 4"/>
          <p:cNvCxnSpPr>
            <a:cxnSpLocks/>
            <a:stCxn id="3074" idx="0"/>
          </p:cNvCxnSpPr>
          <p:nvPr/>
        </p:nvCxnSpPr>
        <p:spPr bwMode="auto">
          <a:xfrm flipV="1">
            <a:off x="3585029" y="2629102"/>
            <a:ext cx="319314" cy="37847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Прямая со стрелкой 8"/>
          <p:cNvCxnSpPr/>
          <p:nvPr/>
        </p:nvCxnSpPr>
        <p:spPr bwMode="auto">
          <a:xfrm flipH="1" flipV="1">
            <a:off x="5646057" y="2437291"/>
            <a:ext cx="304800" cy="37847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715" y="2476865"/>
            <a:ext cx="609600" cy="49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016" y="2460886"/>
            <a:ext cx="566057" cy="552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913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</a:rPr>
              <a:t>Настройка статических маршрутов IPv4</a:t>
            </a:r>
            <a:br>
              <a:rPr lang="ru-RU" sz="1800" b="1" i="0" smtClean="0">
                <a:solidFill>
                  <a:srgbClr val="708CA1"/>
                </a:solidFill>
                <a:latin typeface="Arial"/>
              </a:rPr>
            </a:br>
            <a:r>
              <a:rPr lang="ru-RU" sz="3200" b="1" i="0" smtClean="0">
                <a:solidFill>
                  <a:srgbClr val="708CA1"/>
                </a:solidFill>
                <a:latin typeface="Arial"/>
              </a:rPr>
              <a:t>Команда ip route</a:t>
            </a:r>
            <a:endParaRPr lang="ru-RU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7175"/>
            <a:ext cx="6614249" cy="4997434"/>
          </a:xfrm>
        </p:spPr>
      </p:pic>
    </p:spTree>
    <p:extLst>
      <p:ext uri="{BB962C8B-B14F-4D97-AF65-F5344CB8AC3E}">
        <p14:creationId xmlns:p14="http://schemas.microsoft.com/office/powerpoint/2010/main" val="180272825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82400"/>
            <a:ext cx="9144000" cy="420687"/>
          </a:xfrm>
        </p:spPr>
        <p:txBody>
          <a:bodyPr/>
          <a:lstStyle/>
          <a:p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Статический  маршрут следующего перехода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44" y="1088571"/>
            <a:ext cx="8998856" cy="5617029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5438775"/>
            <a:ext cx="81153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85863"/>
            <a:ext cx="9144001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16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82400"/>
            <a:ext cx="9144000" cy="420687"/>
          </a:xfrm>
        </p:spPr>
        <p:txBody>
          <a:bodyPr/>
          <a:lstStyle/>
          <a:p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400" dirty="0"/>
              <a:t>Напрямую  подключённый  статический маршрут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44" y="1088571"/>
            <a:ext cx="8998856" cy="5617029"/>
          </a:xfrm>
        </p:spPr>
        <p:txBody>
          <a:bodyPr/>
          <a:lstStyle/>
          <a:p>
            <a:pPr marL="0" indent="0">
              <a:buNone/>
            </a:pPr>
            <a:r>
              <a:rPr lang="ru-RU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29225"/>
            <a:ext cx="8267700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225"/>
            <a:ext cx="914400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51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5143" y="390524"/>
            <a:ext cx="8998857" cy="871538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400" b="1" i="0" dirty="0" smtClean="0">
                <a:solidFill>
                  <a:srgbClr val="708CA1"/>
                </a:solidFill>
                <a:latin typeface="Arial"/>
              </a:rPr>
              <a:t>Настройка статических маршрутов IPv4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</a:rPr>
            </a:br>
            <a:r>
              <a:rPr lang="ru-RU" sz="2800" dirty="0">
                <a:latin typeface="Arial"/>
              </a:rPr>
              <a:t>Н</a:t>
            </a:r>
            <a:r>
              <a:rPr lang="ru-RU" sz="2800" b="1" i="0" dirty="0" smtClean="0">
                <a:solidFill>
                  <a:srgbClr val="708CA1"/>
                </a:solidFill>
                <a:latin typeface="Arial"/>
              </a:rPr>
              <a:t>апрямую  подключённый  статический маршрут</a:t>
            </a:r>
            <a:endParaRPr lang="ru-RU" sz="2800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4729161"/>
            <a:ext cx="82296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9988"/>
            <a:ext cx="9143999" cy="3559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6230333"/>
            <a:ext cx="827579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600" dirty="0">
                <a:latin typeface="Calibri" panose="020F0502020204030204" pitchFamily="34" charset="0"/>
                <a:cs typeface="Calibri" panose="020F0502020204030204" pitchFamily="34" charset="0"/>
              </a:rPr>
              <a:t>Используется для последовательного канала </a:t>
            </a:r>
            <a:r>
              <a:rPr lang="ru-RU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точка-точка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456152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66286"/>
            <a:ext cx="9144000" cy="420687"/>
          </a:xfrm>
        </p:spPr>
        <p:txBody>
          <a:bodyPr/>
          <a:lstStyle/>
          <a:p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Полностью заданный статический маршрут</a:t>
            </a:r>
            <a:endParaRPr lang="ru-RU" sz="2600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0" y="5643562"/>
            <a:ext cx="8941119" cy="7571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Используется редко,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так как требует два прохода по таблице маршрутизации 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6149"/>
            <a:ext cx="9134475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4329112"/>
            <a:ext cx="89249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29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38" y="569913"/>
            <a:ext cx="8145462" cy="446087"/>
          </a:xfrm>
        </p:spPr>
        <p:txBody>
          <a:bodyPr/>
          <a:lstStyle/>
          <a:p>
            <a:r>
              <a:rPr lang="ru-RU" dirty="0" smtClean="0"/>
              <a:t>Статический маршрут по умолчанию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79400" y="1420585"/>
            <a:ext cx="8864600" cy="3136901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Маршрут по умолчанию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- это </a:t>
            </a:r>
            <a:r>
              <a:rPr lang="ru-RU" sz="2200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-адрес шлюза (другого роутера)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, на который маршрутизатор отправляет все IP-пакеты, для которых у него 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нет известного маршрута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, то есть при отсутствии других совпадающих </a:t>
            </a: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маршрутов.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Тупиковая сеть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сеть,  доступ к которой осуществляется </a:t>
            </a:r>
          </a:p>
          <a:p>
            <a:pPr marL="0"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через один маршрут.</a:t>
            </a:r>
          </a:p>
          <a:p>
            <a:endParaRPr lang="ru-RU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606" y="1001939"/>
            <a:ext cx="6772275" cy="361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995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82400"/>
            <a:ext cx="9144000" cy="420687"/>
          </a:xfrm>
        </p:spPr>
        <p:txBody>
          <a:bodyPr/>
          <a:lstStyle/>
          <a:p>
            <a:r>
              <a:rPr lang="ru-RU" sz="2600" dirty="0" smtClean="0"/>
              <a:t/>
            </a:r>
            <a:br>
              <a:rPr lang="ru-RU" sz="2600" dirty="0" smtClean="0"/>
            </a:br>
            <a:r>
              <a:rPr lang="ru-RU" sz="2600" dirty="0"/>
              <a:t/>
            </a:r>
            <a:br>
              <a:rPr lang="ru-RU" sz="2600" dirty="0"/>
            </a:br>
            <a:r>
              <a:rPr lang="ru-RU" sz="2600" dirty="0" smtClean="0"/>
              <a:t>Статический маршрут по умолчанию</a:t>
            </a:r>
            <a:endParaRPr lang="ru-RU" sz="2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5144" y="1088571"/>
            <a:ext cx="8998856" cy="5617029"/>
          </a:xfrm>
        </p:spPr>
        <p:txBody>
          <a:bodyPr/>
          <a:lstStyle/>
          <a:p>
            <a:endParaRPr lang="ru-RU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0" y="5818556"/>
            <a:ext cx="902788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ru-RU" sz="2000" dirty="0"/>
              <a:t>Маршруты </a:t>
            </a:r>
            <a:r>
              <a:rPr lang="ru-RU" sz="2000" dirty="0" smtClean="0"/>
              <a:t>для которых </a:t>
            </a:r>
            <a:r>
              <a:rPr lang="ru-RU" sz="2000" dirty="0"/>
              <a:t>адрес сети назначения </a:t>
            </a:r>
            <a:r>
              <a:rPr lang="ru-RU" sz="2000" dirty="0" smtClean="0"/>
              <a:t>присутствуют в таблице маршрутизации  </a:t>
            </a:r>
            <a:r>
              <a:rPr lang="ru-RU" sz="2000" dirty="0"/>
              <a:t>имеют  более высокий приоритет по сравнению с маршрутом по умолчанию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7013"/>
            <a:ext cx="91630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129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24" y="653141"/>
            <a:ext cx="8456613" cy="885372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  <a:tabLst>
                <a:tab pos="4803775" algn="l"/>
              </a:tabLst>
            </a:pPr>
            <a:r>
              <a:rPr lang="ru-RU" sz="1600" b="1" i="0" dirty="0" smtClean="0">
                <a:solidFill>
                  <a:srgbClr val="708CA1"/>
                </a:solidFill>
                <a:latin typeface="Arial"/>
              </a:rPr>
              <a:t>Процесс поиска маршрута IPv4</a:t>
            </a:r>
            <a:r>
              <a:rPr lang="ru-RU" sz="1800" b="1" i="0" dirty="0" smtClean="0">
                <a:solidFill>
                  <a:srgbClr val="708CA1"/>
                </a:solidFill>
                <a:latin typeface="Arial"/>
              </a:rPr>
              <a:t/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</a:rPr>
            </a:br>
            <a:r>
              <a:rPr lang="ru-RU" sz="2600" b="1" i="0" dirty="0" smtClean="0">
                <a:solidFill>
                  <a:srgbClr val="708CA1"/>
                </a:solidFill>
                <a:latin typeface="Arial"/>
              </a:rPr>
              <a:t>Лучший  маршрут = самое длинное совпадение в пределах маски подсети</a:t>
            </a:r>
            <a:endParaRPr lang="ru-RU" sz="2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4996" y="1658938"/>
            <a:ext cx="6183022" cy="487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899810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301625"/>
            <a:ext cx="8456613" cy="871538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dirty="0" smtClean="0">
                <a:solidFill>
                  <a:srgbClr val="708CA1"/>
                </a:solidFill>
                <a:latin typeface="Arial"/>
              </a:rPr>
              <a:t>Типы статических маршрутов</a:t>
            </a:r>
            <a:br>
              <a:rPr lang="ru-RU" sz="1800" b="1" i="0" dirty="0" smtClean="0">
                <a:solidFill>
                  <a:srgbClr val="708CA1"/>
                </a:solidFill>
                <a:latin typeface="Arial"/>
              </a:rPr>
            </a:br>
            <a:r>
              <a:rPr lang="ru-RU" sz="3200" b="1" i="0" dirty="0" smtClean="0">
                <a:solidFill>
                  <a:srgbClr val="708CA1"/>
                </a:solidFill>
                <a:latin typeface="Arial"/>
              </a:rPr>
              <a:t>Суммарный  статический маршрут</a:t>
            </a:r>
            <a:endParaRPr lang="ru-RU" dirty="0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52400" y="2014538"/>
            <a:ext cx="8991600" cy="3571875"/>
          </a:xfrm>
        </p:spPr>
        <p:txBody>
          <a:bodyPr/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Для уменьшения числа записей в таблице маршрутизации можно объединить несколько статических маршрутов в один суммарный маршрут. Это возможно когда: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Сети назначения 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являются смежными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и могут быть объединены в один сетевой адрес.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Все статические маршруты используют 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один и тот же выходной интерфейс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или один IP-адрес следующего перехода.</a:t>
            </a:r>
          </a:p>
          <a:p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295399"/>
            <a:ext cx="7200900" cy="2649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784145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565830"/>
          </a:xfrm>
        </p:spPr>
        <p:txBody>
          <a:bodyPr/>
          <a:lstStyle/>
          <a:p>
            <a:r>
              <a:rPr lang="ru-RU" dirty="0" smtClean="0"/>
              <a:t>Суммарный маршрут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Есть  маршруты к двум сетям:</a:t>
            </a:r>
          </a:p>
          <a:p>
            <a:pPr lvl="1"/>
            <a:r>
              <a:rPr lang="ru-RU" dirty="0" smtClean="0"/>
              <a:t>192.168.3.0</a:t>
            </a:r>
            <a:endParaRPr lang="ru-RU" dirty="0"/>
          </a:p>
          <a:p>
            <a:pPr lvl="1"/>
            <a:r>
              <a:rPr lang="ru-RU" dirty="0" smtClean="0"/>
              <a:t>192.168.5.0</a:t>
            </a:r>
          </a:p>
          <a:p>
            <a:r>
              <a:rPr lang="ru-RU" dirty="0" smtClean="0"/>
              <a:t>Представляем адреса в двоичном формате</a:t>
            </a:r>
            <a:endParaRPr lang="ru-RU" dirty="0"/>
          </a:p>
          <a:p>
            <a:pPr lvl="1"/>
            <a:r>
              <a:rPr lang="ru-RU" b="1" dirty="0">
                <a:solidFill>
                  <a:srgbClr val="FF0000"/>
                </a:solidFill>
              </a:rPr>
              <a:t>11000000.10101000.00000</a:t>
            </a:r>
            <a:r>
              <a:rPr lang="ru-RU" dirty="0"/>
              <a:t>011</a:t>
            </a:r>
          </a:p>
          <a:p>
            <a:pPr lvl="1"/>
            <a:r>
              <a:rPr lang="ru-RU" b="1" dirty="0">
                <a:solidFill>
                  <a:srgbClr val="FF0000"/>
                </a:solidFill>
              </a:rPr>
              <a:t>11000000.10101000.00000</a:t>
            </a:r>
            <a:r>
              <a:rPr lang="ru-RU" dirty="0"/>
              <a:t>101</a:t>
            </a:r>
          </a:p>
          <a:p>
            <a:r>
              <a:rPr lang="ru-RU" dirty="0" smtClean="0"/>
              <a:t>Подсчитываем количество совпадающих бит слева. Совпадает </a:t>
            </a:r>
            <a:r>
              <a:rPr lang="ru-RU" dirty="0"/>
              <a:t>21 бит</a:t>
            </a:r>
          </a:p>
          <a:p>
            <a:r>
              <a:rPr lang="ru-RU" dirty="0"/>
              <a:t>Суммарный </a:t>
            </a:r>
            <a:r>
              <a:rPr lang="ru-RU" dirty="0" smtClean="0"/>
              <a:t>маршрут с обновленной маской:</a:t>
            </a:r>
            <a:endParaRPr lang="ru-RU" dirty="0"/>
          </a:p>
          <a:p>
            <a:r>
              <a:rPr lang="ru-RU" dirty="0" smtClean="0"/>
              <a:t>192.168.0.0/21 (255</a:t>
            </a:r>
            <a:r>
              <a:rPr lang="en-US" dirty="0" smtClean="0"/>
              <a:t>.255.248.0</a:t>
            </a:r>
            <a:r>
              <a:rPr lang="ru-RU" dirty="0" smtClean="0"/>
              <a:t>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88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300" y="595313"/>
            <a:ext cx="8648700" cy="534987"/>
          </a:xfrm>
        </p:spPr>
        <p:txBody>
          <a:bodyPr/>
          <a:lstStyle/>
          <a:p>
            <a:r>
              <a:rPr lang="ru-RU" sz="2800" dirty="0" smtClean="0"/>
              <a:t>Удаление статических маршрутов и настройка суммарного маршрута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014538"/>
            <a:ext cx="9042400" cy="3571875"/>
          </a:xfrm>
        </p:spPr>
        <p:txBody>
          <a:bodyPr/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Router(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)#no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route 192.168.5.0 255.255.255.0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192.168.2.2</a:t>
            </a: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Router(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)#no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route 192.168.3.0 255.255.255.0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192.168.2.2</a:t>
            </a:r>
            <a:endParaRPr lang="ru-RU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Router(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)#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route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192.168.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.0 255.255.2</a:t>
            </a:r>
            <a:r>
              <a:rPr lang="ru-RU" dirty="0" smtClean="0">
                <a:latin typeface="Calibri" panose="020F0502020204030204" pitchFamily="34" charset="0"/>
                <a:cs typeface="Calibri" panose="020F0502020204030204" pitchFamily="34" charset="0"/>
              </a:rPr>
              <a:t>48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.0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192.168.2.2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48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990" y="3478716"/>
            <a:ext cx="3862373" cy="3113275"/>
          </a:xfrm>
          <a:prstGeom prst="rect">
            <a:avLst/>
          </a:prstGeom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algn="l" defTabSz="814365"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b="1" i="0" smtClean="0">
                <a:solidFill>
                  <a:srgbClr val="708CA1"/>
                </a:solidFill>
                <a:latin typeface="Arial"/>
              </a:rPr>
              <a:t>Типы статических маршрутов</a:t>
            </a:r>
            <a:br>
              <a:rPr lang="ru-RU" sz="1800" b="1" i="0" smtClean="0">
                <a:solidFill>
                  <a:srgbClr val="708CA1"/>
                </a:solidFill>
                <a:latin typeface="Arial"/>
              </a:rPr>
            </a:br>
            <a:r>
              <a:rPr lang="ru-RU" sz="3200" b="1" i="0" smtClean="0">
                <a:solidFill>
                  <a:srgbClr val="708CA1"/>
                </a:solidFill>
                <a:latin typeface="Arial"/>
              </a:rPr>
              <a:t>Плавающий статический маршрут</a:t>
            </a:r>
            <a:endParaRPr lang="ru-RU" smtClean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708525"/>
          </a:xfrm>
        </p:spPr>
        <p:txBody>
          <a:bodyPr/>
          <a:lstStyle/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</a:rPr>
              <a:t>Плавающие статические маршруты </a:t>
            </a:r>
            <a:r>
              <a:rPr lang="ru-RU" sz="2000" dirty="0" smtClean="0">
                <a:solidFill>
                  <a:srgbClr val="000000"/>
                </a:solidFill>
                <a:latin typeface="Arial"/>
              </a:rPr>
              <a:t>– это  дополнительный резервный маршрут</a:t>
            </a:r>
            <a:r>
              <a:rPr lang="ru-RU" sz="2000" b="0" i="0" dirty="0" smtClean="0">
                <a:solidFill>
                  <a:srgbClr val="000000"/>
                </a:solidFill>
                <a:latin typeface="Arial"/>
              </a:rPr>
              <a:t>  для основного маршрута на случай  его сбоя. </a:t>
            </a:r>
            <a:endParaRPr lang="ru-RU" sz="20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2000" b="0" i="0" dirty="0" smtClean="0">
                <a:solidFill>
                  <a:srgbClr val="000000"/>
                </a:solidFill>
                <a:latin typeface="Arial"/>
              </a:rPr>
              <a:t>Плавающий статический маршрут используется только тогда, когда основной маршрут недоступен.</a:t>
            </a:r>
            <a:endParaRPr lang="ru-RU" sz="2000" dirty="0" smtClean="0"/>
          </a:p>
          <a:p>
            <a:pPr marL="236555" indent="-236555" algn="l" defTabSz="814365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/>
              <a:buChar char="§"/>
            </a:pP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Плавающий статический </a:t>
            </a:r>
            <a:r>
              <a:rPr lang="en-US" sz="1600" b="0" i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sz="1600" b="0" i="0" dirty="0" smtClean="0">
                <a:solidFill>
                  <a:srgbClr val="000000"/>
                </a:solidFill>
                <a:latin typeface="Arial"/>
              </a:rPr>
            </a:b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маршрут настраивается с </a:t>
            </a:r>
            <a:br>
              <a:rPr lang="ru-RU" sz="1600" b="0" i="0" dirty="0" smtClean="0">
                <a:solidFill>
                  <a:srgbClr val="000000"/>
                </a:solidFill>
                <a:latin typeface="Arial"/>
              </a:rPr>
            </a:b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более высоким значением </a:t>
            </a:r>
            <a:r>
              <a:rPr lang="en-US" sz="1600" b="0" i="0" dirty="0" smtClean="0">
                <a:solidFill>
                  <a:srgbClr val="000000"/>
                </a:solidFill>
                <a:latin typeface="Arial"/>
              </a:rPr>
              <a:t/>
            </a:r>
            <a:br>
              <a:rPr lang="en-US" sz="1600" b="0" i="0" dirty="0" smtClean="0">
                <a:solidFill>
                  <a:srgbClr val="000000"/>
                </a:solidFill>
                <a:latin typeface="Arial"/>
              </a:rPr>
            </a:b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административной </a:t>
            </a:r>
            <a:br>
              <a:rPr lang="ru-RU" sz="1600" b="0" i="0" dirty="0" smtClean="0">
                <a:solidFill>
                  <a:srgbClr val="000000"/>
                </a:solidFill>
                <a:latin typeface="Arial"/>
              </a:rPr>
            </a:b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дистанции чем основной</a:t>
            </a:r>
            <a:br>
              <a:rPr lang="ru-RU" sz="1600" b="0" i="0" dirty="0" smtClean="0">
                <a:solidFill>
                  <a:srgbClr val="000000"/>
                </a:solidFill>
                <a:latin typeface="Arial"/>
              </a:rPr>
            </a:b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маршрут (т.е. с более низким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708CA1"/>
              </a:buClr>
              <a:buNone/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                     приоритетом</a:t>
            </a:r>
            <a:r>
              <a:rPr lang="ru-RU" sz="1600" b="0" i="0" dirty="0" smtClean="0">
                <a:solidFill>
                  <a:srgbClr val="000000"/>
                </a:solidFill>
                <a:latin typeface="Arial"/>
              </a:rPr>
              <a:t>). 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708CA1"/>
              </a:buClr>
              <a:buNone/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Изначально не помещается в таблицу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708CA1"/>
              </a:buClr>
              <a:buNone/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Маршрутизации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708CA1"/>
              </a:buClr>
              <a:buNone/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Появляется в ней автоматически,</a:t>
            </a:r>
          </a:p>
          <a:p>
            <a:pPr marL="236555" indent="-236555" algn="l" defTabSz="814365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>
                <a:srgbClr val="708CA1"/>
              </a:buClr>
              <a:buNone/>
            </a:pPr>
            <a:r>
              <a:rPr lang="ru-RU" sz="1600" dirty="0" smtClean="0">
                <a:solidFill>
                  <a:srgbClr val="000000"/>
                </a:solidFill>
                <a:latin typeface="Arial"/>
              </a:rPr>
              <a:t>когда отказывает основной маршрут</a:t>
            </a:r>
            <a:endParaRPr lang="ru-RU" sz="1600" dirty="0" smtClean="0"/>
          </a:p>
        </p:txBody>
      </p:sp>
    </p:spTree>
    <p:extLst>
      <p:ext uri="{BB962C8B-B14F-4D97-AF65-F5344CB8AC3E}">
        <p14:creationId xmlns:p14="http://schemas.microsoft.com/office/powerpoint/2010/main" val="46436066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 smtClean="0"/>
              <a:t>Использование статической маршрутизации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814365">
              <a:buNone/>
            </a:pPr>
            <a:r>
              <a:rPr lang="ru-RU" dirty="0" smtClean="0">
                <a:solidFill>
                  <a:srgbClr val="000000"/>
                </a:solidFill>
              </a:rPr>
              <a:t>Статическая маршрутизация используется для:</a:t>
            </a:r>
            <a:endParaRPr lang="ru-RU" dirty="0" smtClean="0"/>
          </a:p>
          <a:p>
            <a:pPr marL="574692" lvl="1" indent="-236555" defTabSz="814365">
              <a:buFont typeface="Wingdings"/>
              <a:buChar char="§"/>
            </a:pPr>
            <a:endParaRPr lang="ru-RU" sz="25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4692" lvl="1" indent="-236555" defTabSz="814365">
              <a:buFont typeface="Wingdings"/>
              <a:buChar char="§"/>
            </a:pP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Маршрутизации в небольших сетях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Маршрутизации к тупиковым </a:t>
            </a: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сетям и от них. </a:t>
            </a:r>
            <a:endParaRPr lang="ru-RU" sz="2500" i="1" dirty="0" smtClean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4692" lvl="1" indent="-236555" defTabSz="814365">
              <a:buFont typeface="Wingdings"/>
              <a:buChar char="§"/>
            </a:pP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Уменьшения числа маршрутов </a:t>
            </a: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путём создания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суммарных маршрутов</a:t>
            </a: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Создания </a:t>
            </a: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плавающего</a:t>
            </a: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маршрута;</a:t>
            </a:r>
          </a:p>
          <a:p>
            <a:pPr marL="574692" lvl="1" indent="-236555" defTabSz="814365">
              <a:buFont typeface="Wingdings"/>
              <a:buChar char="§"/>
            </a:pP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Создания  единого </a:t>
            </a:r>
            <a:r>
              <a:rPr lang="ru-RU" sz="25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маршрута по умолчанию</a:t>
            </a:r>
            <a:r>
              <a:rPr lang="ru-RU" sz="25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574692" lvl="1" indent="-236555" defTabSz="814365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054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 статической маршрутизации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Более высокая  безопасность </a:t>
            </a:r>
            <a:r>
              <a:rPr lang="ru-RU" sz="25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маршруты</a:t>
            </a:r>
            <a:r>
              <a:rPr lang="ru-RU" sz="22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не </a:t>
            </a:r>
            <a:r>
              <a:rPr lang="ru-RU" sz="2200" dirty="0">
                <a:latin typeface="Calibri" panose="020F0502020204030204" pitchFamily="34" charset="0"/>
                <a:cs typeface="Calibri" panose="020F0502020204030204" pitchFamily="34" charset="0"/>
              </a:rPr>
              <a:t>объявляются по сети</a:t>
            </a:r>
            <a:r>
              <a:rPr lang="ru-RU" sz="25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Потребляет меньше ресурсов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маршрутизатора поэтому работают быстрее.</a:t>
            </a:r>
          </a:p>
          <a:p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требует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дополнительного служебного трафика;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89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629" y="479198"/>
            <a:ext cx="8510814" cy="478745"/>
          </a:xfrm>
        </p:spPr>
        <p:txBody>
          <a:bodyPr/>
          <a:lstStyle/>
          <a:p>
            <a:r>
              <a:rPr lang="ru-RU" dirty="0" smtClean="0"/>
              <a:t>Недостатки статической маршрутизации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-290285" y="1445985"/>
            <a:ext cx="9144000" cy="5791200"/>
          </a:xfrm>
        </p:spPr>
        <p:txBody>
          <a:bodyPr/>
          <a:lstStyle/>
          <a:p>
            <a:pPr lvl="1"/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Временные затраты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на  настройку и обслуживание.</a:t>
            </a:r>
          </a:p>
          <a:p>
            <a:pPr lvl="1"/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Ошибки настройки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, особенно в больших сетях.</a:t>
            </a:r>
          </a:p>
          <a:p>
            <a:pPr lvl="1"/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Требуется постоянное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вмешательство администратора и </a:t>
            </a:r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доскональное знание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всей сети.</a:t>
            </a:r>
          </a:p>
          <a:p>
            <a:pPr lvl="1"/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Недостаточные возможности масштабирования  сети</a:t>
            </a:r>
          </a:p>
          <a:p>
            <a:pPr lvl="1"/>
            <a:r>
              <a:rPr lang="ru-RU" sz="2500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Сбои в работе сети </a:t>
            </a:r>
            <a:r>
              <a:rPr lang="ru-RU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из-за низкой оперативности коррекции таблиц маршрутизации при появлении неисправных маршрутов.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575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5514" y="466004"/>
            <a:ext cx="8145462" cy="531523"/>
          </a:xfrm>
        </p:spPr>
        <p:txBody>
          <a:bodyPr/>
          <a:lstStyle/>
          <a:p>
            <a:r>
              <a:rPr lang="ru-RU" dirty="0" smtClean="0"/>
              <a:t>Статический </a:t>
            </a:r>
            <a:r>
              <a:rPr lang="en-US" dirty="0" smtClean="0"/>
              <a:t>IPv6 </a:t>
            </a:r>
            <a:r>
              <a:rPr lang="ru-RU" dirty="0" smtClean="0"/>
              <a:t>маршрут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509" y="1400175"/>
            <a:ext cx="8562109" cy="453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66252"/>
            <a:ext cx="8817725" cy="614650"/>
          </a:xfrm>
        </p:spPr>
        <p:txBody>
          <a:bodyPr/>
          <a:lstStyle/>
          <a:p>
            <a:r>
              <a:rPr lang="ru-RU" dirty="0" smtClean="0"/>
              <a:t>Напрямую подключенный </a:t>
            </a:r>
            <a:r>
              <a:rPr lang="en-US" dirty="0" smtClean="0"/>
              <a:t>IPv6 </a:t>
            </a:r>
            <a:r>
              <a:rPr lang="ru-RU" dirty="0" smtClean="0"/>
              <a:t>маршрут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385" y="1357313"/>
            <a:ext cx="8395855" cy="4760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382877"/>
            <a:ext cx="8145462" cy="838200"/>
          </a:xfrm>
        </p:spPr>
        <p:txBody>
          <a:bodyPr/>
          <a:lstStyle/>
          <a:p>
            <a:r>
              <a:rPr lang="en-US" dirty="0" smtClean="0"/>
              <a:t>IPv6 </a:t>
            </a:r>
            <a:r>
              <a:rPr lang="ru-RU" dirty="0" smtClean="0"/>
              <a:t>маршрут по умолчанию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" y="1400174"/>
            <a:ext cx="8395855" cy="4817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Команды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show </a:t>
            </a:r>
            <a:r>
              <a:rPr lang="en-US" b="1" dirty="0" err="1" smtClean="0"/>
              <a:t>ip</a:t>
            </a:r>
            <a:r>
              <a:rPr lang="en-US" b="1" dirty="0" smtClean="0"/>
              <a:t> route </a:t>
            </a:r>
            <a:endParaRPr lang="en-US" dirty="0" smtClean="0"/>
          </a:p>
          <a:p>
            <a:r>
              <a:rPr lang="en-US" b="1" dirty="0" smtClean="0"/>
              <a:t>show </a:t>
            </a:r>
            <a:r>
              <a:rPr lang="en-US" b="1" dirty="0" err="1" smtClean="0"/>
              <a:t>ip</a:t>
            </a:r>
            <a:r>
              <a:rPr lang="en-US" b="1" dirty="0" smtClean="0"/>
              <a:t> route static</a:t>
            </a:r>
            <a:r>
              <a:rPr lang="en-US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551770"/>
            <a:ext cx="8145462" cy="354011"/>
          </a:xfrm>
        </p:spPr>
        <p:txBody>
          <a:bodyPr/>
          <a:lstStyle/>
          <a:p>
            <a:r>
              <a:rPr lang="ru-RU" dirty="0" smtClean="0"/>
              <a:t>Маршрутизация пакета узлом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085" y="1157287"/>
            <a:ext cx="6255657" cy="560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5299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536801"/>
          </a:xfrm>
        </p:spPr>
        <p:txBody>
          <a:bodyPr/>
          <a:lstStyle/>
          <a:p>
            <a:r>
              <a:rPr lang="ru-RU" dirty="0" smtClean="0"/>
              <a:t>Таблица маршрутизации узла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1428750"/>
            <a:ext cx="91059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2799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391658"/>
          </a:xfrm>
        </p:spPr>
        <p:txBody>
          <a:bodyPr/>
          <a:lstStyle/>
          <a:p>
            <a:r>
              <a:rPr lang="ru-RU" sz="2800" dirty="0" smtClean="0"/>
              <a:t>Список сетевых интерфейсов</a:t>
            </a:r>
            <a:endParaRPr lang="ru-RU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2271713"/>
            <a:ext cx="89439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38198" y="1349602"/>
            <a:ext cx="3398373" cy="7571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ru-RU" dirty="0" smtClean="0"/>
              <a:t>Команды: </a:t>
            </a:r>
            <a:r>
              <a:rPr lang="en-US" dirty="0" err="1" smtClean="0"/>
              <a:t>netstat</a:t>
            </a:r>
            <a:r>
              <a:rPr lang="en-US" dirty="0" smtClean="0"/>
              <a:t> –r </a:t>
            </a:r>
          </a:p>
          <a:p>
            <a:r>
              <a:rPr lang="en-US" dirty="0" smtClean="0"/>
              <a:t>                 route print 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21" y="4762727"/>
            <a:ext cx="7226862" cy="59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 стрелкой 5"/>
          <p:cNvCxnSpPr/>
          <p:nvPr/>
        </p:nvCxnSpPr>
        <p:spPr bwMode="auto">
          <a:xfrm>
            <a:off x="1088571" y="3429000"/>
            <a:ext cx="6313715" cy="13337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339686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5638" y="421142"/>
            <a:ext cx="8145462" cy="536801"/>
          </a:xfrm>
        </p:spPr>
        <p:txBody>
          <a:bodyPr/>
          <a:lstStyle/>
          <a:p>
            <a:r>
              <a:rPr lang="ru-RU" dirty="0" smtClean="0"/>
              <a:t>Таблица маршрутизации узла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3107"/>
            <a:ext cx="91440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93" y="5196115"/>
            <a:ext cx="6961572" cy="57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273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маршрутизации </a:t>
            </a:r>
            <a:r>
              <a:rPr lang="en-US" dirty="0" err="1" smtClean="0"/>
              <a:t>IPv6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947863"/>
            <a:ext cx="82677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846477"/>
      </p:ext>
    </p:extLst>
  </p:cSld>
  <p:clrMapOvr>
    <a:masterClrMapping/>
  </p:clrMapOvr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22708</TotalTime>
  <Pages>28</Pages>
  <Words>2605</Words>
  <Application>Microsoft Office PowerPoint</Application>
  <PresentationFormat>Экран (4:3)</PresentationFormat>
  <Paragraphs>385</Paragraphs>
  <Slides>47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47</vt:i4>
      </vt:variant>
    </vt:vector>
  </HeadingPairs>
  <TitlesOfParts>
    <vt:vector size="53" baseType="lpstr">
      <vt:lpstr>ＭＳ Ｐゴシック</vt:lpstr>
      <vt:lpstr>Arial</vt:lpstr>
      <vt:lpstr>Calibri</vt:lpstr>
      <vt:lpstr>Wingdings</vt:lpstr>
      <vt:lpstr>PPT-TMPLT-WHT_C</vt:lpstr>
      <vt:lpstr>NetAcad-4F_PPT-WHT_060408</vt:lpstr>
      <vt:lpstr>Презентация PowerPoint</vt:lpstr>
      <vt:lpstr>Стандарты Интернета</vt:lpstr>
      <vt:lpstr>Стандарты Интернета</vt:lpstr>
      <vt:lpstr>Организации по стандартизации  в области электроники и связи  IEEE (Институт инженеров по электротехнике и электронике — ( Institute of Electrical and Electronics Engineers) — международная не коммерческая ассоциация специалистов в области радиоэлектроники и  электротехники.) </vt:lpstr>
      <vt:lpstr>Маршрутизация </vt:lpstr>
      <vt:lpstr>Основные функции маршрутизаторов</vt:lpstr>
      <vt:lpstr>Дополнительные функции</vt:lpstr>
      <vt:lpstr>Маршрутизатор – специализированный компьютер</vt:lpstr>
      <vt:lpstr>У маршрутизатора минимум 3 уровня модели OSI</vt:lpstr>
      <vt:lpstr>Оптимальный путь</vt:lpstr>
      <vt:lpstr>Оптимальный путь</vt:lpstr>
      <vt:lpstr>Определение пути Метрика</vt:lpstr>
      <vt:lpstr>Административная дистанция</vt:lpstr>
      <vt:lpstr>Определение пути Распределение нагрузки</vt:lpstr>
      <vt:lpstr>Таблица маршрутизации</vt:lpstr>
      <vt:lpstr>Записи таблицы маршрутизации</vt:lpstr>
      <vt:lpstr>Запись о маршрутах  к сетям с прямым подключением</vt:lpstr>
      <vt:lpstr>Записи об маршрутах к удаленным сетям</vt:lpstr>
      <vt:lpstr>Запись о маршруте по умолчанию</vt:lpstr>
      <vt:lpstr>Маршруты к удаленным сетям</vt:lpstr>
      <vt:lpstr>Статическая маршрутизация</vt:lpstr>
      <vt:lpstr>Статические маршруты к удаленным сетям</vt:lpstr>
      <vt:lpstr>Стандартный статический маршрут к удаленной сети</vt:lpstr>
      <vt:lpstr>Настройка статических маршрутов IPv4 Команда ip route</vt:lpstr>
      <vt:lpstr>  Статический  маршрут следующего перехода</vt:lpstr>
      <vt:lpstr>  Напрямую  подключённый  статический маршрут</vt:lpstr>
      <vt:lpstr>Настройка статических маршрутов IPv4 Напрямую  подключённый  статический маршрут</vt:lpstr>
      <vt:lpstr>  Полностью заданный статический маршрут</vt:lpstr>
      <vt:lpstr>Статический маршрут по умолчанию</vt:lpstr>
      <vt:lpstr>  Статический маршрут по умолчанию</vt:lpstr>
      <vt:lpstr>Процесс поиска маршрута IPv4 Лучший  маршрут = самое длинное совпадение в пределах маски подсети</vt:lpstr>
      <vt:lpstr>Типы статических маршрутов Суммарный  статический маршрут</vt:lpstr>
      <vt:lpstr>Суммарный маршрут</vt:lpstr>
      <vt:lpstr>Удаление статических маршрутов и настройка суммарного маршрута</vt:lpstr>
      <vt:lpstr>Типы статических маршрутов Плавающий статический маршрут</vt:lpstr>
      <vt:lpstr>Использование статической маршрутизации</vt:lpstr>
      <vt:lpstr>Преимущества статической маршрутизации</vt:lpstr>
      <vt:lpstr>Недостатки статической маршрутизации</vt:lpstr>
      <vt:lpstr>Статический IPv6 маршрут</vt:lpstr>
      <vt:lpstr>Напрямую подключенный IPv6 маршрут</vt:lpstr>
      <vt:lpstr>IPv6 маршрут по умолчанию</vt:lpstr>
      <vt:lpstr>Команды</vt:lpstr>
      <vt:lpstr>Маршрутизация пакета узлом</vt:lpstr>
      <vt:lpstr>Таблица маршрутизации узла</vt:lpstr>
      <vt:lpstr>Список сетевых интерфейсов</vt:lpstr>
      <vt:lpstr>Таблица маршрутизации узла</vt:lpstr>
      <vt:lpstr>Таблица маршрутизации IPv6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Владимир</cp:lastModifiedBy>
  <cp:revision>1420</cp:revision>
  <cp:lastPrinted>2023-02-23T07:46:02Z</cp:lastPrinted>
  <dcterms:created xsi:type="dcterms:W3CDTF">2006-10-23T15:07:30Z</dcterms:created>
  <dcterms:modified xsi:type="dcterms:W3CDTF">2026-09-18T07:41:41Z</dcterms:modified>
</cp:coreProperties>
</file>