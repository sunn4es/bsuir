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5"/>
  </p:notesMasterIdLst>
  <p:handoutMasterIdLst>
    <p:handoutMasterId r:id="rId26"/>
  </p:handoutMasterIdLst>
  <p:sldIdLst>
    <p:sldId id="500" r:id="rId3"/>
    <p:sldId id="735" r:id="rId4"/>
    <p:sldId id="786" r:id="rId5"/>
    <p:sldId id="780" r:id="rId6"/>
    <p:sldId id="784" r:id="rId7"/>
    <p:sldId id="787" r:id="rId8"/>
    <p:sldId id="785" r:id="rId9"/>
    <p:sldId id="714" r:id="rId10"/>
    <p:sldId id="762" r:id="rId11"/>
    <p:sldId id="715" r:id="rId12"/>
    <p:sldId id="716" r:id="rId13"/>
    <p:sldId id="772" r:id="rId14"/>
    <p:sldId id="719" r:id="rId15"/>
    <p:sldId id="720" r:id="rId16"/>
    <p:sldId id="730" r:id="rId17"/>
    <p:sldId id="734" r:id="rId18"/>
    <p:sldId id="731" r:id="rId19"/>
    <p:sldId id="776" r:id="rId20"/>
    <p:sldId id="777" r:id="rId21"/>
    <p:sldId id="778" r:id="rId22"/>
    <p:sldId id="782" r:id="rId23"/>
    <p:sldId id="788" r:id="rId24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7A4"/>
    <a:srgbClr val="C0C0C4"/>
    <a:srgbClr val="678DC5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76" autoAdjust="0"/>
    <p:restoredTop sz="84254" autoAdjust="0"/>
  </p:normalViewPr>
  <p:slideViewPr>
    <p:cSldViewPr snapToGrid="0">
      <p:cViewPr>
        <p:scale>
          <a:sx n="100" d="100"/>
          <a:sy n="100" d="100"/>
        </p:scale>
        <p:origin x="-552" y="13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5.xml"/><Relationship Id="rId3" Type="http://schemas.openxmlformats.org/officeDocument/2006/relationships/slide" Target="slides/slide9.xml"/><Relationship Id="rId7" Type="http://schemas.openxmlformats.org/officeDocument/2006/relationships/slide" Target="slides/slide14.xml"/><Relationship Id="rId2" Type="http://schemas.openxmlformats.org/officeDocument/2006/relationships/slide" Target="slides/slide8.xml"/><Relationship Id="rId1" Type="http://schemas.openxmlformats.org/officeDocument/2006/relationships/slide" Target="slides/slide2.xml"/><Relationship Id="rId6" Type="http://schemas.openxmlformats.org/officeDocument/2006/relationships/slide" Target="slides/slide13.xml"/><Relationship Id="rId5" Type="http://schemas.openxmlformats.org/officeDocument/2006/relationships/slide" Target="slides/slide11.xml"/><Relationship Id="rId10" Type="http://schemas.openxmlformats.org/officeDocument/2006/relationships/slide" Target="slides/slide17.xml"/><Relationship Id="rId4" Type="http://schemas.openxmlformats.org/officeDocument/2006/relationships/slide" Target="slides/slide10.xml"/><Relationship Id="rId9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47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© Корпорация Cisco Systems, 2006. Все права защищены.</a:t>
            </a:r>
          </a:p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Presentation_ID.scr</a:t>
            </a:r>
          </a:p>
        </p:txBody>
      </p:sp>
      <p:sp>
        <p:nvSpPr>
          <p:cNvPr id="108548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49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44">
              <a:lnSpc>
                <a:spcPct val="100000"/>
              </a:lnSpc>
              <a:buNone/>
            </a:pPr>
            <a:fld id="{2E09094E-08C8-408C-AB8A-4622A2A54240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655816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47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© Корпорация Cisco Systems, 2006. Все права защищены.</a:t>
            </a:r>
          </a:p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Presentation_ID.scr</a:t>
            </a:r>
          </a:p>
        </p:txBody>
      </p:sp>
      <p:sp>
        <p:nvSpPr>
          <p:cNvPr id="573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DFC9B780-5DB9-4EA3-984D-3ED5FA4B04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73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8527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A96EB1EB-B24C-4552-B40F-C9B043E6F693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</a:t>
            </a:fld>
            <a:endParaRPr lang="en-US" sz="80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buNone/>
            </a:pP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Программа Сетевой академии Cisco</a:t>
            </a:r>
          </a:p>
          <a:p>
            <a:pPr marL="112746" indent="-112746" algn="l" defTabSz="1020745">
              <a:buNone/>
            </a:pP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Введение в сетевые технологии</a:t>
            </a:r>
          </a:p>
          <a:p>
            <a:pPr marL="112746" indent="-112746" algn="l" defTabSz="1020745">
              <a:buNone/>
            </a:pPr>
            <a:r>
              <a:rPr lang="en-US" sz="13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Глава 2. Настройка сетевой операционной системы</a:t>
            </a:r>
            <a:endParaRPr lang="en-GB" b="1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B7C63FE7-8E98-459B-968A-4F51FD69026B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2</a:t>
            </a:fld>
            <a:endParaRPr lang="en-US" sz="80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2.1.1.1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CatOS</a:t>
            </a:r>
            <a:r>
              <a:rPr lang="en-US" b="1" dirty="0" smtClean="0"/>
              <a:t> (Catalyst Operating System) </a:t>
            </a:r>
            <a:r>
              <a:rPr lang="en-US" dirty="0" smtClean="0"/>
              <a:t>– </a:t>
            </a:r>
            <a:r>
              <a:rPr lang="ru-RU" dirty="0" smtClean="0"/>
              <a:t>это операционная система, которая использовалась в коммутаторах </a:t>
            </a:r>
            <a:r>
              <a:rPr lang="en-US" b="1" dirty="0" smtClean="0"/>
              <a:t>Cisco</a:t>
            </a:r>
            <a:r>
              <a:rPr lang="en-US" dirty="0" smtClean="0"/>
              <a:t> </a:t>
            </a:r>
            <a:r>
              <a:rPr lang="ru-RU" dirty="0" smtClean="0"/>
              <a:t>в линейке </a:t>
            </a:r>
            <a:r>
              <a:rPr lang="en-US" b="1" dirty="0" smtClean="0"/>
              <a:t>Catalyst</a:t>
            </a:r>
            <a:r>
              <a:rPr lang="en-US" dirty="0" smtClean="0"/>
              <a:t>, </a:t>
            </a:r>
            <a:r>
              <a:rPr lang="ru-RU" dirty="0" smtClean="0"/>
              <a:t>но впоследствии была вытеснена </a:t>
            </a:r>
            <a:r>
              <a:rPr lang="en-US" b="1" dirty="0" smtClean="0"/>
              <a:t>Cisco </a:t>
            </a:r>
            <a:r>
              <a:rPr lang="en-US" b="1" dirty="0" err="1" smtClean="0"/>
              <a:t>IOS</a:t>
            </a:r>
            <a:r>
              <a:rPr lang="en-US" dirty="0" smtClean="0"/>
              <a:t>. </a:t>
            </a:r>
            <a:r>
              <a:rPr lang="ru-RU" dirty="0" smtClean="0"/>
              <a:t>Первоначально она называлась "</a:t>
            </a:r>
            <a:r>
              <a:rPr lang="en-US" dirty="0" err="1" smtClean="0"/>
              <a:t>XDI</a:t>
            </a:r>
            <a:r>
              <a:rPr lang="en-US" dirty="0" smtClean="0"/>
              <a:t>" </a:t>
            </a:r>
            <a:r>
              <a:rPr lang="ru-RU" dirty="0" smtClean="0"/>
              <a:t>от компании </a:t>
            </a:r>
            <a:r>
              <a:rPr lang="en-US" dirty="0" smtClean="0"/>
              <a:t>Crescendo Communications, Cisco </a:t>
            </a:r>
            <a:r>
              <a:rPr lang="ru-RU" dirty="0" smtClean="0"/>
              <a:t>переименовала ее в </a:t>
            </a:r>
            <a:r>
              <a:rPr lang="en-US" dirty="0" err="1" smtClean="0"/>
              <a:t>CatOS</a:t>
            </a:r>
            <a:r>
              <a:rPr lang="en-US" dirty="0" smtClean="0"/>
              <a:t>, </a:t>
            </a:r>
            <a:r>
              <a:rPr lang="ru-RU" dirty="0" smtClean="0"/>
              <a:t>когда они приобрели </a:t>
            </a:r>
            <a:r>
              <a:rPr lang="en-US" dirty="0" smtClean="0"/>
              <a:t>Crescendo </a:t>
            </a:r>
            <a:r>
              <a:rPr lang="ru-RU" dirty="0" smtClean="0"/>
              <a:t>в конце 1993 года. </a:t>
            </a:r>
            <a:endParaRPr lang="en-US" dirty="0" smtClean="0"/>
          </a:p>
          <a:p>
            <a:endParaRPr lang="en-US" dirty="0" smtClean="0"/>
          </a:p>
          <a:p>
            <a:r>
              <a:rPr lang="ru-RU" dirty="0" err="1" smtClean="0"/>
              <a:t>Cisco</a:t>
            </a:r>
            <a:r>
              <a:rPr lang="ru-RU" dirty="0" smtClean="0"/>
              <a:t> </a:t>
            </a:r>
            <a:r>
              <a:rPr lang="ru-RU" dirty="0" err="1" smtClean="0"/>
              <a:t>IOS-XE</a:t>
            </a:r>
            <a:r>
              <a:rPr lang="ru-RU" dirty="0" smtClean="0"/>
              <a:t> добавляет поддержку </a:t>
            </a:r>
            <a:r>
              <a:rPr lang="ru-RU" dirty="0" err="1" smtClean="0"/>
              <a:t>симметриченой</a:t>
            </a:r>
            <a:r>
              <a:rPr lang="ru-RU" dirty="0" smtClean="0"/>
              <a:t> </a:t>
            </a:r>
            <a:r>
              <a:rPr lang="ru-RU" dirty="0" err="1" smtClean="0"/>
              <a:t>многопроцесорной</a:t>
            </a:r>
            <a:r>
              <a:rPr lang="ru-RU" dirty="0" smtClean="0"/>
              <a:t> архитектуры и отдельных пространств памяти. Все функции системы теперь выполняются как отдельные процессы, и это дает много преимуществ. Теперь мы можем использовать многопроцессорность – это означает, что рабочая нагрузка процессов может быть разделена между несколькими процессорами. Когда один процесс выходит из строя, он не положит вам всю систему. Звучит хорошо, не так ли? :) Программное обеспечение </a:t>
            </a:r>
            <a:r>
              <a:rPr lang="ru-RU" dirty="0" err="1" smtClean="0"/>
              <a:t>IOS-XE</a:t>
            </a:r>
            <a:r>
              <a:rPr lang="ru-RU" dirty="0" smtClean="0"/>
              <a:t> больше не является «большим» файлом, в котором есть все – у него есть отдельные </a:t>
            </a:r>
            <a:r>
              <a:rPr lang="ru-RU" dirty="0" err="1" smtClean="0"/>
              <a:t>подпакеты</a:t>
            </a:r>
            <a:r>
              <a:rPr lang="ru-RU" dirty="0" smtClean="0"/>
              <a:t>. Можно обновить отдельный </a:t>
            </a:r>
            <a:r>
              <a:rPr lang="ru-RU" dirty="0" err="1" smtClean="0"/>
              <a:t>подпакет</a:t>
            </a:r>
            <a:r>
              <a:rPr lang="ru-RU" dirty="0" smtClean="0"/>
              <a:t>, а не обновлять все. Однако, помимо своих </a:t>
            </a:r>
            <a:r>
              <a:rPr lang="ru-RU" dirty="0" err="1" smtClean="0"/>
              <a:t>Linux</a:t>
            </a:r>
            <a:r>
              <a:rPr lang="ru-RU" dirty="0" smtClean="0"/>
              <a:t>-подходов, где </a:t>
            </a:r>
            <a:r>
              <a:rPr lang="ru-RU" dirty="0" err="1" smtClean="0"/>
              <a:t>IOS</a:t>
            </a:r>
            <a:r>
              <a:rPr lang="ru-RU" dirty="0" smtClean="0"/>
              <a:t> работает как отдельный процесс, </a:t>
            </a:r>
            <a:r>
              <a:rPr lang="ru-RU" dirty="0" err="1" smtClean="0"/>
              <a:t>Cisco</a:t>
            </a:r>
            <a:r>
              <a:rPr lang="ru-RU" dirty="0" smtClean="0"/>
              <a:t> </a:t>
            </a:r>
            <a:r>
              <a:rPr lang="ru-RU" dirty="0" err="1" smtClean="0"/>
              <a:t>IOS-XE</a:t>
            </a:r>
            <a:r>
              <a:rPr lang="ru-RU" dirty="0" smtClean="0"/>
              <a:t> в основном похожа на традиционную </a:t>
            </a:r>
            <a:r>
              <a:rPr lang="ru-RU" dirty="0" err="1" smtClean="0"/>
              <a:t>Cisco</a:t>
            </a:r>
            <a:r>
              <a:rPr lang="ru-RU" dirty="0" smtClean="0"/>
              <a:t> </a:t>
            </a:r>
            <a:r>
              <a:rPr lang="ru-RU" dirty="0" err="1" smtClean="0"/>
              <a:t>IOS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C9B780-5DB9-4EA3-984D-3ED5FA4B047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543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Резервная ОС в ПЗУ позволяет восстановить или переустановить основную ОС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C9B780-5DB9-4EA3-984D-3ED5FA4B047E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51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1892320F-DA54-4615-BC1F-EE9959AD431E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8</a:t>
            </a:fld>
            <a:endParaRPr lang="en-US" sz="80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2.1.2.1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Метод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доступа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к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консоли</a:t>
            </a:r>
            <a:endParaRPr lang="en-US" sz="1200" b="0" i="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D889EC7D-24E8-4EC2-A180-504EC1B3BDD9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9</a:t>
            </a:fld>
            <a:endParaRPr lang="en-US" sz="80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2.1.2.1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Метод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доступа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к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консоли</a:t>
            </a:r>
            <a:endParaRPr lang="en-US" sz="1200" b="0" i="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dirty="0" smtClean="0"/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Внеполосный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доступ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осуществляется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через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выделенный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административный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канал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,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который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используется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исключительно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в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целях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технического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обслуживания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устройства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. 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dirty="0" smtClean="0"/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 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На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случай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утери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пароля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существует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целый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ряд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мер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,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позволяющих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получить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доступ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к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данному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устройству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без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пароля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9D216AE3-9CD4-408B-9F2D-CDEF2494BFF3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10</a:t>
            </a:fld>
            <a:endParaRPr lang="en-US" sz="8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2.1.2.2 Методы доступа с помощью Telnet, SSH и порта AUX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B7BEEAE8-BFD7-4F5F-B657-E081A39E9320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11</a:t>
            </a:fld>
            <a:endParaRPr lang="en-US" sz="800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2.1.2.3 Программы эмуляции терминала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Существует несколько программ эмуляции терминала, используемых для подключения к сетевым устройствам при помощи последовательного подключения через консольный порт либо посредством подключения по протоколу SSH. К некоторым из этих программ относятся: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PuTTY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Tera Term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SecureCRT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HyperTerminal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OS X Terminal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Существует несколько программ эмуляции терминала, используемых для подключения к сетевым устройствам при помощи последовательного подключения через консольный порт либо посредством подключения по протоколу SSH.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У каждого сетевого специалиста есть любимая программа эмуляции, которую он использует. Эти программы позволяют повысить производительность за счёт регулировки размера окон, изменения размера шрифтов и цветовых схем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sz="1200" dirty="0" smtClean="0"/>
              <a:t>Всем командам приписывается</a:t>
            </a:r>
          </a:p>
          <a:p>
            <a:pPr algn="l"/>
            <a:r>
              <a:rPr lang="ru-RU" sz="1200" dirty="0" smtClean="0"/>
              <a:t>определённый уровень </a:t>
            </a:r>
          </a:p>
          <a:p>
            <a:pPr algn="l"/>
            <a:r>
              <a:rPr lang="ru-RU" sz="1200" dirty="0" smtClean="0"/>
              <a:t>привилегий от 0 до 15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C9B780-5DB9-4EA3-984D-3ED5FA4B047E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787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B30ECD55-717D-4554-9CC2-3C33D910F2C3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13</a:t>
            </a:fld>
            <a:endParaRPr lang="en-US" sz="8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defTabSz="1020745"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2.1.3.1 В иерархическом порядке от базовых до специализированных основные режимы распределяются следующим образом:</a:t>
            </a:r>
          </a:p>
          <a:p>
            <a:pPr marL="112746" indent="-112746" algn="l" defTabSz="1020745"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Пользовательский режим</a:t>
            </a:r>
          </a:p>
          <a:p>
            <a:pPr marL="112746" indent="-112746" algn="l" defTabSz="1020745"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Привилегированный режим</a:t>
            </a:r>
          </a:p>
          <a:p>
            <a:pPr marL="112746" indent="-112746" algn="l" defTabSz="1020745"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Режим глобальной конфигурации</a:t>
            </a:r>
          </a:p>
          <a:p>
            <a:pPr marL="112746" indent="-112746" algn="l" defTabSz="1020745"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Другие специальные режимы конфигурации (например режим конфигурации интерфейса)</a:t>
            </a:r>
          </a:p>
          <a:p>
            <a:pPr marL="112746" indent="-112746" algn="l" defTabSz="1020745"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Каждый режим использует собственную командную строку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C0BEDF71-DB3B-4331-A284-9199DC5A16E8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14</a:t>
            </a:fld>
            <a:endParaRPr lang="en-US" sz="800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2.1.4.1 Структура команд IOS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Каждая команда IOS имеет определённый формат или синтаксис. Каждая команда выполняется только из соответствующего режима.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Команды не чувствительны к регистру. Вслед за текстом команды вводится одно или несколько ключевых слов и аргументов.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В отличие от ключевого слова аргумент, как правило, не является предопределённым словом. Аргумент представляет собой значение или переменную, которая задаётся пользователем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Switch&gt;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ping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 </a:t>
            </a:r>
            <a:r>
              <a:rPr lang="en-US" sz="1200" b="0" i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IP -адрес</a:t>
            </a:r>
            <a:endParaRPr lang="en-US" smtClean="0"/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Switch&gt;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ping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10.10.10.5</a:t>
            </a:r>
            <a:endParaRPr lang="en-US" smtClean="0"/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Используется команда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ping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, и пользователь определил аргумент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10.10.10.5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.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Аналогичный синтаксис используется для команды 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traceroute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: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Switch&gt;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traceroute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 </a:t>
            </a:r>
            <a:r>
              <a:rPr lang="en-US" sz="1200" b="0" i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IP-адрес</a:t>
            </a:r>
            <a:endParaRPr lang="en-US" smtClean="0"/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Switch&gt;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traceroute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192.168.254.254</a:t>
            </a:r>
            <a:endParaRPr lang="en-US" smtClean="0"/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Используется команда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traceroute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, и пользователь определил аргумент 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192.168.254.254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.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6F4E0352-9AC4-4BF7-8437-99DDEB68E4B8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15</a:t>
            </a:fld>
            <a:endParaRPr lang="en-US" sz="800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2.1.4.3 Контекстная справка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В операционной системе IOS доступно несколько видов справки: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контекстная справка;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проверка синтаксиса команды;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горячие клавиши и клавиши быстрого вызова.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CB17BCE3-D07B-4105-835F-C584C80D9F47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16</a:t>
            </a:fld>
            <a:endParaRPr lang="en-US" sz="800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2.1.4.4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Проверка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синтаксиса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команды</a:t>
            </a:r>
            <a:endParaRPr lang="en-US" sz="1200" b="0" i="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dirty="0" smtClean="0"/>
          </a:p>
          <a:p>
            <a:pPr marL="0" indent="0" algn="l" defTabSz="1020745">
              <a:buNone/>
            </a:pP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Существует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три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различных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типа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сообщений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об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ошибках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:</a:t>
            </a:r>
          </a:p>
          <a:p>
            <a:pPr marL="112746" indent="-112746" algn="l" defTabSz="1020745">
              <a:buClr>
                <a:srgbClr val="000000"/>
              </a:buClr>
              <a:buSzPct val="100000"/>
              <a:buChar char="•"/>
            </a:pPr>
            <a:r>
              <a:rPr lang="en-US" sz="1200" b="0" i="0" dirty="0" err="1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неполная</a:t>
            </a:r>
            <a:r>
              <a:rPr lang="en-US" sz="12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команда</a:t>
            </a:r>
            <a:r>
              <a:rPr lang="en-US" sz="12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;</a:t>
            </a:r>
            <a:endParaRPr lang="ru-RU" sz="1200" b="0" i="0" dirty="0" smtClean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112746" indent="-112746" algn="l" defTabSz="1020745">
              <a:buClr>
                <a:srgbClr val="000000"/>
              </a:buClr>
              <a:buSzPct val="100000"/>
              <a:buChar char="•"/>
            </a:pPr>
            <a:r>
              <a:rPr lang="ru-RU" sz="12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Неопределенная (</a:t>
            </a:r>
            <a:r>
              <a:rPr lang="ru-RU" sz="1200" b="0" i="0" dirty="0" err="1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двухсмысленная</a:t>
            </a:r>
            <a:r>
              <a:rPr lang="ru-RU" sz="12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 команда</a:t>
            </a:r>
            <a:endParaRPr lang="en-US" sz="1200" b="0" i="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112746" indent="-112746" algn="l" defTabSz="1020745">
              <a:buClr>
                <a:srgbClr val="000000"/>
              </a:buClr>
              <a:buSzPct val="100000"/>
              <a:buChar char="•"/>
            </a:pP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неверная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команда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.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03244">
              <a:lnSpc>
                <a:spcPct val="100000"/>
              </a:lnSpc>
              <a:buNone/>
            </a:pPr>
            <a:fld id="{89E4A5FD-275F-4E74-B23A-F6BFAA7F3175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17</a:t>
            </a:fld>
            <a:endParaRPr lang="en-US" sz="800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2.1.4.6 Команды для изучения IOS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Использование команды 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show ?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 Данная команда позволяет получить перечень доступных команд в рамках указанного контекста или режима.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Стандартная команда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show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 предоставляет сведения о конфигурации, работе и состоянии компонентов устройства Cisco.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Широко используемая команда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show —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show interfaces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. Эта команда служит для отображения статистических сведений по всем интерфейсам устройства. Чтобы просмотреть статистику по конкретному интерфейсу, введите команду 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show interfaces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, а после неё укажите тип выбранного интерфейса, а также номер слота или порта.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К дополнительным командам </a:t>
            </a: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show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, часто используемым специалистами сети, относятся: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show startup-config: 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отображает конфигурацию, сохранённую в памяти NVRAM.</a:t>
            </a:r>
          </a:p>
          <a:p>
            <a:pPr marL="112746" indent="-112746" algn="l" defTabSz="1020745">
              <a:lnSpc>
                <a:spcPct val="90000"/>
              </a:lnSpc>
              <a:buClr>
                <a:srgbClr val="000000"/>
              </a:buClr>
              <a:buSzPct val="100000"/>
              <a:buChar char="•"/>
            </a:pPr>
            <a:r>
              <a:rPr lang="en-US" sz="1200" b="1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show running-config: 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отображает содержимое текущего запущенного файла конфигурации.</a:t>
            </a:r>
          </a:p>
          <a:p>
            <a:pPr marL="112746" indent="-112746" algn="l" defTabSz="1020745">
              <a:lnSpc>
                <a:spcPct val="90000"/>
              </a:lnSpc>
              <a:buSzPct val="100000"/>
              <a:buChar char="•"/>
            </a:pPr>
            <a:endParaRPr lang="en-US" smtClean="0"/>
          </a:p>
          <a:p>
            <a:pPr marL="112746" indent="-112746" algn="l" defTabSz="1020745">
              <a:lnSpc>
                <a:spcPct val="90000"/>
              </a:lnSpc>
              <a:buSzPct val="100000"/>
              <a:buChar char="•"/>
            </a:pPr>
            <a:endParaRPr lang="en-US" smtClean="0"/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© Корпорация Cisco Systems, 2007–2010. Все права защищены.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Общедоступная информация корпорации Cisco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ITE PC v4.1</a:t>
            </a:r>
          </a:p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Глава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14175902-A877-41A6-8074-EFDE366EA7FD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0693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2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44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8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6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06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5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704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40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2622785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5303E40A-7AD1-4156-8827-744348D394CD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1" name="Rectangle 278"/>
          <p:cNvSpPr>
            <a:spLocks noChangeArrowheads="1"/>
          </p:cNvSpPr>
          <p:nvPr userDrawn="1"/>
        </p:nvSpPr>
        <p:spPr bwMode="auto">
          <a:xfrm>
            <a:off x="2962275" y="6672263"/>
            <a:ext cx="2604020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ru-RU" sz="700" b="0" i="0" noProof="0" dirty="0" smtClean="0">
                <a:solidFill>
                  <a:srgbClr val="D3D3D3"/>
                </a:solidFill>
                <a:latin typeface="Arial"/>
                <a:ea typeface="ＭＳ Ｐゴシック"/>
                <a:cs typeface="ＭＳ Ｐゴシック"/>
              </a:rPr>
              <a:t>© Корпорация Cisco Systems, 2014. Все права защищены.</a:t>
            </a:r>
            <a:endParaRPr lang="ru-RU" sz="700" b="0" i="0" noProof="0" dirty="0">
              <a:solidFill>
                <a:srgbClr val="D3D3D3"/>
              </a:solidFill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12" name="Rectangle 279"/>
          <p:cNvSpPr>
            <a:spLocks noChangeArrowheads="1"/>
          </p:cNvSpPr>
          <p:nvPr userDrawn="1"/>
        </p:nvSpPr>
        <p:spPr bwMode="auto">
          <a:xfrm>
            <a:off x="5461715" y="6672263"/>
            <a:ext cx="2312273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ru-RU" sz="700" b="0" i="0" noProof="0" smtClean="0">
                <a:solidFill>
                  <a:srgbClr val="D3D3D3"/>
                </a:solidFill>
                <a:latin typeface="Arial"/>
                <a:ea typeface="ＭＳ Ｐゴシック"/>
                <a:cs typeface="ＭＳ Ｐゴシック"/>
              </a:rPr>
              <a:t>Конфиденциальная информация корпорации Cisco</a:t>
            </a:r>
            <a:endParaRPr lang="ru-RU" sz="700" b="0" i="0" noProof="0">
              <a:solidFill>
                <a:srgbClr val="D3D3D3"/>
              </a:solidFill>
              <a:latin typeface="Arial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071767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29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580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35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51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33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3391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4980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660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784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2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ITE PC v4.1</a:t>
            </a:r>
          </a:p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Глава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D24BAFCA-80F5-44F5-A63D-77FAB1422138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© Корпорация Cisco Systems, 2007–2010. Все права защищены.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Общедоступная информация корпорации Cisco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  <p:sldLayoutId id="21474842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42011E6B-2554-42D5-A2AE-B128CF7FCF5B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78"/>
          <p:cNvSpPr>
            <a:spLocks noChangeArrowheads="1"/>
          </p:cNvSpPr>
          <p:nvPr userDrawn="1"/>
        </p:nvSpPr>
        <p:spPr bwMode="auto">
          <a:xfrm>
            <a:off x="2962275" y="6672263"/>
            <a:ext cx="2604020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ru-RU" sz="700" b="0" i="0" noProof="0" dirty="0" smtClean="0">
                <a:solidFill>
                  <a:srgbClr val="D3D3D3"/>
                </a:solidFill>
                <a:latin typeface="Arial"/>
                <a:ea typeface="ＭＳ Ｐゴシック"/>
                <a:cs typeface="ＭＳ Ｐゴシック"/>
              </a:rPr>
              <a:t>© Корпорация Cisco Systems, 2014. Все права защищены.</a:t>
            </a:r>
            <a:endParaRPr lang="ru-RU" sz="700" b="0" i="0" noProof="0" dirty="0">
              <a:solidFill>
                <a:srgbClr val="D3D3D3"/>
              </a:solidFill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10" name="Rectangle 279"/>
          <p:cNvSpPr>
            <a:spLocks noChangeArrowheads="1"/>
          </p:cNvSpPr>
          <p:nvPr userDrawn="1"/>
        </p:nvSpPr>
        <p:spPr bwMode="auto">
          <a:xfrm>
            <a:off x="5461715" y="6672263"/>
            <a:ext cx="2312273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ru-RU" sz="700" b="0" i="0" noProof="0" smtClean="0">
                <a:solidFill>
                  <a:srgbClr val="D3D3D3"/>
                </a:solidFill>
                <a:latin typeface="Arial"/>
                <a:ea typeface="ＭＳ Ｐゴシック"/>
                <a:cs typeface="ＭＳ Ｐゴシック"/>
              </a:rPr>
              <a:t>Конфиденциальная информация корпорации Cisco</a:t>
            </a:r>
            <a:endParaRPr lang="ru-RU" sz="700" b="0" i="0" noProof="0">
              <a:solidFill>
                <a:srgbClr val="D3D3D3"/>
              </a:solidFill>
              <a:latin typeface="Arial"/>
              <a:ea typeface="ＭＳ Ｐゴシック"/>
              <a:cs typeface="ＭＳ Ｐゴシック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6" r:id="rId1"/>
    <p:sldLayoutId id="2147484245" r:id="rId2"/>
    <p:sldLayoutId id="2147484246" r:id="rId3"/>
    <p:sldLayoutId id="2147484247" r:id="rId4"/>
    <p:sldLayoutId id="2147484248" r:id="rId5"/>
    <p:sldLayoutId id="2147484249" r:id="rId6"/>
    <p:sldLayoutId id="2147484250" r:id="rId7"/>
    <p:sldLayoutId id="2147484251" r:id="rId8"/>
    <p:sldLayoutId id="2147484252" r:id="rId9"/>
    <p:sldLayoutId id="2147484253" r:id="rId10"/>
    <p:sldLayoutId id="21474842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algn="l" defTabSz="814365">
              <a:spcBef>
                <a:spcPct val="0"/>
              </a:spcBef>
              <a:buNone/>
            </a:pPr>
            <a:r>
              <a:rPr lang="ru-RU" sz="2800" b="0" i="0" dirty="0" smtClean="0">
                <a:solidFill>
                  <a:srgbClr val="FFFFFF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2800" b="0" i="0" dirty="0" smtClean="0">
                <a:solidFill>
                  <a:srgbClr val="FFFFFF"/>
                </a:solidFill>
                <a:latin typeface="Arial"/>
                <a:ea typeface="+mj-ea"/>
                <a:cs typeface="+mj-cs"/>
              </a:rPr>
            </a:br>
            <a:r>
              <a:rPr lang="ru-RU" sz="2800" b="0" i="0" dirty="0" smtClean="0">
                <a:solidFill>
                  <a:srgbClr val="FFFFFF"/>
                </a:solidFill>
                <a:latin typeface="Arial"/>
                <a:ea typeface="+mj-ea"/>
                <a:cs typeface="+mj-cs"/>
              </a:rPr>
              <a:t>Настройка сетевой операционной системы</a:t>
            </a:r>
            <a:endParaRPr lang="ru-RU" sz="2800" dirty="0" smtClean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marL="0" indent="0">
              <a:buNone/>
            </a:pPr>
            <a:r>
              <a:rPr lang="ru-RU" sz="2400" b="1" i="0" smtClean="0">
                <a:solidFill>
                  <a:srgbClr val="000000"/>
                </a:solidFill>
              </a:rPr>
              <a:t>Введение в сетевые технологии</a:t>
            </a:r>
            <a:endParaRPr lang="ru-RU" sz="2400" b="1" i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Cisco IOS</a:t>
            </a:r>
            <a: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3200" b="1" i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Операционные системы</a:t>
            </a:r>
            <a:endParaRPr lang="ru-RU" sz="3200" b="1" i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644525" y="1436463"/>
            <a:ext cx="8204200" cy="4392837"/>
          </a:xfrm>
        </p:spPr>
        <p:txBody>
          <a:bodyPr/>
          <a:lstStyle/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ru-RU" altLang="ja-JP" sz="24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Практически все сетевые устройства работают под управлением ОС.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Конечные пользователи (ПК, ноутбуки, смартфоны, планшетные компьютеры)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Коммутаторы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Маршрутизаторы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Точки беспроводного доступа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Межсетевые экраны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sz="2000" dirty="0" smtClean="0">
              <a:ea typeface="ＭＳ Ｐゴシック" charset="-128"/>
            </a:endParaRPr>
          </a:p>
          <a:p>
            <a:pPr marL="0" indent="0" defTabSz="814365">
              <a:lnSpc>
                <a:spcPct val="75000"/>
              </a:lnSpc>
              <a:buNone/>
            </a:pPr>
            <a:r>
              <a:rPr lang="ru-RU" altLang="ja-JP" b="1" dirty="0" err="1">
                <a:solidFill>
                  <a:srgbClr val="000000"/>
                </a:solidFill>
                <a:ea typeface="ＭＳ Ｐゴシック"/>
                <a:cs typeface="Arial"/>
              </a:rPr>
              <a:t>Cisco</a:t>
            </a:r>
            <a:r>
              <a:rPr lang="ru-RU" altLang="ja-JP" b="1" dirty="0">
                <a:solidFill>
                  <a:srgbClr val="000000"/>
                </a:solidFill>
                <a:ea typeface="ＭＳ Ｐゴシック"/>
                <a:cs typeface="Arial"/>
              </a:rPr>
              <a:t> (</a:t>
            </a:r>
            <a:r>
              <a:rPr lang="ru-RU" altLang="ja-JP" b="1" dirty="0" err="1">
                <a:solidFill>
                  <a:srgbClr val="000000"/>
                </a:solidFill>
                <a:ea typeface="ＭＳ Ｐゴシック"/>
                <a:cs typeface="Arial"/>
              </a:rPr>
              <a:t>IOS</a:t>
            </a:r>
            <a:r>
              <a:rPr lang="ru-RU" altLang="ja-JP" b="1" dirty="0" smtClean="0">
                <a:solidFill>
                  <a:srgbClr val="000000"/>
                </a:solidFill>
                <a:ea typeface="ＭＳ Ｐゴシック"/>
                <a:cs typeface="Arial"/>
              </a:rPr>
              <a:t>)</a:t>
            </a:r>
            <a:r>
              <a:rPr lang="en-US" b="1" dirty="0"/>
              <a:t> Internetwork Operating System</a:t>
            </a:r>
            <a:r>
              <a:rPr lang="en-US" dirty="0"/>
              <a:t> (</a:t>
            </a:r>
            <a:r>
              <a:rPr lang="ru-RU" dirty="0"/>
              <a:t>межсетевая операционная система</a:t>
            </a:r>
            <a:r>
              <a:rPr lang="ru-RU" dirty="0" smtClean="0"/>
              <a:t>)</a:t>
            </a:r>
            <a:endParaRPr lang="ru-RU" altLang="ja-JP" b="1" dirty="0">
              <a:solidFill>
                <a:srgbClr val="000000"/>
              </a:solidFill>
              <a:ea typeface="ＭＳ Ｐゴシック"/>
              <a:cs typeface="Arial"/>
            </a:endParaRPr>
          </a:p>
          <a:p>
            <a:pPr marL="0" indent="0" algn="l" defTabSz="814365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ru-RU" altLang="ja-JP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Общее наименование различных вариантов сетевых операционных систем, используемых на устройствах Cisco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sz="2000" dirty="0" smtClean="0">
              <a:ea typeface="ＭＳ Ｐゴシック" charset="-128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endParaRPr lang="ru-RU" altLang="ja-JP" sz="2000" dirty="0" smtClean="0">
              <a:ea typeface="ＭＳ Ｐゴシック" charset="-128"/>
            </a:endParaRP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sz="2000" dirty="0" smtClean="0">
              <a:ea typeface="ＭＳ Ｐゴシック" charset="-128"/>
            </a:endParaRPr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948" y="2548845"/>
            <a:ext cx="3911600" cy="173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5149" y="6342932"/>
            <a:ext cx="7233199" cy="4247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Apple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использует торговый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знак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iOS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по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лицензии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Cisco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544513"/>
            <a:ext cx="8145462" cy="458787"/>
          </a:xfrm>
        </p:spPr>
        <p:txBody>
          <a:bodyPr/>
          <a:lstStyle/>
          <a:p>
            <a:r>
              <a:rPr lang="ru-RU" dirty="0" smtClean="0"/>
              <a:t>Примеры различных версий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5638" y="1316038"/>
            <a:ext cx="8259762" cy="357187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– </a:t>
            </a:r>
            <a:r>
              <a:rPr lang="en-US" sz="26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IOS</a:t>
            </a:r>
            <a:endParaRPr lang="ru-RU" sz="26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ОС на собственном  монолитном ядре</a:t>
            </a:r>
          </a:p>
          <a:p>
            <a:pPr marL="800100" lvl="1" indent="-34290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ети общего назначения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6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IOS-XE</a:t>
            </a:r>
          </a:p>
          <a:p>
            <a:pPr marL="800100" lvl="1" indent="-342900">
              <a:lnSpc>
                <a:spcPct val="8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ОС на базе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Linux,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IOS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запускается 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как отдельный процесс</a:t>
            </a:r>
            <a:endParaRPr lang="ru-RU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6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</a:t>
            </a:r>
            <a:r>
              <a:rPr lang="en-US" sz="26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</a:t>
            </a:r>
            <a:r>
              <a:rPr lang="en-US" sz="26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-OS</a:t>
            </a:r>
            <a:endParaRPr lang="ru-RU" sz="26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ядро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Linux</a:t>
            </a:r>
          </a:p>
          <a:p>
            <a:pPr marL="800100" lvl="1" indent="-34290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коммутаторы </a:t>
            </a:r>
            <a:r>
              <a:rPr lang="ru-RU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ЦОД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26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</a:t>
            </a:r>
            <a:r>
              <a:rPr lang="ru-RU" sz="26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IOS-XR</a:t>
            </a:r>
            <a:r>
              <a:rPr lang="ru-RU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микроядр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о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QNX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Neutrino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Microkernel</a:t>
            </a:r>
          </a:p>
          <a:p>
            <a:pPr marL="800100" lvl="1" indent="-3429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маршрутизаторы провайдеров связи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3420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Управление устройствами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55638" y="2014538"/>
            <a:ext cx="8488362" cy="3571875"/>
          </a:xfrm>
        </p:spPr>
        <p:txBody>
          <a:bodyPr/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В зависимости от взаимодействия пользователя и встроенной ОС все сетевые устройства делятся на: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rgbClr val="3E67A4"/>
                </a:solidFill>
              </a:rPr>
              <a:t>Не управляемые.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rgbClr val="3E67A4"/>
                </a:solidFill>
              </a:rPr>
              <a:t>Управляемые;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В управляемых устройствах интерфейс взаимодействия с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IOS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может быть двух  видов: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 (Command Line Interface)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интерфейс командной строки;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GUI</a:t>
            </a: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sz="2200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Graphical</a:t>
            </a: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200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200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interface</a:t>
            </a: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- графический интерфейс пользователя (как правило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Web-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интерфейс)</a:t>
            </a:r>
          </a:p>
          <a:p>
            <a:pPr marL="236555" indent="-236555" defTabSz="814365">
              <a:lnSpc>
                <a:spcPct val="75000"/>
              </a:lnSpc>
              <a:buFont typeface="Wingdings"/>
              <a:buChar char="§"/>
            </a:pPr>
            <a:endParaRPr lang="ru-RU" altLang="ja-JP" sz="2000" dirty="0" smtClean="0">
              <a:solidFill>
                <a:srgbClr val="C00000"/>
              </a:solidFill>
              <a:ea typeface="ＭＳ Ｐゴシック"/>
              <a:cs typeface="Arial"/>
            </a:endParaRPr>
          </a:p>
          <a:p>
            <a:pPr marL="236555" indent="-236555" defTabSz="814365">
              <a:lnSpc>
                <a:spcPct val="75000"/>
              </a:lnSpc>
              <a:buFont typeface="Wingdings"/>
              <a:buChar char="§"/>
            </a:pPr>
            <a:r>
              <a:rPr lang="ru-RU" altLang="ja-JP" sz="2000" dirty="0" smtClean="0">
                <a:solidFill>
                  <a:srgbClr val="C00000"/>
                </a:solidFill>
                <a:ea typeface="ＭＳ Ｐゴシック"/>
                <a:cs typeface="Arial"/>
              </a:rPr>
              <a:t>Все сетевые </a:t>
            </a:r>
            <a:r>
              <a:rPr lang="ru-RU" sz="2000" dirty="0" smtClean="0">
                <a:solidFill>
                  <a:srgbClr val="C00000"/>
                </a:solidFill>
                <a:cs typeface="Arial"/>
              </a:rPr>
              <a:t>устройства  </a:t>
            </a:r>
            <a:r>
              <a:rPr lang="en-US" sz="2000" dirty="0" smtClean="0">
                <a:solidFill>
                  <a:srgbClr val="C00000"/>
                </a:solidFill>
                <a:cs typeface="Arial"/>
              </a:rPr>
              <a:t>Cisco </a:t>
            </a:r>
            <a:r>
              <a:rPr lang="ru-RU" sz="2000" dirty="0" smtClean="0">
                <a:solidFill>
                  <a:srgbClr val="C00000"/>
                </a:solidFill>
                <a:cs typeface="Arial"/>
              </a:rPr>
              <a:t>по умолчанию поставляются с IOS</a:t>
            </a:r>
          </a:p>
          <a:p>
            <a:pPr marL="0" indent="0" defTabSz="814365">
              <a:lnSpc>
                <a:spcPct val="75000"/>
              </a:lnSpc>
              <a:buNone/>
            </a:pPr>
            <a:r>
              <a:rPr lang="ru-RU" sz="2000" dirty="0" smtClean="0">
                <a:solidFill>
                  <a:srgbClr val="000000"/>
                </a:solidFill>
                <a:cs typeface="Arial"/>
              </a:rPr>
              <a:t> </a:t>
            </a:r>
          </a:p>
          <a:p>
            <a:pPr lvl="1"/>
            <a:endParaRPr lang="ru-RU" dirty="0" smtClean="0"/>
          </a:p>
          <a:p>
            <a:pPr>
              <a:buNone/>
            </a:pPr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908" y="366713"/>
            <a:ext cx="8145462" cy="471487"/>
          </a:xfrm>
        </p:spPr>
        <p:txBody>
          <a:bodyPr/>
          <a:lstStyle/>
          <a:p>
            <a:r>
              <a:rPr lang="ru-RU" dirty="0" smtClean="0"/>
              <a:t>Память </a:t>
            </a:r>
            <a:r>
              <a:rPr lang="ru-RU" dirty="0" err="1" smtClean="0"/>
              <a:t>маршрутизатора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1012825"/>
            <a:ext cx="88773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3350" y="4468920"/>
            <a:ext cx="901065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В ПЗУ хранится: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Программа самотестирования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POST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Power On Self Test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аппаратных средств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Ограниченная версия резервной </a:t>
            </a:r>
            <a:r>
              <a:rPr lang="en-US" sz="22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IOS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 -  загружается, если повреждена основная </a:t>
            </a:r>
            <a:r>
              <a:rPr lang="en-US" sz="22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IOS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во флэш памяти. </a:t>
            </a:r>
            <a:endParaRPr lang="ru-RU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94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Файлы конфигурации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startup-config</a:t>
            </a: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— файл в энергонезависимом ОЗУ (NVRAM), содержащий все команды, которые будут использоваться устройством после запуска или перезагрузки. Содержимое NVRAM не теряется при выключении питания устройства.</a:t>
            </a:r>
          </a:p>
          <a:p>
            <a:r>
              <a:rPr lang="ru-RU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running-config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 — файл в ОЗУ, отражающий текущую конфигурацию. Теряется при выключении питания. Может быть сохранен в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NVRAM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c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помощью команды</a:t>
            </a:r>
          </a:p>
          <a:p>
            <a:pPr lvl="1"/>
            <a:r>
              <a:rPr lang="ru-RU" b="1" dirty="0"/>
              <a:t>сору </a:t>
            </a:r>
            <a:r>
              <a:rPr lang="ru-RU" b="1" dirty="0" err="1"/>
              <a:t>startup-config</a:t>
            </a:r>
            <a:r>
              <a:rPr lang="ru-RU" b="1" dirty="0"/>
              <a:t> </a:t>
            </a:r>
            <a:r>
              <a:rPr lang="ru-RU" b="1" dirty="0" err="1"/>
              <a:t>running-config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283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0398" y="371793"/>
            <a:ext cx="8145462" cy="838200"/>
          </a:xfrm>
        </p:spPr>
        <p:txBody>
          <a:bodyPr/>
          <a:lstStyle/>
          <a:p>
            <a:r>
              <a:rPr lang="ru-RU" dirty="0" smtClean="0"/>
              <a:t>Последовательность загрузки</a:t>
            </a: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9225" y="1519238"/>
            <a:ext cx="6305550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0188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88925" y="400050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Доступ к устройству CISCO IOS</a:t>
            </a:r>
            <a:b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</a:br>
            <a:r>
              <a:rPr lang="ru-RU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Метод доступа к </a:t>
            </a:r>
            <a:r>
              <a:rPr lang="en-US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CLI</a:t>
            </a:r>
            <a:endParaRPr lang="ru-RU" sz="3200" b="1" i="0" dirty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14339" name="Rectangle 6"/>
          <p:cNvSpPr>
            <a:spLocks noGrp="1" noChangeArrowheads="1"/>
          </p:cNvSpPr>
          <p:nvPr>
            <p:ph idx="1"/>
          </p:nvPr>
        </p:nvSpPr>
        <p:spPr>
          <a:xfrm>
            <a:off x="552450" y="1503363"/>
            <a:ext cx="8264525" cy="2603500"/>
          </a:xfrm>
        </p:spPr>
        <p:txBody>
          <a:bodyPr/>
          <a:lstStyle/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ru-RU" altLang="ja-JP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Наиболее распространённые методы доступа к интерфейсу командной строки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Консоль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Telnet или SSH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Порт AUX</a:t>
            </a: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endParaRPr lang="ru-RU" altLang="ja-JP" sz="2000" dirty="0" smtClean="0">
              <a:ea typeface="ＭＳ Ｐゴシック" charset="-128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endParaRPr lang="ru-RU" altLang="ja-JP" sz="2000" dirty="0" smtClean="0">
              <a:ea typeface="ＭＳ Ｐゴシック" charset="-128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38" y="414338"/>
            <a:ext cx="8907462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Доступ к устройству CISCO IOS</a:t>
            </a:r>
            <a:r>
              <a:rPr lang="ru-RU" sz="3200" b="1" i="0" dirty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dirty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Метод доступа к </a:t>
            </a:r>
            <a:r>
              <a:rPr lang="en-US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CLI</a:t>
            </a:r>
            <a:r>
              <a:rPr lang="ru-RU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 </a:t>
            </a:r>
            <a:r>
              <a:rPr lang="en-US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c </a:t>
            </a:r>
            <a:r>
              <a:rPr lang="ru-RU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помощью консоли</a:t>
            </a:r>
            <a:endParaRPr lang="ru-RU" sz="3200" b="1" i="0" dirty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14339" name="Rectangle 6"/>
          <p:cNvSpPr>
            <a:spLocks noGrp="1" noChangeArrowheads="1"/>
          </p:cNvSpPr>
          <p:nvPr>
            <p:ph idx="1"/>
          </p:nvPr>
        </p:nvSpPr>
        <p:spPr>
          <a:xfrm>
            <a:off x="627063" y="1401763"/>
            <a:ext cx="8216900" cy="5153025"/>
          </a:xfrm>
        </p:spPr>
        <p:txBody>
          <a:bodyPr/>
          <a:lstStyle/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ru-RU" altLang="ja-JP" sz="2400" b="1" i="0" dirty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Консольный порт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2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Не требует подключения к вычислительной сети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2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Требуется специальный консольный кабель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2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Обеспечивает возможность ввода команд конфигурации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2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Требует настройки с использованием пароля во избежание несанкционированного доступа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2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Устройство необходимо поместить в надёжном помещении, чтобы нельзя было легко получить доступ к консольному порту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sz="2000" dirty="0" smtClean="0">
              <a:ea typeface="ＭＳ Ｐゴシック" charset="-128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endParaRPr lang="ru-RU" altLang="ja-JP" sz="2000" dirty="0" smtClean="0">
              <a:ea typeface="ＭＳ Ｐゴシック" charset="-128"/>
            </a:endParaRP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4619625"/>
            <a:ext cx="6450013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5" name="Down Arrow 1"/>
          <p:cNvSpPr>
            <a:spLocks noChangeArrowheads="1"/>
          </p:cNvSpPr>
          <p:nvPr/>
        </p:nvSpPr>
        <p:spPr bwMode="auto">
          <a:xfrm>
            <a:off x="5935663" y="4316413"/>
            <a:ext cx="742950" cy="551889"/>
          </a:xfrm>
          <a:prstGeom prst="downArrow">
            <a:avLst>
              <a:gd name="adj1" fmla="val 50000"/>
              <a:gd name="adj2" fmla="val 4997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82124" tIns="41061" rIns="82124" bIns="41061" anchor="ctr">
            <a:spAutoFit/>
          </a:bodyPr>
          <a:lstStyle/>
          <a:p>
            <a:pPr defTabSz="814388"/>
            <a:endParaRPr lang="ru-RU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631" y="4940300"/>
            <a:ext cx="4605337" cy="159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71463" y="541336"/>
            <a:ext cx="8143875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4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Доступ к устройству Cisco IOS</a:t>
            </a:r>
            <a:r>
              <a:rPr lang="ru-RU" sz="3200" b="1" i="0" dirty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dirty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28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Методы </a:t>
            </a:r>
            <a:r>
              <a:rPr lang="ru-RU" sz="28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удаленного доступа </a:t>
            </a:r>
            <a:r>
              <a:rPr lang="ru-RU" sz="28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к </a:t>
            </a:r>
            <a:r>
              <a:rPr lang="en-US" sz="28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 CLI </a:t>
            </a:r>
            <a:r>
              <a:rPr lang="ru-RU" sz="28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с использованием Telnet, SSH и портов AUX</a:t>
            </a:r>
            <a:endParaRPr lang="ru-RU" sz="2800" b="1" i="0" dirty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idx="1"/>
          </p:nvPr>
        </p:nvSpPr>
        <p:spPr>
          <a:xfrm>
            <a:off x="365125" y="1382713"/>
            <a:ext cx="8216900" cy="5153025"/>
          </a:xfrm>
        </p:spPr>
        <p:txBody>
          <a:bodyPr/>
          <a:lstStyle/>
          <a:p>
            <a:pPr marL="381030" indent="-381030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ja-JP" sz="2000" b="1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Telnet</a:t>
            </a:r>
            <a:r>
              <a:rPr lang="ru-RU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</a:t>
            </a:r>
          </a:p>
          <a:p>
            <a:pPr marL="236555" indent="-236555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Метод удалённого доступа к интерфейсу командной строки (CLI) по сети</a:t>
            </a:r>
          </a:p>
          <a:p>
            <a:pPr marL="236555" indent="-236555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Требуются активные сетевые службы и </a:t>
            </a:r>
            <a:r>
              <a:rPr lang="ru-RU" altLang="ja-JP" sz="2000" b="1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один активный настроенный интерфейс</a:t>
            </a:r>
          </a:p>
          <a:p>
            <a:pPr marL="236555" indent="-236555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sz="2000" dirty="0" smtClean="0">
              <a:latin typeface="Calibri" panose="020F0502020204030204" pitchFamily="34" charset="0"/>
              <a:ea typeface="ＭＳ Ｐゴシック" charset="-128"/>
              <a:cs typeface="Calibri" panose="020F0502020204030204" pitchFamily="34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ja-JP" sz="2000" b="1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Secure Shell (SSH)</a:t>
            </a:r>
          </a:p>
          <a:p>
            <a:pPr marL="236555" indent="-236555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Более высокая безопасность</a:t>
            </a:r>
          </a:p>
          <a:p>
            <a:pPr marL="236555" indent="-236555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Аутентификация с использованием пароля</a:t>
            </a:r>
          </a:p>
          <a:p>
            <a:pPr marL="236555" indent="-236555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Использует шифрование при передаче данных</a:t>
            </a:r>
          </a:p>
          <a:p>
            <a:pPr marL="0" indent="0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None/>
            </a:pPr>
            <a:endParaRPr lang="ru-RU" altLang="ja-JP" sz="2000" dirty="0" smtClean="0">
              <a:latin typeface="Calibri" panose="020F0502020204030204" pitchFamily="34" charset="0"/>
              <a:ea typeface="ＭＳ Ｐゴシック" charset="-128"/>
              <a:cs typeface="Calibri" panose="020F0502020204030204" pitchFamily="34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ja-JP" sz="2000" b="1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Порт AUX</a:t>
            </a:r>
          </a:p>
          <a:p>
            <a:pPr marL="236555" indent="-236555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Использует модем</a:t>
            </a:r>
          </a:p>
          <a:p>
            <a:pPr marL="236555" indent="-236555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Можно использовать </a:t>
            </a:r>
            <a:r>
              <a:rPr lang="en-US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/>
            </a:r>
            <a:br>
              <a:rPr lang="en-US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</a:br>
            <a:r>
              <a:rPr lang="ru-RU" altLang="ja-JP" sz="20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как консольный порт 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sz="1800" dirty="0" smtClean="0">
              <a:ea typeface="ＭＳ Ｐゴシック" charset="-128"/>
              <a:cs typeface="Arial" pitchFamily="34" charset="0"/>
            </a:endParaRP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sz="1800" dirty="0" smtClean="0">
              <a:ea typeface="ＭＳ Ｐゴシック" charset="-128"/>
            </a:endParaRPr>
          </a:p>
        </p:txBody>
      </p:sp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806" y="4610100"/>
            <a:ext cx="554037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73050" y="433388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Доступ к устройству Cisco IOS</a:t>
            </a:r>
            <a: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3200" b="1" i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Программы эмуляции терминала</a:t>
            </a:r>
            <a:endParaRPr lang="ru-RU" sz="3200" b="1" i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idx="1"/>
          </p:nvPr>
        </p:nvSpPr>
        <p:spPr>
          <a:xfrm>
            <a:off x="522288" y="1827213"/>
            <a:ext cx="3454400" cy="4572000"/>
          </a:xfrm>
        </p:spPr>
        <p:txBody>
          <a:bodyPr/>
          <a:lstStyle/>
          <a:p>
            <a:pPr marL="0" indent="0" algn="l" defTabSz="814365">
              <a:spcBef>
                <a:spcPct val="50000"/>
              </a:spcBef>
              <a:spcAft>
                <a:spcPct val="0"/>
              </a:spcAft>
              <a:buNone/>
            </a:pPr>
            <a:r>
              <a:rPr lang="ru-RU" sz="2000" b="0" i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Программное обеспечение, доступное для подключения к сетевому устройству</a:t>
            </a:r>
          </a:p>
          <a:p>
            <a:pPr marL="236555" indent="-236555" algn="l" defTabSz="814365"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PuTTY</a:t>
            </a:r>
            <a:endParaRPr lang="ru-RU" sz="2000" smtClean="0"/>
          </a:p>
          <a:p>
            <a:pPr marL="236555" indent="-236555" algn="l" defTabSz="814365"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Tera Term</a:t>
            </a:r>
          </a:p>
          <a:p>
            <a:pPr marL="236555" indent="-236555" algn="l" defTabSz="814365"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SecureCRT</a:t>
            </a:r>
            <a:endParaRPr lang="ru-RU" sz="2000" smtClean="0"/>
          </a:p>
          <a:p>
            <a:pPr marL="236555" indent="-236555" algn="l" defTabSz="814365"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HyperTerminal</a:t>
            </a:r>
          </a:p>
          <a:p>
            <a:pPr marL="236555" indent="-236555" algn="l" defTabSz="814365"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OS X Terminal</a:t>
            </a:r>
          </a:p>
          <a:p>
            <a:pPr marL="381030" indent="-38103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endParaRPr lang="ru-RU" altLang="ja-JP" sz="2000" smtClean="0">
              <a:ea typeface="ＭＳ Ｐゴシック" charset="-128"/>
            </a:endParaRPr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1392238"/>
            <a:ext cx="4410075" cy="471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379413"/>
            <a:ext cx="8145462" cy="838200"/>
          </a:xfrm>
        </p:spPr>
        <p:txBody>
          <a:bodyPr/>
          <a:lstStyle/>
          <a:p>
            <a:r>
              <a:rPr lang="ru-RU" dirty="0" smtClean="0"/>
              <a:t>Переход между режимами</a:t>
            </a:r>
            <a:endParaRPr lang="ru-RU" dirty="0"/>
          </a:p>
        </p:txBody>
      </p:sp>
      <p:pic>
        <p:nvPicPr>
          <p:cNvPr id="4" name="Рисунок 3" descr="cisco_contexts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97237" y="1301750"/>
            <a:ext cx="5114925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0" y="2856278"/>
            <a:ext cx="3334631" cy="20036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Три основных режима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Пользователя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Администратора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Конфигурирования</a:t>
            </a:r>
          </a:p>
          <a:p>
            <a:pPr algn="l"/>
            <a:endParaRPr lang="ru-RU" sz="2000" dirty="0" smtClean="0"/>
          </a:p>
          <a:p>
            <a:pPr algn="l"/>
            <a:endParaRPr lang="ru-RU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444500"/>
            <a:ext cx="8143875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Навигация в IOS</a:t>
            </a:r>
            <a: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3200" b="1" i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Режимы работы Cisco IOS</a:t>
            </a:r>
            <a:endParaRPr lang="ru-RU" sz="3200" b="1" i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pic>
        <p:nvPicPr>
          <p:cNvPr id="18435" name="Picture 4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390807" y="1314450"/>
            <a:ext cx="6592574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75" y="420688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Структура команд</a:t>
            </a:r>
            <a:r>
              <a:rPr lang="ru-RU" sz="3200" b="1" i="0" dirty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dirty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Структура команд </a:t>
            </a:r>
            <a:r>
              <a:rPr lang="ru-RU" sz="3200" b="1" i="0" dirty="0" err="1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IOS</a:t>
            </a:r>
            <a:endParaRPr lang="ru-RU" sz="3200" b="1" i="0" dirty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68877" y="1477963"/>
            <a:ext cx="7961796" cy="392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4991" y="5410200"/>
            <a:ext cx="768684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Отмена  команды </a:t>
            </a:r>
            <a:r>
              <a:rPr lang="en-US" b="1" dirty="0" smtClean="0">
                <a:solidFill>
                  <a:srgbClr val="FF0000"/>
                </a:solidFill>
              </a:rPr>
              <a:t>no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/>
              <a:t>&lt;</a:t>
            </a:r>
            <a:r>
              <a:rPr lang="ru-RU" b="1" dirty="0" smtClean="0"/>
              <a:t>ранее введенная команда</a:t>
            </a:r>
            <a:r>
              <a:rPr lang="en-US" b="1" dirty="0" smtClean="0"/>
              <a:t>&gt;</a:t>
            </a:r>
            <a:endParaRPr lang="ru-RU" b="1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11150" y="425450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Структура команды</a:t>
            </a:r>
            <a: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3200" b="1" i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Контекстная справка</a:t>
            </a:r>
            <a:endParaRPr lang="ru-RU" sz="3200" b="1" i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pic>
        <p:nvPicPr>
          <p:cNvPr id="25603" name="Picture 4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293813" y="1379989"/>
            <a:ext cx="6253162" cy="5180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0" y="468313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Структура команды</a:t>
            </a:r>
            <a: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3200" b="1" i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Проверка синтаксиса команды</a:t>
            </a:r>
            <a:endParaRPr lang="ru-RU" sz="3200" b="1" i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95363" y="1623336"/>
            <a:ext cx="6472237" cy="486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8131" y="1399540"/>
            <a:ext cx="2741007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Неполная команда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31481" y="1399540"/>
            <a:ext cx="369466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Неопределенная  команда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92894" y="3964940"/>
            <a:ext cx="273068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Неверная  команда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52425" y="411163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Структура команды</a:t>
            </a:r>
            <a:r>
              <a:rPr lang="ru-RU" sz="3200" b="1" i="0" dirty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dirty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Команды просмотра</a:t>
            </a:r>
            <a:endParaRPr lang="ru-RU" sz="3200" b="1" i="0" dirty="0">
              <a:solidFill>
                <a:srgbClr val="AAC1D8">
                  <a:lumMod val="75000"/>
                </a:srgbClr>
              </a:solidFill>
              <a:latin typeface="Arial"/>
              <a:ea typeface="+mj-ea"/>
              <a:cs typeface="Arial"/>
            </a:endParaRPr>
          </a:p>
        </p:txBody>
      </p:sp>
      <p:pic>
        <p:nvPicPr>
          <p:cNvPr id="28675" name="Picture 4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509486" y="1432312"/>
            <a:ext cx="6139089" cy="5117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Файлы конфигурации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startup-config</a:t>
            </a: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— файл в энергонезависимом ОЗУ (NVRAM), содержащий все команды, которые будут использоваться устройством после запуска или перезагрузки. Содержимое NVRAM не теряется при выключении питания устройства.</a:t>
            </a:r>
          </a:p>
          <a:p>
            <a:r>
              <a:rPr lang="ru-RU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running-config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 — файл в ОЗУ, отражающий текущую конфигурацию. Теряется при выключении питания. Может быть сохранен в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NVRAM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c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помощью команды</a:t>
            </a:r>
          </a:p>
          <a:p>
            <a:pPr lvl="1"/>
            <a:r>
              <a:rPr lang="ru-RU" b="1" dirty="0"/>
              <a:t>сору </a:t>
            </a:r>
            <a:r>
              <a:rPr lang="ru-RU" b="1" dirty="0" err="1"/>
              <a:t>startup-config</a:t>
            </a:r>
            <a:r>
              <a:rPr lang="ru-RU" b="1" dirty="0"/>
              <a:t> </a:t>
            </a:r>
            <a:r>
              <a:rPr lang="ru-RU" b="1" dirty="0" err="1"/>
              <a:t>running-config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238" y="442913"/>
            <a:ext cx="8145462" cy="838200"/>
          </a:xfrm>
        </p:spPr>
        <p:txBody>
          <a:bodyPr/>
          <a:lstStyle/>
          <a:p>
            <a:r>
              <a:rPr lang="ru-RU" dirty="0" smtClean="0"/>
              <a:t>Сохранение файла конфигурации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3025" y="1524000"/>
            <a:ext cx="645795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Возврат к предыдущим настройкам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92100" y="2014538"/>
            <a:ext cx="8304213" cy="3571875"/>
          </a:xfrm>
        </p:spPr>
        <p:txBody>
          <a:bodyPr/>
          <a:lstStyle/>
          <a:p>
            <a:r>
              <a:rPr lang="ru-RU" dirty="0" smtClean="0"/>
              <a:t>Если необходимо вернуться к предыдущей конфигурации, сохраненной в (NVRAM) необходимо: 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/>
              <a:t>Скопировать загрузочную конфигурацию в файл текущей конфигурации с помощью команды привилегированного режима </a:t>
            </a:r>
            <a:r>
              <a:rPr lang="ru-RU" b="1" dirty="0" smtClean="0"/>
              <a:t>сору </a:t>
            </a:r>
            <a:r>
              <a:rPr lang="ru-RU" b="1" dirty="0" err="1" smtClean="0"/>
              <a:t>startup-config</a:t>
            </a:r>
            <a:r>
              <a:rPr lang="ru-RU" b="1" dirty="0" smtClean="0"/>
              <a:t> </a:t>
            </a:r>
            <a:r>
              <a:rPr lang="ru-RU" b="1" dirty="0" err="1" smtClean="0"/>
              <a:t>running-config</a:t>
            </a:r>
            <a:r>
              <a:rPr lang="ru-RU" dirty="0" smtClean="0"/>
              <a:t>. 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/>
              <a:t>Перезагрузить устройство с помощью команды привилегированного режима EXEC </a:t>
            </a:r>
            <a:r>
              <a:rPr lang="ru-RU" b="1" dirty="0" err="1" smtClean="0"/>
              <a:t>reload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Откат к заводским настройкам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 Сохраненную загрузочную конфигурацию можно удалить с помощью команды привилегированного режима </a:t>
            </a:r>
            <a:r>
              <a:rPr lang="ru-RU" b="1" dirty="0" err="1" smtClean="0"/>
              <a:t>erase</a:t>
            </a:r>
            <a:r>
              <a:rPr lang="ru-RU" b="1" dirty="0" smtClean="0"/>
              <a:t> </a:t>
            </a:r>
            <a:r>
              <a:rPr lang="ru-RU" b="1" dirty="0" err="1" smtClean="0"/>
              <a:t>startup-config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После этого перезагрузить устройство.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527967"/>
            <a:ext cx="8145462" cy="838200"/>
          </a:xfrm>
        </p:spPr>
        <p:txBody>
          <a:bodyPr/>
          <a:lstStyle/>
          <a:p>
            <a:r>
              <a:rPr lang="ru-RU" dirty="0" smtClean="0"/>
              <a:t>Настройки узла 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1366167"/>
            <a:ext cx="6932613" cy="4853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8029774"/>
      </p:ext>
    </p:extLst>
  </p:cSld>
  <p:clrMapOvr>
    <a:masterClrMapping/>
  </p:clrMapOvr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11790</TotalTime>
  <Pages>28</Pages>
  <Words>992</Words>
  <Application>Microsoft Office PowerPoint</Application>
  <PresentationFormat>Экран (4:3)</PresentationFormat>
  <Paragraphs>190</Paragraphs>
  <Slides>22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</vt:i4>
      </vt:variant>
    </vt:vector>
  </HeadingPairs>
  <TitlesOfParts>
    <vt:vector size="24" baseType="lpstr">
      <vt:lpstr>PPT-TMPLT-WHT_C</vt:lpstr>
      <vt:lpstr>NetAcad-4F_PPT-WHT_060408</vt:lpstr>
      <vt:lpstr> Настройка сетевой операционной системы</vt:lpstr>
      <vt:lpstr>Cisco IOS Операционные системы</vt:lpstr>
      <vt:lpstr>Примеры различных версий</vt:lpstr>
      <vt:lpstr>Управление устройствами</vt:lpstr>
      <vt:lpstr>Память маршрутизатора</vt:lpstr>
      <vt:lpstr>Файлы конфигурации</vt:lpstr>
      <vt:lpstr>Последовательность загрузки</vt:lpstr>
      <vt:lpstr>Доступ к устройству CISCO IOS Метод доступа к CLI</vt:lpstr>
      <vt:lpstr>Доступ к устройству CISCO IOS Метод доступа к CLI c помощью консоли</vt:lpstr>
      <vt:lpstr>Доступ к устройству Cisco IOS Методы удаленного доступа к  CLI с использованием Telnet, SSH и портов AUX</vt:lpstr>
      <vt:lpstr>Доступ к устройству Cisco IOS Программы эмуляции терминала</vt:lpstr>
      <vt:lpstr>Переход между режимами</vt:lpstr>
      <vt:lpstr>Навигация в IOS Режимы работы Cisco IOS</vt:lpstr>
      <vt:lpstr>Структура команд Структура команд IOS</vt:lpstr>
      <vt:lpstr>Структура команды Контекстная справка</vt:lpstr>
      <vt:lpstr>Структура команды Проверка синтаксиса команды</vt:lpstr>
      <vt:lpstr>Структура команды Команды просмотра</vt:lpstr>
      <vt:lpstr>Файлы конфигурации</vt:lpstr>
      <vt:lpstr>Сохранение файла конфигурации</vt:lpstr>
      <vt:lpstr>Возврат к предыдущим настройкам</vt:lpstr>
      <vt:lpstr>Откат к заводским настройкам</vt:lpstr>
      <vt:lpstr>Настройки узла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vladimir</cp:lastModifiedBy>
  <cp:revision>757</cp:revision>
  <cp:lastPrinted>1999-01-27T00:54:54Z</cp:lastPrinted>
  <dcterms:created xsi:type="dcterms:W3CDTF">2006-10-23T15:07:30Z</dcterms:created>
  <dcterms:modified xsi:type="dcterms:W3CDTF">2026-09-03T18:26:32Z</dcterms:modified>
</cp:coreProperties>
</file>